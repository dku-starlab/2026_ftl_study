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8" r:id="rId3"/>
    <p:sldId id="257" r:id="rId4"/>
    <p:sldId id="270" r:id="rId5"/>
    <p:sldId id="271" r:id="rId6"/>
    <p:sldId id="295" r:id="rId7"/>
    <p:sldId id="267" r:id="rId8"/>
    <p:sldId id="273" r:id="rId9"/>
    <p:sldId id="277" r:id="rId10"/>
    <p:sldId id="297" r:id="rId11"/>
    <p:sldId id="298" r:id="rId12"/>
    <p:sldId id="280" r:id="rId13"/>
    <p:sldId id="265" r:id="rId14"/>
    <p:sldId id="281" r:id="rId15"/>
    <p:sldId id="294" r:id="rId16"/>
    <p:sldId id="283" r:id="rId17"/>
    <p:sldId id="272" r:id="rId18"/>
    <p:sldId id="284" r:id="rId19"/>
    <p:sldId id="274" r:id="rId20"/>
    <p:sldId id="275" r:id="rId21"/>
    <p:sldId id="276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59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제연" initials="이제" lastIdx="1" clrIdx="0">
    <p:extLst>
      <p:ext uri="{19B8F6BF-5375-455C-9EA6-DF929625EA0E}">
        <p15:presenceInfo xmlns:p15="http://schemas.microsoft.com/office/powerpoint/2012/main" userId="9d4560c756d54f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FFFF"/>
    <a:srgbClr val="0B2D86"/>
    <a:srgbClr val="FFDBD1"/>
    <a:srgbClr val="FFAFAF"/>
    <a:srgbClr val="DCC4EE"/>
    <a:srgbClr val="F3DDDA"/>
    <a:srgbClr val="7030A0"/>
    <a:srgbClr val="DBD6E6"/>
    <a:srgbClr val="D1B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3EF27D-8DA7-42DA-BFD8-7A61B524156B}" v="180" dt="2021-09-06T11:49:41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5" autoAdjust="0"/>
    <p:restoredTop sz="72786" autoAdjust="0"/>
  </p:normalViewPr>
  <p:slideViewPr>
    <p:cSldViewPr snapToGrid="0" snapToObjects="1" showGuides="1">
      <p:cViewPr varScale="1">
        <p:scale>
          <a:sx n="97" d="100"/>
          <a:sy n="97" d="100"/>
        </p:scale>
        <p:origin x="124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63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 showGuides="1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F7DC8E5-518B-B844-8AFB-6138BA9A45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02BC96-2569-1E47-9CC8-C432D61173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D02ED-AB60-1146-B810-37D04719C00C}" type="datetimeFigureOut">
              <a:rPr kumimoji="1" lang="ko-KR" altLang="en-US" smtClean="0"/>
              <a:t>2026. 7. 28.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73A96D-1584-EA48-B2BB-8BF7186DC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E1FB54-431F-D746-BB23-DCDB0D14B6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B47E1-FB9F-5742-AEB0-90D6B96129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2970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BFCC2-75FE-9347-A155-69776C04C6EA}" type="datetimeFigureOut">
              <a:rPr kumimoji="1" lang="ko-KR" altLang="en-US" smtClean="0"/>
              <a:t>2026. 7. 28.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C0143-43CC-3944-A7FC-88D9835934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49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099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먼저 NAND </a:t>
            </a:r>
            <a:r>
              <a:rPr lang="ko-KR" altLang="ko-KR" dirty="0" err="1"/>
              <a:t>Flash와</a:t>
            </a:r>
            <a:r>
              <a:rPr lang="ko-KR" altLang="ko-KR" dirty="0"/>
              <a:t> </a:t>
            </a:r>
            <a:r>
              <a:rPr lang="ko-KR" altLang="ko-KR" dirty="0" err="1"/>
              <a:t>FTL을</a:t>
            </a:r>
            <a:r>
              <a:rPr lang="ko-KR" altLang="ko-KR" dirty="0"/>
              <a:t> 간단히 설명하겠습니다.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NAND </a:t>
            </a:r>
            <a:r>
              <a:rPr lang="ko-KR" altLang="ko-KR" dirty="0" err="1"/>
              <a:t>Flash는</a:t>
            </a:r>
            <a:r>
              <a:rPr lang="ko-KR" altLang="ko-KR" dirty="0"/>
              <a:t> 빠르고 전력 소모가 적지만, 기존 데이터 위에 바로 덮어쓸 수 없습니다. </a:t>
            </a:r>
            <a:endParaRPr lang="en-US" altLang="ko-KR" dirty="0"/>
          </a:p>
          <a:p>
            <a:r>
              <a:rPr lang="ko-KR" altLang="ko-KR" dirty="0"/>
              <a:t>따라서 기존 페이지는 </a:t>
            </a:r>
            <a:r>
              <a:rPr lang="ko-KR" altLang="ko-KR" dirty="0" err="1"/>
              <a:t>Invalid로</a:t>
            </a:r>
            <a:r>
              <a:rPr lang="ko-KR" altLang="ko-KR" dirty="0"/>
              <a:t> 처리하고, 새 데이터는 비어 있는 </a:t>
            </a:r>
            <a:r>
              <a:rPr lang="ko-KR" altLang="ko-KR" dirty="0" err="1"/>
              <a:t>Erased</a:t>
            </a:r>
            <a:r>
              <a:rPr lang="ko-KR" altLang="ko-KR" dirty="0"/>
              <a:t> </a:t>
            </a:r>
            <a:r>
              <a:rPr lang="ko-KR" altLang="ko-KR" dirty="0" err="1"/>
              <a:t>Page에</a:t>
            </a:r>
            <a:r>
              <a:rPr lang="ko-KR" altLang="ko-KR" dirty="0"/>
              <a:t> 기록합니다. </a:t>
            </a:r>
            <a:endParaRPr lang="en-US" altLang="ko-KR" dirty="0"/>
          </a:p>
          <a:p>
            <a:r>
              <a:rPr lang="ko-KR" altLang="ko-KR" dirty="0"/>
              <a:t>이를 </a:t>
            </a:r>
            <a:r>
              <a:rPr lang="ko-KR" altLang="ko-KR" dirty="0" err="1"/>
              <a:t>Out</a:t>
            </a:r>
            <a:r>
              <a:rPr lang="ko-KR" altLang="ko-KR" dirty="0"/>
              <a:t>-of-</a:t>
            </a:r>
            <a:r>
              <a:rPr lang="ko-KR" altLang="ko-KR" dirty="0" err="1"/>
              <a:t>place</a:t>
            </a:r>
            <a:r>
              <a:rPr lang="ko-KR" altLang="ko-KR" dirty="0"/>
              <a:t> </a:t>
            </a:r>
            <a:r>
              <a:rPr lang="ko-KR" altLang="ko-KR" dirty="0" err="1"/>
              <a:t>Update라고</a:t>
            </a:r>
            <a:r>
              <a:rPr lang="ko-KR" altLang="ko-KR" dirty="0"/>
              <a:t> 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FTL은</a:t>
            </a:r>
            <a:r>
              <a:rPr lang="ko-KR" altLang="ko-KR" dirty="0"/>
              <a:t> 이러한 특성을 관리하며, Host의 </a:t>
            </a:r>
            <a:r>
              <a:rPr lang="ko-KR" altLang="ko-KR" dirty="0" err="1"/>
              <a:t>LPN을</a:t>
            </a:r>
            <a:r>
              <a:rPr lang="ko-KR" altLang="ko-KR" dirty="0"/>
              <a:t> </a:t>
            </a:r>
            <a:r>
              <a:rPr lang="ko-KR" altLang="ko-KR" dirty="0" err="1"/>
              <a:t>Flash의</a:t>
            </a:r>
            <a:r>
              <a:rPr lang="ko-KR" altLang="ko-KR" dirty="0"/>
              <a:t> </a:t>
            </a:r>
            <a:r>
              <a:rPr lang="ko-KR" altLang="ko-KR" dirty="0" err="1"/>
              <a:t>PPN으로</a:t>
            </a:r>
            <a:r>
              <a:rPr lang="ko-KR" altLang="ko-KR" dirty="0"/>
              <a:t> 변환하고 </a:t>
            </a:r>
            <a:r>
              <a:rPr lang="ko-KR" altLang="ko-KR" dirty="0" err="1"/>
              <a:t>Garbage</a:t>
            </a:r>
            <a:r>
              <a:rPr lang="ko-KR" altLang="ko-KR" dirty="0"/>
              <a:t> </a:t>
            </a:r>
            <a:r>
              <a:rPr lang="ko-KR" altLang="ko-KR" dirty="0" err="1"/>
              <a:t>Collection을</a:t>
            </a:r>
            <a:r>
              <a:rPr lang="ko-KR" altLang="ko-KR" dirty="0"/>
              <a:t> 수행합니다.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매핑 방식에는 </a:t>
            </a:r>
            <a:r>
              <a:rPr lang="ko-KR" altLang="ko-KR" dirty="0" err="1"/>
              <a:t>Page</a:t>
            </a:r>
            <a:r>
              <a:rPr lang="ko-KR" altLang="ko-KR" dirty="0"/>
              <a:t>, Block,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Mapping이</a:t>
            </a:r>
            <a:r>
              <a:rPr lang="ko-KR" altLang="ko-KR" dirty="0"/>
              <a:t> 있습니다.</a:t>
            </a:r>
            <a:endParaRPr lang="en-US" altLang="ko-KR" dirty="0"/>
          </a:p>
          <a:p>
            <a:r>
              <a:rPr lang="ko-KR" altLang="ko-KR" dirty="0" err="1"/>
              <a:t>Page</a:t>
            </a:r>
            <a:r>
              <a:rPr lang="ko-KR" altLang="ko-KR" dirty="0"/>
              <a:t> </a:t>
            </a:r>
            <a:r>
              <a:rPr lang="ko-KR" altLang="ko-KR" dirty="0" err="1"/>
              <a:t>Mapping은</a:t>
            </a:r>
            <a:r>
              <a:rPr lang="ko-KR" altLang="ko-KR" dirty="0"/>
              <a:t> 유연하지만 SRAM 사용량이 크고, Block </a:t>
            </a:r>
            <a:r>
              <a:rPr lang="ko-KR" altLang="ko-KR" dirty="0" err="1"/>
              <a:t>Mapping은</a:t>
            </a:r>
            <a:r>
              <a:rPr lang="ko-KR" altLang="ko-KR" dirty="0"/>
              <a:t> 메모리 사용량은 적지만 </a:t>
            </a:r>
            <a:r>
              <a:rPr lang="en-US" altLang="ko-KR" dirty="0"/>
              <a:t>GC Overhead</a:t>
            </a:r>
            <a:r>
              <a:rPr lang="ko-KR" altLang="en-US" dirty="0"/>
              <a:t>가 큽니다</a:t>
            </a:r>
            <a:r>
              <a:rPr lang="en-US" altLang="ko-KR" dirty="0"/>
              <a:t>.</a:t>
            </a:r>
          </a:p>
          <a:p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Mapping은</a:t>
            </a:r>
            <a:r>
              <a:rPr lang="ko-KR" altLang="ko-KR" dirty="0"/>
              <a:t> Data Block은 Block 단위로, </a:t>
            </a:r>
            <a:r>
              <a:rPr lang="ko-KR" altLang="ko-KR" dirty="0" err="1"/>
              <a:t>Log</a:t>
            </a:r>
            <a:r>
              <a:rPr lang="ko-KR" altLang="ko-KR" dirty="0"/>
              <a:t> Block은 </a:t>
            </a:r>
            <a:r>
              <a:rPr lang="ko-KR" altLang="ko-KR" dirty="0" err="1"/>
              <a:t>Page</a:t>
            </a:r>
            <a:r>
              <a:rPr lang="ko-KR" altLang="ko-KR" dirty="0"/>
              <a:t> 단위로 관리합니다.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808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FTL은</a:t>
            </a:r>
            <a:r>
              <a:rPr lang="ko-KR" altLang="ko-KR" dirty="0"/>
              <a:t> </a:t>
            </a:r>
            <a:r>
              <a:rPr lang="ko-KR" altLang="en-US" dirty="0"/>
              <a:t>그림처럼 </a:t>
            </a:r>
            <a:r>
              <a:rPr lang="ko-KR" altLang="ko-KR" dirty="0"/>
              <a:t>Data Block과 </a:t>
            </a:r>
            <a:r>
              <a:rPr lang="ko-KR" altLang="ko-KR" dirty="0" err="1"/>
              <a:t>Log</a:t>
            </a:r>
            <a:r>
              <a:rPr lang="ko-KR" altLang="ko-KR" dirty="0"/>
              <a:t> Block을 함께 사용합니다.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기존 데이터는 Block</a:t>
            </a:r>
            <a:r>
              <a:rPr lang="en-US" altLang="ko-KR" dirty="0"/>
              <a:t> </a:t>
            </a:r>
            <a:r>
              <a:rPr lang="ko-KR" altLang="en-US" dirty="0"/>
              <a:t>단위의 </a:t>
            </a:r>
            <a:r>
              <a:rPr lang="ko-KR" altLang="ko-KR" dirty="0"/>
              <a:t>Data Block에 저장되고, 갱신된 데이터는 </a:t>
            </a:r>
            <a:r>
              <a:rPr lang="en-US" altLang="ko-KR" dirty="0"/>
              <a:t>Page </a:t>
            </a:r>
            <a:r>
              <a:rPr lang="ko-KR" altLang="en-US" dirty="0"/>
              <a:t>단위의 </a:t>
            </a:r>
            <a:r>
              <a:rPr lang="ko-KR" altLang="ko-KR" dirty="0" err="1"/>
              <a:t>Log</a:t>
            </a:r>
            <a:r>
              <a:rPr lang="ko-KR" altLang="ko-KR" dirty="0"/>
              <a:t> Block에 기록됩니다. </a:t>
            </a:r>
            <a:endParaRPr lang="en-US" altLang="ko-KR" dirty="0"/>
          </a:p>
          <a:p>
            <a:r>
              <a:rPr lang="ko-KR" altLang="ko-KR" dirty="0" err="1"/>
              <a:t>Read</a:t>
            </a:r>
            <a:r>
              <a:rPr lang="ko-KR" altLang="ko-KR" dirty="0"/>
              <a:t> 요청이 들어오면 최신 데이터가 Data Block에 있는지 확인하고, 갱신된 버전이 있다면 </a:t>
            </a:r>
            <a:r>
              <a:rPr lang="ko-KR" altLang="ko-KR" dirty="0" err="1"/>
              <a:t>Log</a:t>
            </a:r>
            <a:r>
              <a:rPr lang="ko-KR" altLang="ko-KR" dirty="0"/>
              <a:t> Block에서 해당 페이지를 찾습니다.</a:t>
            </a:r>
          </a:p>
          <a:p>
            <a:r>
              <a:rPr lang="ko-KR" altLang="ko-KR" dirty="0"/>
              <a:t>쓰기가 반복되어 </a:t>
            </a:r>
            <a:r>
              <a:rPr lang="ko-KR" altLang="ko-KR" dirty="0" err="1"/>
              <a:t>Log</a:t>
            </a:r>
            <a:r>
              <a:rPr lang="ko-KR" altLang="ko-KR" dirty="0"/>
              <a:t> Block 공간이 부족해지면, GC 과정에서 Data Block과 </a:t>
            </a:r>
            <a:r>
              <a:rPr lang="ko-KR" altLang="ko-KR" dirty="0" err="1"/>
              <a:t>Log</a:t>
            </a:r>
            <a:r>
              <a:rPr lang="ko-KR" altLang="ko-KR" dirty="0"/>
              <a:t> Block을 정리하는 </a:t>
            </a:r>
            <a:r>
              <a:rPr lang="ko-KR" altLang="ko-KR" dirty="0" err="1"/>
              <a:t>Merge가</a:t>
            </a:r>
            <a:r>
              <a:rPr lang="ko-KR" altLang="ko-KR" dirty="0"/>
              <a:t> 수행됩니다.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Merge는</a:t>
            </a:r>
            <a:r>
              <a:rPr lang="ko-KR" altLang="ko-KR" dirty="0"/>
              <a:t> 세 종류입니다. </a:t>
            </a:r>
            <a:endParaRPr lang="en-US" altLang="ko-KR" dirty="0"/>
          </a:p>
          <a:p>
            <a:r>
              <a:rPr lang="ko-KR" altLang="ko-KR" dirty="0" err="1"/>
              <a:t>Switch는</a:t>
            </a:r>
            <a:r>
              <a:rPr lang="ko-KR" altLang="ko-KR" dirty="0"/>
              <a:t> 복사 없이 </a:t>
            </a:r>
            <a:r>
              <a:rPr lang="ko-KR" altLang="ko-KR" dirty="0" err="1"/>
              <a:t>Log</a:t>
            </a:r>
            <a:r>
              <a:rPr lang="ko-KR" altLang="ko-KR" dirty="0"/>
              <a:t> Block을 Data Block으로 전환하고, </a:t>
            </a:r>
            <a:r>
              <a:rPr lang="ko-KR" altLang="ko-KR" dirty="0" err="1"/>
              <a:t>Partial은</a:t>
            </a:r>
            <a:r>
              <a:rPr lang="ko-KR" altLang="ko-KR" dirty="0"/>
              <a:t> 남은 유효 페이지만 복사합니다.</a:t>
            </a:r>
            <a:endParaRPr lang="en-US" altLang="ko-KR" dirty="0"/>
          </a:p>
          <a:p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Merge는</a:t>
            </a:r>
            <a:r>
              <a:rPr lang="ko-KR" altLang="ko-KR" dirty="0"/>
              <a:t> 유효 페이지를 새 블록에 모두 복사하므로 가장 큰 오버헤드가 발생합니다.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7095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엔터프라이즈 환경에서는 서로 다른 워크로드가 통합되면서 </a:t>
            </a:r>
            <a:r>
              <a:rPr lang="ko-KR" altLang="ko-KR" dirty="0" err="1"/>
              <a:t>I</a:t>
            </a:r>
            <a:r>
              <a:rPr lang="ko-KR" altLang="ko-KR" dirty="0"/>
              <a:t>/</a:t>
            </a:r>
            <a:r>
              <a:rPr lang="ko-KR" altLang="ko-KR" dirty="0" err="1"/>
              <a:t>O</a:t>
            </a:r>
            <a:r>
              <a:rPr lang="ko-KR" altLang="ko-KR" dirty="0"/>
              <a:t> 랜덤성이 증가합니다.</a:t>
            </a:r>
            <a:endParaRPr lang="en-US" altLang="ko-KR" dirty="0"/>
          </a:p>
          <a:p>
            <a:r>
              <a:rPr lang="ko-KR" altLang="en-US" dirty="0"/>
              <a:t>특히 대부분의 엔터프라이즈 규모 워크로드의 경우 시간적 지역성을 가지고</a:t>
            </a:r>
            <a:r>
              <a:rPr lang="en-US" altLang="ko-KR" dirty="0"/>
              <a:t>, Write </a:t>
            </a:r>
            <a:r>
              <a:rPr lang="ko-KR" altLang="en-US" dirty="0"/>
              <a:t>비중이 높은 워크로드가 있을 수 있습니다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r>
              <a:rPr lang="ko-KR" altLang="ko-KR" dirty="0"/>
              <a:t>이러한 랜덤 쓰기가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FTL에</a:t>
            </a:r>
            <a:r>
              <a:rPr lang="ko-KR" altLang="ko-KR" dirty="0"/>
              <a:t> 입력되면 </a:t>
            </a:r>
            <a:r>
              <a:rPr lang="ko-KR" altLang="ko-KR" dirty="0" err="1"/>
              <a:t>Log</a:t>
            </a:r>
            <a:r>
              <a:rPr lang="ko-KR" altLang="ko-KR" dirty="0"/>
              <a:t> Block의 페이지 순서가 흐트러져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자주 발생합니다.</a:t>
            </a:r>
          </a:p>
          <a:p>
            <a:r>
              <a:rPr lang="ko-KR" altLang="ko-KR" dirty="0"/>
              <a:t>특히 </a:t>
            </a:r>
            <a:r>
              <a:rPr lang="ko-KR" altLang="ko-KR" dirty="0" err="1"/>
              <a:t>FAST에서는</a:t>
            </a:r>
            <a:r>
              <a:rPr lang="ko-KR" altLang="ko-KR" dirty="0"/>
              <a:t> 최신 페이지가 여러 </a:t>
            </a:r>
            <a:r>
              <a:rPr lang="ko-KR" altLang="ko-KR" dirty="0" err="1"/>
              <a:t>Log</a:t>
            </a:r>
            <a:r>
              <a:rPr lang="ko-KR" altLang="ko-KR" dirty="0"/>
              <a:t> Block에 분산되어, 한 번의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여러 Data Block을 처리하는 큰 작업으로 확대될 수 있습니다.</a:t>
            </a:r>
          </a:p>
          <a:p>
            <a:r>
              <a:rPr lang="ko-KR" altLang="ko-KR" dirty="0"/>
              <a:t>기존 </a:t>
            </a:r>
            <a:r>
              <a:rPr lang="ko-KR" altLang="ko-KR" dirty="0" err="1"/>
              <a:t>Hybrid</a:t>
            </a:r>
            <a:r>
              <a:rPr lang="ko-KR" altLang="ko-KR" dirty="0"/>
              <a:t> FTL</a:t>
            </a:r>
            <a:r>
              <a:rPr lang="ko-KR" altLang="en-US" dirty="0"/>
              <a:t> 구조를 유지한 </a:t>
            </a:r>
            <a:r>
              <a:rPr lang="en-US" altLang="ko-KR" dirty="0"/>
              <a:t>BAST, FAST</a:t>
            </a:r>
            <a:r>
              <a:rPr lang="ko-KR" altLang="en-US" dirty="0"/>
              <a:t> 등의 방법으로</a:t>
            </a:r>
            <a:r>
              <a:rPr lang="ko-KR" altLang="ko-KR" dirty="0"/>
              <a:t> 이를 완화하려 했지만, 여전히 높은 GC 오버헤드와 낮은 시간적 지역성 활용이라는 한계가 있</a:t>
            </a:r>
            <a:r>
              <a:rPr lang="ko-KR" altLang="en-US" dirty="0"/>
              <a:t>었습니다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3660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하이브리드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근본적인 문제는 결국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블록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소수 병목 지점에 쓰기를 구속시켰기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코어 아이디어는 화면에 보시는 단 한 문장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'doing away with log-blocks',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로그 블록이라는 개념 자체를 완전히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사멸시키는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페이지 레벨 매핑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(Page-level Mapping)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회귀합니다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SRAM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요구량 문제를 해결하기 위해 현재 자주 접근되는 매핑 엔트리만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SRAM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선택적으로 올리는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 기반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도입했습니다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962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아키텍처는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SRAM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영역과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낸드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플래시 영역으로 역할이 분리됩니다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모든 매핑 엔트리들을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플래시 영역에 저장하는데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매핑 엔트리들은 여러 페이지에 저장이 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이때 매핑 엔트리들을 저장하고 있는 페이지를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Page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유저가 실제로 사용하는 데이터는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저장됩니다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낸드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플래시 공간은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Page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저장되는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Block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Translation Page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저장되는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Translation Block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나뉘어 관리됩니다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영역에는 두 가지 테이블이 상주합니다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GTD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인데요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 Mapping Table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 현재 활발히 접근 중인 매핑 엔트리를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캐싱하여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구성한 테이블입니다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GTD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앞서 설명했던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Page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물리적 주소를 추적하는 디렉토리입니다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0633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3275-419A-C99F-8625-01580437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437B5E-CA59-5802-8F93-06B00153C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1FF7C0D4-184B-9F5C-F92F-9027DCBA97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주소 변환 과정을 짚어보겠습니다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I/O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요청이 들어오면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가장 먼저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조회합니다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대응되는 매핑 엔트리가 있는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 Hit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상황이면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바로 물리 주소를 얻어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Block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접근합니다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경우 추가적인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Read/Write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연산이 발생하지 않으며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동작 과정이 순수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Page-level 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과 같습니다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만약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대응되는 매핑 엔트리가 없는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CMT Miss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상황이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그림과 같은 시퀀스에 따라 매핑 엔트리를 적재하게 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호스트가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=1280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읽기를 요청했습니다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검색했지만 대응하는 엔트리가 없습니다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이때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Full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아니라면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GTD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참조하여 매핑 엔트리를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로부터 복사하여 적재할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그런데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Full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인 경우에는 새로운 매핑 엔트리를 적재할 수 없습니다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따라서 이미 존재하는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엔트리중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일부를 제거하여야 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알고리즘에 의해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victim entry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로 선정되었습니다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이때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victim entry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state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따라 이후 과정이 달라집니다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만약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state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clean,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즉 수정되지 않았다면 단순히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삭제함으로써 제거 과정을 완료합니다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하지만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state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dirty,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즉 수정되었다면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GMT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상의 원본과 차이가 생겼기 때문에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변경 사항을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반영해줘야 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산술적 연산과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GTD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조회에 의해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엔트리의 원본이 저장된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Translation Page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물리적 주소가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번임을 알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해당 페이지를 읽은 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해당하는 원본 엔트리를 수정하여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새로운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Translation Page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Write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Invalid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하고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23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최신 정보를 갖고 있기에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GTD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업데이트합니다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이제 변경 사항을 반영하는 작업이 끝났으니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victim entry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삭제하여 공간을 확보합니다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이제 새로운 엔트리를 적재할 준비가 되었습니다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산술적 계산과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GTD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조회에 의해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Original Request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1280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번이 속한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Translation Page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물리적 주소가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=15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번임을 알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=15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Translation Page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읽어와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1280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번에 대한 매핑 엔트리를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적재합니다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이제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𝐿𝑃𝑁</m:t>
                        </m:r>
                      </m:sub>
                    </m:sSub>
                  </m:oMath>
                </a14:m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=1280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번에 대응하는 매핑 엔트리가 있으니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물리 주소를 얻어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Data block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접근할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1FF7C0D4-184B-9F5C-F92F-9027DCBA97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주소 변환 과정을 짚어보겠습니다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I/O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요청이 들어오면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가장 먼저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조회합니다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대응되는 매핑 엔트리가 있는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 Hit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상황이면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바로 물리 주소를 얻어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Block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접근합니다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경우 추가적인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Read/Write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연산이 발생하지 않으며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동작 과정이 순수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Page-level 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과 같습니다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만약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대응되는 매핑 엔트리가 없는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CMT Miss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상황이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그림과 같은 시퀀스에 따라 매핑 엔트리를 적재하게 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호스트가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=1280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읽기를 요청했습니다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검색했지만 대응하는 엔트리가 없습니다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이때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Full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아니라면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GTD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참조하여 매핑 엔트리를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로부터 복사하여 적재할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그런데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Full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인 경우에는 새로운 매핑 엔트리를 적재할 수 없습니다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따라서 이미 존재하는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엔트리중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일부를 제거하여야 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알고리즘에 의해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victim entry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로 선정되었습니다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이때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victim entry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state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따라 이후 과정이 달라집니다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만약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state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clean,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즉 수정되지 않았다면 단순히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삭제함으로써 제거 과정을 완료합니다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하지만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state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dirty,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즉 수정되었다면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GMT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상의 원본과 차이가 생겼기 때문에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변경 사항을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반영해줘야 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산술적 연산과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GTD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조회에 의해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엔트리의 원본이 저장된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Translation Page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물리적 주소가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𝑀_𝑃𝑃𝑁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번임을 알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해당 페이지를 읽은 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해당하는 원본 엔트리를 수정하여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새로운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Translation Page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Write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𝑀_𝑃𝑃𝑁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Invalid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하고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𝑀_𝑃𝑃𝑁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23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최신 정보를 갖고 있기에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GTD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업데이트합니다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이제 변경 사항을 반영하는 작업이 끝났으니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상의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victim entry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삭제하여 공간을 확보합니다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이제 새로운 엔트리를 적재할 준비가 되었습니다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산술적 계산과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GTD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조회에 의해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Original Request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인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1280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번이 속한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Translation Page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물리적 주소가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𝑀_𝑃𝑃𝑁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=15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번임을 알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FTL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𝑀_𝑃𝑃𝑁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=15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Translation Page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읽어와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1280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번에 대한 매핑 엔트리를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적재합니다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이제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CMT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상에 </a:t>
                </a:r>
                <a:r>
                  <a:rPr lang="ko-KR" alt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𝐷_𝐿𝑃𝑁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=1280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번에 대응하는 매핑 엔트리가 있으니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물리 주소를 얻어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Data block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접근할 수 있습니다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8A4C9D-2404-44C0-99D0-E47603D5A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6321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CB52-76DC-BD3A-FCB3-A05834B4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0DF4DC-8E16-1E12-8754-B649C4F9B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939765-DC68-4CBB-4446-432DFA6BC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 State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경우와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경우의 오버헤드 비교입니다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경우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Page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 한 번의 오버헤드가 발생하지만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dirty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경우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Page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 두 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쓰기 한 번의 오버헤드가 발생합니다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주소 변환 과정에서의 추가적인 오버헤드 완화를 위하여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copy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update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기법을 적용합니다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B95BD-4753-D881-E1F5-75C50A32F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722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Read/Write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요청은 주소 번역 후 해당하는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읽습니다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Write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요청을 위해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 Page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'Current Data Block'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Translaion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'Current Translation Block'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가지 활성 블록을 독립적으로 유지합니다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 시 유저 데이터는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Current Data Block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Page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상의 매핑 엔트리를 업데이트합니다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특성으로 인하여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locality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활용이 용이합니다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Data Block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유지하는 것만으로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hot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데이터끼리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cold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데이터끼리 이웃하여 들어오고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hot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데이터끼리 뭉쳐서 들어오기에 금방 블록 전체가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 되어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효율이 증가합니다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4544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오버헤드 절감 기법인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'Lazy Copy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지연 복사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상에서 매핑 엔트리가 수정되더라도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GMT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즉시 반영하지 않고 지연시킵니다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엔트리는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내부에서만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'Dirty'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상태로 유지되다가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캐시에서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 시점에 단 한 번 반영됩니다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LPN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1,000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번의 무작위 쓰기가 이루어져도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SRAM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1,000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고쳐질 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낸드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쓰기 오버헤드는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Evict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시점의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축소됩니다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49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오버헤드 절감 기법은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'Batch Update 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일괄 업데이트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매핑 엔트리 하나가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Evict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될 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이 엔트리 하나만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낸드에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쓰고 끝내지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쫓겨나는 엔트리와 동일한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Translation Page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속해 있는 다른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Dirty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엔트리들을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한꺼번에 수집합니다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변경사항을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Page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반영할 때 일괄적으로 반영합니다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 Update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여러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mapping entry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들의 변경점들을 한 번의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업데이트 할 수 있어 오버헤드가 감소합니다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0606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DFTL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가비지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컬렉션입니다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 Block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임계값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GC_threshold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이하로 떨어지면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Garbage Collection(GC)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Victim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 종류에 따라 처리가 달라집니다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Block GC: Data Block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Victim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되면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Valid Data Page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들을 새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Block</a:t>
            </a:r>
            <a:r>
              <a:rPr lang="ko-KR" altLang="ko-KR" sz="12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복사합니다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주소가 바뀌었으므로 관련된 매핑 엔트리를 최신 주소로 업데이트합니다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Block GC: Translation Block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Victim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되면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Valid Translation Page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들을 새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Translation Block</a:t>
            </a:r>
            <a:r>
              <a:rPr lang="ko-KR" altLang="ko-KR" sz="12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복사하고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GTD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엔트리를 새로 바뀐 주소로 업데이트합니다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104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내용을 바탕으로 기존 하이브리드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DFTL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차이를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지표로 정리한 요약 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Merge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하이브리드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 merge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연산을 줄이려 시도하였으나 여전히 발생한 반면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순수 페이지 매핑을 통해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 Merge</a:t>
            </a:r>
            <a:r>
              <a:rPr lang="ko-KR" altLang="ko-KR" sz="12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완전히 제거했습니다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 Merge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기법은 외부 메커니즘에 의존했으나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페이지 레벨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Temporal Locality</a:t>
            </a:r>
            <a:r>
              <a:rPr lang="ko-KR" altLang="ko-KR" sz="12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활용하여 자주 쓰이는 페이지를 자연스럽게 같은 블록에 모아 암묵적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(Implicit)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분리를 달성합니다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임의 쓰기 성능의 경우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하이브리드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로그 블록의 비싼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Merge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성능이 급락했지만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비싼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 Merge</a:t>
            </a:r>
            <a:r>
              <a:rPr lang="ko-KR" altLang="ko-KR" sz="12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없애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Write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성능을 비약적으로 향상시켰습니다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 유동성의 경우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하이브리드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소수 로그 블록만 쓰기를 수용하여 공간이 제한되었으나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DFTL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플래시의 대부분을 차지하는 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Block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들을 쓰기 수용에 활용해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Block Utilization</a:t>
            </a:r>
            <a:r>
              <a:rPr lang="ko-KR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극대화했습니다</a:t>
            </a:r>
            <a:r>
              <a:rPr lang="en-US" altLang="ko-KR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1868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논문 저자들은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FTL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알고리즘의 성능 파급효과를 정밀 검증하기 위해 자체 시뮬레이터인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FlashSim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개발했습니다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FlashSim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학계에서 검증된 이벤트 기반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(Event-driven)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디스크 시뮬레이터인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Disksim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기반으로 확장하여 구축되었습니다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플래시 환경을 모사하기 위해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모듈화하여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묘사했습니다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FTL Schemes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자리에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DFTL, FAST, Ideal FTL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등을 플러그인 방식으로 교체하여 동일 하드웨어 조건에서의 비교 실험을 가능하게 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4662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이제 실험 결과를 살펴보겠습니다.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실험에서는 32기가바이트 NAND </a:t>
            </a:r>
            <a:r>
              <a:rPr lang="ko-KR" altLang="ko-KR" dirty="0" err="1"/>
              <a:t>Flash를</a:t>
            </a:r>
            <a:r>
              <a:rPr lang="ko-KR" altLang="ko-KR" dirty="0"/>
              <a:t> 사용하고, 그중 일부 공간만 워크로드가 저장되는 활성 영역으로 설정했습니다.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SRAM은</a:t>
            </a:r>
            <a:r>
              <a:rPr lang="ko-KR" altLang="ko-KR" dirty="0"/>
              <a:t> </a:t>
            </a:r>
            <a:r>
              <a:rPr lang="ko-KR" altLang="ko-KR" dirty="0" err="1"/>
              <a:t>FAST가</a:t>
            </a:r>
            <a:r>
              <a:rPr lang="ko-KR" altLang="ko-KR" dirty="0"/>
              <a:t> 주소 변환 정보를 저장하는 데 필요한 최소 크기로 제한했습니다.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비교 대상은 완전 연관형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FTL인</a:t>
            </a:r>
            <a:r>
              <a:rPr lang="ko-KR" altLang="ko-KR" dirty="0"/>
              <a:t> FAST, DFTL, 그리고 이상적인 </a:t>
            </a:r>
            <a:r>
              <a:rPr lang="ko-KR" altLang="ko-KR" dirty="0" err="1"/>
              <a:t>Baseline입니다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워크로드는 쓰기 중심인 Financial과 Cello99, 읽기 중심인 TPC-</a:t>
            </a:r>
            <a:r>
              <a:rPr lang="ko-KR" altLang="ko-KR" dirty="0" err="1"/>
              <a:t>H와</a:t>
            </a:r>
            <a:r>
              <a:rPr lang="ko-KR" altLang="ko-KR" dirty="0"/>
              <a:t> </a:t>
            </a:r>
            <a:r>
              <a:rPr lang="ko-KR" altLang="ko-KR" dirty="0" err="1"/>
              <a:t>Web</a:t>
            </a:r>
            <a:r>
              <a:rPr lang="ko-KR" altLang="ko-KR" dirty="0"/>
              <a:t> </a:t>
            </a:r>
            <a:r>
              <a:rPr lang="ko-KR" altLang="ko-KR" dirty="0" err="1"/>
              <a:t>Search로</a:t>
            </a:r>
            <a:r>
              <a:rPr lang="ko-KR" altLang="ko-KR" dirty="0"/>
              <a:t> 구성했습니다.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주요 평가 지표는 </a:t>
            </a:r>
            <a:r>
              <a:rPr lang="en-US" altLang="ko-KR" sz="1200" b="1" dirty="0"/>
              <a:t>GC </a:t>
            </a:r>
            <a:r>
              <a:rPr lang="ko-KR" altLang="en-US" sz="1200" b="1" dirty="0"/>
              <a:t>효율 및 </a:t>
            </a:r>
            <a:r>
              <a:rPr lang="en-US" altLang="ko-KR" sz="1200" b="1" dirty="0"/>
              <a:t>F</a:t>
            </a:r>
            <a:r>
              <a:rPr lang="ko-KR" altLang="ko-KR" sz="1200" b="1" dirty="0"/>
              <a:t>TL 내부 오버헤드</a:t>
            </a:r>
            <a:r>
              <a:rPr lang="en-US" altLang="ko-KR" sz="1200" b="1" dirty="0"/>
              <a:t>, </a:t>
            </a:r>
            <a:r>
              <a:rPr lang="ko-KR" altLang="ko-KR" dirty="0"/>
              <a:t>그리고 전체 시스템 응답 시간입니다.</a:t>
            </a:r>
          </a:p>
          <a:p>
            <a:endParaRPr lang="ko-KR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8710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먼저 각 </a:t>
            </a:r>
            <a:r>
              <a:rPr lang="ko-KR" altLang="ko-KR" dirty="0" err="1"/>
              <a:t>FTL에서</a:t>
            </a:r>
            <a:r>
              <a:rPr lang="ko-KR" altLang="ko-KR" dirty="0"/>
              <a:t> 발생한 </a:t>
            </a:r>
            <a:r>
              <a:rPr lang="ko-KR" altLang="ko-KR" dirty="0" err="1"/>
              <a:t>Merge</a:t>
            </a:r>
            <a:r>
              <a:rPr lang="ko-KR" altLang="ko-KR" dirty="0"/>
              <a:t> 연산의 종류와 횟수를 비교한 결과입니다.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전체 </a:t>
            </a:r>
            <a:r>
              <a:rPr lang="ko-KR" altLang="ko-KR" dirty="0" err="1"/>
              <a:t>Merge</a:t>
            </a:r>
            <a:r>
              <a:rPr lang="ko-KR" altLang="ko-KR" dirty="0"/>
              <a:t> 횟수만 보면 쓰기 워크로드에서는 </a:t>
            </a:r>
            <a:r>
              <a:rPr lang="ko-KR" altLang="ko-KR" dirty="0" err="1"/>
              <a:t>DFTL이</a:t>
            </a:r>
            <a:r>
              <a:rPr lang="ko-KR" altLang="ko-KR" dirty="0"/>
              <a:t> </a:t>
            </a:r>
            <a:r>
              <a:rPr lang="ko-KR" altLang="ko-KR" dirty="0" err="1"/>
              <a:t>FAST보다</a:t>
            </a:r>
            <a:r>
              <a:rPr lang="ko-KR" altLang="ko-KR" dirty="0"/>
              <a:t> 약간 적</a:t>
            </a:r>
            <a:r>
              <a:rPr lang="ko-KR" altLang="en-US" dirty="0"/>
              <a:t>고</a:t>
            </a:r>
            <a:r>
              <a:rPr lang="en-US" altLang="ko-KR" dirty="0"/>
              <a:t>, </a:t>
            </a:r>
            <a:r>
              <a:rPr lang="ko-KR" altLang="en-US" dirty="0"/>
              <a:t>읽기</a:t>
            </a:r>
            <a:r>
              <a:rPr lang="ko-KR" altLang="ko-KR" dirty="0"/>
              <a:t>에서는 오히려 </a:t>
            </a:r>
            <a:r>
              <a:rPr lang="ko-KR" altLang="ko-KR" dirty="0" err="1"/>
              <a:t>DFTL의</a:t>
            </a:r>
            <a:r>
              <a:rPr lang="ko-KR" altLang="ko-KR" dirty="0"/>
              <a:t> 연산 횟수가 더 많습니다.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하지만 핵심은 단순한 횟수가 아니라 </a:t>
            </a:r>
            <a:r>
              <a:rPr lang="ko-KR" altLang="ko-KR" b="1" dirty="0" err="1"/>
              <a:t>Merge의</a:t>
            </a:r>
            <a:r>
              <a:rPr lang="ko-KR" altLang="ko-KR" b="1" dirty="0"/>
              <a:t> 종류</a:t>
            </a:r>
            <a:r>
              <a:rPr lang="ko-KR" altLang="ko-KR" dirty="0"/>
              <a:t>입니다. </a:t>
            </a:r>
            <a:endParaRPr lang="en-US" altLang="ko-KR" dirty="0"/>
          </a:p>
          <a:p>
            <a:r>
              <a:rPr lang="ko-KR" altLang="ko-KR" dirty="0" err="1"/>
              <a:t>FAST에서는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상당 부분을 차지하는 반면, </a:t>
            </a:r>
            <a:r>
              <a:rPr lang="ko-KR" altLang="ko-KR" dirty="0" err="1"/>
              <a:t>DFTL에서는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전혀 발생하지 않</a:t>
            </a:r>
            <a:r>
              <a:rPr lang="ko-KR" altLang="en-US" dirty="0"/>
              <a:t>았습니다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r>
              <a:rPr lang="ko-KR" altLang="ko-KR" dirty="0"/>
              <a:t>따라서 </a:t>
            </a:r>
            <a:r>
              <a:rPr lang="ko-KR" altLang="ko-KR" dirty="0" err="1"/>
              <a:t>Merge</a:t>
            </a:r>
            <a:r>
              <a:rPr lang="ko-KR" altLang="ko-KR" dirty="0"/>
              <a:t> 횟수만으로는 두 방식의 실제 </a:t>
            </a:r>
            <a:r>
              <a:rPr lang="en-US" altLang="ko-KR" dirty="0"/>
              <a:t>Overhead</a:t>
            </a:r>
            <a:r>
              <a:rPr lang="ko-KR" altLang="en-US" dirty="0"/>
              <a:t>를</a:t>
            </a:r>
            <a:r>
              <a:rPr lang="ko-KR" altLang="ko-KR" dirty="0"/>
              <a:t> 정확히 비교하기 어렵습니다.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5458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BB6F-0B85-28F0-B608-54150F77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411C9B-0398-77DF-F0E7-5394E7313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8B5D41-7029-5252-3138-3BD452359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이번 그래프는 앞에서 확인한 </a:t>
            </a:r>
            <a:r>
              <a:rPr lang="ko-KR" altLang="ko-KR" dirty="0" err="1"/>
              <a:t>Merge</a:t>
            </a:r>
            <a:r>
              <a:rPr lang="ko-KR" altLang="ko-KR" dirty="0"/>
              <a:t> 방식의 차이가 실제 블록 삭제 횟수에 어떤 영향을 주는지를 보여줍니다.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Merge는</a:t>
            </a:r>
            <a:r>
              <a:rPr lang="ko-KR" altLang="ko-KR" dirty="0"/>
              <a:t> 하나의 </a:t>
            </a:r>
            <a:r>
              <a:rPr lang="ko-KR" altLang="ko-KR" dirty="0" err="1"/>
              <a:t>Log</a:t>
            </a:r>
            <a:r>
              <a:rPr lang="ko-KR" altLang="ko-KR" dirty="0"/>
              <a:t> </a:t>
            </a:r>
            <a:r>
              <a:rPr lang="ko-KR" altLang="ko-KR" dirty="0" err="1"/>
              <a:t>Block뿐만</a:t>
            </a:r>
            <a:r>
              <a:rPr lang="ko-KR" altLang="ko-KR" dirty="0"/>
              <a:t> 아니라 관련된 여러 Data Block을 함께 처리하기 때문에 많은 블록 삭제를 발생시킵니다.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en-US" dirty="0"/>
              <a:t>이전 그래프에서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ko-KR" altLang="ko-KR" dirty="0"/>
              <a:t> 횟수 자체는 </a:t>
            </a:r>
            <a:r>
              <a:rPr lang="ko-KR" altLang="ko-KR" dirty="0" err="1"/>
              <a:t>FAST와</a:t>
            </a:r>
            <a:r>
              <a:rPr lang="ko-KR" altLang="ko-KR" dirty="0"/>
              <a:t> </a:t>
            </a:r>
            <a:r>
              <a:rPr lang="ko-KR" altLang="ko-KR" dirty="0" err="1"/>
              <a:t>DFTL이</a:t>
            </a:r>
            <a:r>
              <a:rPr lang="ko-KR" altLang="ko-KR" dirty="0"/>
              <a:t> 비슷했</a:t>
            </a:r>
            <a:r>
              <a:rPr lang="ko-KR" altLang="en-US" dirty="0"/>
              <a:t>고</a:t>
            </a:r>
            <a:r>
              <a:rPr lang="en-US" altLang="ko-KR" dirty="0"/>
              <a:t>, DFTL</a:t>
            </a:r>
            <a:r>
              <a:rPr lang="ko-KR" altLang="en-US" dirty="0"/>
              <a:t>에는 </a:t>
            </a:r>
            <a:r>
              <a:rPr lang="en-US" altLang="ko-KR" dirty="0"/>
              <a:t>Translation Block</a:t>
            </a:r>
            <a:r>
              <a:rPr lang="ko-KR" altLang="en-US" dirty="0"/>
              <a:t>의 삭제도 발생하지만 </a:t>
            </a:r>
            <a:r>
              <a:rPr lang="ko-KR" altLang="ko-KR" dirty="0"/>
              <a:t>실제 Block </a:t>
            </a:r>
            <a:r>
              <a:rPr lang="ko-KR" altLang="ko-KR" dirty="0" err="1"/>
              <a:t>Erase</a:t>
            </a:r>
            <a:r>
              <a:rPr lang="ko-KR" altLang="ko-KR" dirty="0"/>
              <a:t> 횟수는 모든 워크로드에서 </a:t>
            </a:r>
            <a:r>
              <a:rPr lang="ko-KR" altLang="ko-KR" dirty="0" err="1"/>
              <a:t>FAST가</a:t>
            </a:r>
            <a:r>
              <a:rPr lang="ko-KR" altLang="ko-KR" dirty="0"/>
              <a:t> </a:t>
            </a:r>
            <a:r>
              <a:rPr lang="ko-KR" altLang="ko-KR" dirty="0" err="1"/>
              <a:t>DFTL보다</a:t>
            </a:r>
            <a:r>
              <a:rPr lang="ko-KR" altLang="ko-KR" dirty="0"/>
              <a:t> 최소 세 배 이상 많습니다.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FE94FF-3323-688D-673A-60D41D9B4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17969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9118-3638-E0C3-C068-AB7443AD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5D8D7A-C9C8-4721-E10E-0D3643A88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07D99E-B1F1-4111-60BB-B5240D31F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 그래프는 </a:t>
            </a:r>
            <a:r>
              <a:rPr lang="ko-KR" altLang="ko-KR" dirty="0" err="1"/>
              <a:t>GC와</a:t>
            </a:r>
            <a:r>
              <a:rPr lang="ko-KR" altLang="ko-KR" dirty="0"/>
              <a:t> 주소 변환으로 추가 발생한 </a:t>
            </a:r>
            <a:r>
              <a:rPr lang="ko-KR" altLang="ko-KR" dirty="0" err="1"/>
              <a:t>Read</a:t>
            </a:r>
            <a:r>
              <a:rPr lang="ko-KR" altLang="ko-KR" dirty="0"/>
              <a:t>/</a:t>
            </a:r>
            <a:r>
              <a:rPr lang="ko-KR" altLang="ko-KR" dirty="0" err="1"/>
              <a:t>Write</a:t>
            </a:r>
            <a:r>
              <a:rPr lang="ko-KR" altLang="ko-KR" dirty="0"/>
              <a:t> 연산을 비교한 결과입니다.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각 워크로드의 </a:t>
            </a:r>
            <a:r>
              <a:rPr lang="ko-KR" altLang="ko-KR" dirty="0" err="1"/>
              <a:t>FAST를</a:t>
            </a:r>
            <a:r>
              <a:rPr lang="ko-KR" altLang="ko-KR" dirty="0"/>
              <a:t> 100으로 </a:t>
            </a:r>
            <a:r>
              <a:rPr lang="ko-KR" altLang="ko-KR" dirty="0" err="1"/>
              <a:t>정규화했으므로</a:t>
            </a:r>
            <a:r>
              <a:rPr lang="ko-KR" altLang="ko-KR" dirty="0"/>
              <a:t>, 같은 워크로드 안에서만 비교해야 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FAST는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Merge로</a:t>
            </a:r>
            <a:r>
              <a:rPr lang="ko-KR" altLang="ko-KR" dirty="0"/>
              <a:t> 인해 </a:t>
            </a:r>
            <a:r>
              <a:rPr lang="ko-KR" altLang="ko-KR" dirty="0" err="1"/>
              <a:t>Valid</a:t>
            </a:r>
            <a:r>
              <a:rPr lang="ko-KR" altLang="ko-KR" dirty="0"/>
              <a:t> </a:t>
            </a:r>
            <a:r>
              <a:rPr lang="ko-KR" altLang="ko-KR" dirty="0" err="1"/>
              <a:t>Page</a:t>
            </a:r>
            <a:r>
              <a:rPr lang="ko-KR" altLang="ko-KR" dirty="0"/>
              <a:t> </a:t>
            </a:r>
            <a:r>
              <a:rPr lang="ko-KR" altLang="ko-KR" dirty="0" err="1"/>
              <a:t>Copy가</a:t>
            </a:r>
            <a:r>
              <a:rPr lang="ko-KR" altLang="ko-KR" dirty="0"/>
              <a:t> 많이 발생합니다.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반면 </a:t>
            </a:r>
            <a:r>
              <a:rPr lang="ko-KR" altLang="ko-KR" dirty="0" err="1"/>
              <a:t>DFTL은</a:t>
            </a:r>
            <a:r>
              <a:rPr lang="ko-KR" altLang="ko-KR" dirty="0"/>
              <a:t> 주소 변환을 위한 </a:t>
            </a:r>
            <a:r>
              <a:rPr lang="ko-KR" altLang="ko-KR" dirty="0" err="1"/>
              <a:t>Translation</a:t>
            </a:r>
            <a:r>
              <a:rPr lang="ko-KR" altLang="ko-KR" dirty="0"/>
              <a:t> </a:t>
            </a:r>
            <a:r>
              <a:rPr lang="ko-KR" altLang="ko-KR" dirty="0" err="1"/>
              <a:t>Page</a:t>
            </a:r>
            <a:r>
              <a:rPr lang="ko-KR" altLang="ko-KR" dirty="0"/>
              <a:t> 접근이 있지만,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없어 전체 오버헤드가 </a:t>
            </a:r>
            <a:r>
              <a:rPr lang="ko-KR" altLang="ko-KR" dirty="0" err="1"/>
              <a:t>Financial에서는</a:t>
            </a:r>
            <a:r>
              <a:rPr lang="ko-KR" altLang="ko-KR" dirty="0"/>
              <a:t> 약 27%, Cello99에서는 약 13%로 감소합니다.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TPC-</a:t>
            </a:r>
            <a:r>
              <a:rPr lang="ko-KR" altLang="ko-KR" dirty="0" err="1"/>
              <a:t>H는</a:t>
            </a:r>
            <a:r>
              <a:rPr lang="ko-KR" altLang="ko-KR" dirty="0"/>
              <a:t> 읽기 비중이 높아 </a:t>
            </a:r>
            <a:r>
              <a:rPr lang="ko-KR" altLang="ko-KR" dirty="0" err="1"/>
              <a:t>GC가</a:t>
            </a:r>
            <a:r>
              <a:rPr lang="ko-KR" altLang="ko-KR" dirty="0"/>
              <a:t> 적고 </a:t>
            </a:r>
            <a:r>
              <a:rPr lang="ko-KR" altLang="ko-KR" dirty="0" err="1"/>
              <a:t>DFTL의</a:t>
            </a:r>
            <a:r>
              <a:rPr lang="ko-KR" altLang="ko-KR" dirty="0"/>
              <a:t> </a:t>
            </a:r>
            <a:r>
              <a:rPr lang="ko-KR" altLang="ko-KR" dirty="0" err="1"/>
              <a:t>Translation</a:t>
            </a:r>
            <a:r>
              <a:rPr lang="ko-KR" altLang="ko-KR" dirty="0"/>
              <a:t> </a:t>
            </a:r>
            <a:r>
              <a:rPr lang="ko-KR" altLang="ko-KR" dirty="0" err="1"/>
              <a:t>Page</a:t>
            </a:r>
            <a:r>
              <a:rPr lang="ko-KR" altLang="ko-KR" dirty="0"/>
              <a:t> </a:t>
            </a:r>
            <a:r>
              <a:rPr lang="ko-KR" altLang="ko-KR" dirty="0" err="1"/>
              <a:t>Read</a:t>
            </a:r>
            <a:r>
              <a:rPr lang="ko-KR" altLang="ko-KR" dirty="0"/>
              <a:t> 비중이 커지므로, </a:t>
            </a:r>
            <a:r>
              <a:rPr lang="ko-KR" altLang="ko-KR" b="1" dirty="0"/>
              <a:t>추가 </a:t>
            </a:r>
            <a:r>
              <a:rPr lang="ko-KR" altLang="ko-KR" b="1" dirty="0" err="1"/>
              <a:t>R</a:t>
            </a:r>
            <a:r>
              <a:rPr lang="ko-KR" altLang="ko-KR" b="1" dirty="0"/>
              <a:t>/</a:t>
            </a:r>
            <a:r>
              <a:rPr lang="ko-KR" altLang="ko-KR" b="1" dirty="0" err="1"/>
              <a:t>W</a:t>
            </a:r>
            <a:r>
              <a:rPr lang="ko-KR" altLang="ko-KR" b="1" dirty="0"/>
              <a:t> 오버헤드 차이는 상대적으로 작게 나타납니다.</a:t>
            </a:r>
            <a:r>
              <a:rPr lang="ko-KR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ACC50-B07F-9F4C-F2F8-A82621103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943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89E3-0D26-1A26-A8C2-41676D13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2EDCDE-1B70-4475-0E7D-B943B20F8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412A2E-BA56-2866-FF6E-5AE774B79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앞의 결과에서 </a:t>
            </a:r>
            <a:r>
              <a:rPr lang="ko-KR" altLang="ko-KR" dirty="0" err="1"/>
              <a:t>FAST의</a:t>
            </a:r>
            <a:r>
              <a:rPr lang="ko-KR" altLang="ko-KR" dirty="0"/>
              <a:t> Block </a:t>
            </a:r>
            <a:r>
              <a:rPr lang="ko-KR" altLang="ko-KR" dirty="0" err="1"/>
              <a:t>Erase와</a:t>
            </a:r>
            <a:r>
              <a:rPr lang="ko-KR" altLang="ko-KR" dirty="0"/>
              <a:t> </a:t>
            </a:r>
            <a:r>
              <a:rPr lang="ko-KR" altLang="ko-KR" dirty="0" err="1"/>
              <a:t>Valid</a:t>
            </a:r>
            <a:r>
              <a:rPr lang="ko-KR" altLang="ko-KR" dirty="0"/>
              <a:t> </a:t>
            </a:r>
            <a:r>
              <a:rPr lang="ko-KR" altLang="ko-KR" dirty="0" err="1"/>
              <a:t>Page</a:t>
            </a:r>
            <a:r>
              <a:rPr lang="ko-KR" altLang="ko-KR" dirty="0"/>
              <a:t> </a:t>
            </a:r>
            <a:r>
              <a:rPr lang="ko-KR" altLang="ko-KR" dirty="0" err="1"/>
              <a:t>Copy가</a:t>
            </a:r>
            <a:r>
              <a:rPr lang="ko-KR" altLang="ko-KR" dirty="0"/>
              <a:t> 크게 증가한 원인이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Merge임을</a:t>
            </a:r>
            <a:r>
              <a:rPr lang="ko-KR" altLang="ko-KR" dirty="0"/>
              <a:t> 이 그래프에서 확인할 수 있습니다.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 그래프는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ko-KR" altLang="ko-KR" dirty="0"/>
              <a:t> 한 번에 연관되는 Data Block 수의 누적분포입니다.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Financial의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(20, 0.8)</a:t>
            </a:r>
            <a:r>
              <a:rPr lang="ko-KR" altLang="ko-KR" dirty="0"/>
              <a:t>은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en-US" altLang="ko-KR" dirty="0"/>
              <a:t> </a:t>
            </a:r>
            <a:r>
              <a:rPr lang="ko-KR" altLang="ko-KR" dirty="0"/>
              <a:t>20%가 </a:t>
            </a:r>
            <a:r>
              <a:rPr lang="en-US" altLang="ko-KR" dirty="0"/>
              <a:t>1</a:t>
            </a:r>
            <a:r>
              <a:rPr lang="ko-KR" altLang="en-US" dirty="0"/>
              <a:t>회당 </a:t>
            </a:r>
            <a:r>
              <a:rPr lang="ko-KR" altLang="ko-KR" dirty="0"/>
              <a:t>20개 초과</a:t>
            </a:r>
            <a:r>
              <a:rPr lang="en-US" altLang="ko-KR" dirty="0"/>
              <a:t>, </a:t>
            </a:r>
            <a:r>
              <a:rPr lang="ko-KR" altLang="ko-KR" dirty="0"/>
              <a:t>TPC-</a:t>
            </a:r>
            <a:r>
              <a:rPr lang="ko-KR" altLang="ko-KR" dirty="0" err="1"/>
              <a:t>H의</a:t>
            </a:r>
            <a:r>
              <a:rPr lang="ko-KR" altLang="ko-KR" dirty="0"/>
              <a:t>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(20, 0.4)</a:t>
            </a:r>
            <a:r>
              <a:rPr lang="ko-KR" altLang="ko-KR" dirty="0"/>
              <a:t>은</a:t>
            </a:r>
            <a:r>
              <a:rPr lang="en-US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ko-KR" altLang="ko-KR" dirty="0"/>
              <a:t> 60%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회당</a:t>
            </a:r>
            <a:r>
              <a:rPr lang="ko-KR" altLang="ko-KR" dirty="0"/>
              <a:t> 20개를 초과</a:t>
            </a:r>
            <a:r>
              <a:rPr lang="ko-KR" altLang="en-US" dirty="0"/>
              <a:t>한다는 의미입니다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아래</a:t>
            </a:r>
            <a:r>
              <a:rPr lang="ko-KR" altLang="ko-KR" dirty="0"/>
              <a:t> 표는</a:t>
            </a:r>
            <a:r>
              <a:rPr lang="en-US" altLang="ko-KR" dirty="0"/>
              <a:t> </a:t>
            </a:r>
            <a:r>
              <a:rPr lang="ko-KR" altLang="ko-KR" dirty="0" err="1"/>
              <a:t>Merge</a:t>
            </a:r>
            <a:r>
              <a:rPr lang="ko-KR" altLang="ko-KR" dirty="0"/>
              <a:t> 100회를 기준으로 20개 이하를 10개, 20개 초과를 21개로 가정</a:t>
            </a:r>
            <a:r>
              <a:rPr lang="ko-KR" altLang="en-US" dirty="0"/>
              <a:t>하여 </a:t>
            </a:r>
            <a:r>
              <a:rPr lang="en-US" altLang="ko-KR" dirty="0"/>
              <a:t>Full Merge</a:t>
            </a:r>
            <a:r>
              <a:rPr lang="ko-KR" altLang="en-US" dirty="0"/>
              <a:t>의 비용을 간단히 비교한 표입니다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dirty="0"/>
          </a:p>
          <a:p>
            <a:r>
              <a:rPr lang="ko-KR" altLang="ko-KR" dirty="0"/>
              <a:t>결국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Merge는</a:t>
            </a:r>
            <a:r>
              <a:rPr lang="ko-KR" altLang="ko-KR" dirty="0"/>
              <a:t> 한 번에 수십 개의 Data Block을 연관시키는 고비용 작업이며, 유효 페이지 복사와 Block </a:t>
            </a:r>
            <a:r>
              <a:rPr lang="ko-KR" altLang="ko-KR" dirty="0" err="1"/>
              <a:t>Erase</a:t>
            </a:r>
            <a:r>
              <a:rPr lang="ko-KR" altLang="ko-KR" dirty="0"/>
              <a:t> 증가의 주요 원인</a:t>
            </a:r>
            <a:r>
              <a:rPr lang="ko-KR" altLang="en-US" dirty="0"/>
              <a:t>임을 확인할 수 있습니다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4674E0-F923-1AD0-44BF-63444CFBC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33557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BB6C-7E94-94B9-83D1-DBD9745E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3C332C-1F4C-5A1A-5CB6-208D23786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BF1A1A-92F0-44B9-30B3-FA2F229C7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앞에서는 </a:t>
            </a:r>
            <a:r>
              <a:rPr lang="ko-KR" altLang="ko-KR" dirty="0" err="1"/>
              <a:t>DFTL이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Merge를</a:t>
            </a:r>
            <a:r>
              <a:rPr lang="ko-KR" altLang="ko-KR" dirty="0"/>
              <a:t> 제거해 블록 삭제와 추가 </a:t>
            </a:r>
            <a:r>
              <a:rPr lang="ko-KR" altLang="ko-KR" dirty="0" err="1"/>
              <a:t>Read</a:t>
            </a:r>
            <a:r>
              <a:rPr lang="ko-KR" altLang="ko-KR" dirty="0"/>
              <a:t>/</a:t>
            </a:r>
            <a:r>
              <a:rPr lang="ko-KR" altLang="ko-KR" dirty="0" err="1"/>
              <a:t>Write</a:t>
            </a:r>
            <a:r>
              <a:rPr lang="ko-KR" altLang="ko-KR" dirty="0"/>
              <a:t> 연산을 줄인다는 것을 확인했습니다. </a:t>
            </a:r>
            <a:endParaRPr lang="en-US" altLang="ko-KR" dirty="0"/>
          </a:p>
          <a:p>
            <a:r>
              <a:rPr lang="ko-KR" altLang="ko-KR" dirty="0"/>
              <a:t>이번 실험에서는 이러한 오버헤드 감소가 실제 시스템 응답 시간 개선으로 이어지는지를 분석합니다.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그래프</a:t>
            </a:r>
            <a:r>
              <a:rPr lang="ko-KR" altLang="en-US" dirty="0"/>
              <a:t>에서</a:t>
            </a:r>
            <a:r>
              <a:rPr lang="ko-KR" altLang="ko-KR" dirty="0"/>
              <a:t> 왼쪽 위에 가까울수록</a:t>
            </a:r>
            <a:r>
              <a:rPr lang="en-US" altLang="ko-KR" dirty="0"/>
              <a:t>,</a:t>
            </a:r>
            <a:r>
              <a:rPr lang="ko-KR" altLang="ko-KR" dirty="0"/>
              <a:t> 더 많은 요청을 짧은 시간 안에 처리</a:t>
            </a:r>
            <a:r>
              <a:rPr lang="ko-KR" altLang="en-US" dirty="0"/>
              <a:t>하였다는 의미입니다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r>
              <a:rPr lang="ko-KR" altLang="ko-KR" dirty="0"/>
              <a:t>Financial은 쓰기 비율이 91%인 워크로드입니다.</a:t>
            </a:r>
            <a:endParaRPr lang="en-US" altLang="ko-KR" dirty="0"/>
          </a:p>
          <a:p>
            <a:r>
              <a:rPr lang="ko-KR" altLang="ko-KR" dirty="0" err="1"/>
              <a:t>DFTL은</a:t>
            </a:r>
            <a:r>
              <a:rPr lang="ko-KR" altLang="ko-KR" dirty="0"/>
              <a:t> 이상적인 </a:t>
            </a:r>
            <a:r>
              <a:rPr lang="ko-KR" altLang="ko-KR" dirty="0" err="1"/>
              <a:t>Baseline과</a:t>
            </a:r>
            <a:r>
              <a:rPr lang="ko-KR" altLang="ko-KR" dirty="0"/>
              <a:t> 거의 유사한 형태를 보이며, 대부분의 요청을 16밀리초 이내에 처리</a:t>
            </a:r>
            <a:r>
              <a:rPr lang="ko-KR" altLang="en-US" dirty="0"/>
              <a:t>하는 </a:t>
            </a:r>
            <a:r>
              <a:rPr lang="ko-KR" altLang="ko-KR" dirty="0"/>
              <a:t>반면 </a:t>
            </a:r>
            <a:r>
              <a:rPr lang="ko-KR" altLang="ko-KR" dirty="0" err="1"/>
              <a:t>FAST는</a:t>
            </a:r>
            <a:r>
              <a:rPr lang="ko-KR" altLang="ko-KR" dirty="0"/>
              <a:t> 128밀리초에서도 일부 요청이 완료되지 </a:t>
            </a:r>
            <a:r>
              <a:rPr lang="ko-KR" altLang="en-US" dirty="0"/>
              <a:t>않습니다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r>
              <a:rPr lang="ko-KR" altLang="en-US" dirty="0"/>
              <a:t>수치상으로는 </a:t>
            </a:r>
            <a:r>
              <a:rPr lang="en-US" altLang="ko-KR" dirty="0"/>
              <a:t>DFTL</a:t>
            </a:r>
            <a:r>
              <a:rPr lang="ko-KR" altLang="en-US" dirty="0"/>
              <a:t>이 </a:t>
            </a:r>
            <a:r>
              <a:rPr lang="ko-KR" altLang="ko-KR" dirty="0"/>
              <a:t>FAST 대비 평균 </a:t>
            </a:r>
            <a:r>
              <a:rPr lang="ko-KR" altLang="ko-KR" dirty="0" err="1"/>
              <a:t>I</a:t>
            </a:r>
            <a:r>
              <a:rPr lang="ko-KR" altLang="ko-KR" dirty="0"/>
              <a:t>/</a:t>
            </a:r>
            <a:r>
              <a:rPr lang="ko-KR" altLang="ko-KR" dirty="0" err="1"/>
              <a:t>O</a:t>
            </a:r>
            <a:r>
              <a:rPr lang="ko-KR" altLang="ko-KR" dirty="0"/>
              <a:t> 응답 시간이 78% 개선</a:t>
            </a:r>
            <a:r>
              <a:rPr lang="ko-KR" altLang="en-US" dirty="0"/>
              <a:t>되었습니다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A77C69-AB1D-8874-2617-36E4B34C7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284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98FDF-55D3-E1FF-D9A4-C5C29662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61FF7C-7BE3-FF36-72E4-C7F516833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C286E1-5D82-6251-4DD6-BD7FAE991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다음은 쓰기 비율이 65%인 Cello99 워크로드입니다.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Financial보다 쓰기 비율 자체는 낮지만, 평균 요청 간격이 4밀리초로 훨씬 높은 강도의 </a:t>
            </a:r>
            <a:r>
              <a:rPr lang="ko-KR" altLang="ko-KR" dirty="0" err="1"/>
              <a:t>I</a:t>
            </a:r>
            <a:r>
              <a:rPr lang="ko-KR" altLang="ko-KR" dirty="0"/>
              <a:t>/</a:t>
            </a:r>
            <a:r>
              <a:rPr lang="ko-KR" altLang="ko-KR" dirty="0" err="1"/>
              <a:t>O</a:t>
            </a:r>
            <a:r>
              <a:rPr lang="ko-KR" altLang="ko-KR" dirty="0"/>
              <a:t> 요청이 들어옵니다.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이러한 환경에서도 </a:t>
            </a:r>
            <a:r>
              <a:rPr lang="ko-KR" altLang="ko-KR" dirty="0" err="1"/>
              <a:t>DFTL은</a:t>
            </a:r>
            <a:r>
              <a:rPr lang="ko-KR" altLang="ko-KR" dirty="0"/>
              <a:t> 이상적인 </a:t>
            </a:r>
            <a:r>
              <a:rPr lang="ko-KR" altLang="ko-KR" dirty="0" err="1"/>
              <a:t>Baseline과</a:t>
            </a:r>
            <a:r>
              <a:rPr lang="ko-KR" altLang="ko-KR" dirty="0"/>
              <a:t> 가까운 성능을 유지합니다.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반면 </a:t>
            </a:r>
            <a:r>
              <a:rPr lang="ko-KR" altLang="ko-KR" dirty="0" err="1"/>
              <a:t>FAST는</a:t>
            </a:r>
            <a:r>
              <a:rPr lang="en-US" altLang="ko-KR" dirty="0"/>
              <a:t> </a:t>
            </a:r>
            <a:r>
              <a:rPr lang="ko-KR" altLang="en-US" dirty="0"/>
              <a:t>역시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ko-KR" altLang="en-US" dirty="0" err="1"/>
              <a:t>로</a:t>
            </a:r>
            <a:r>
              <a:rPr lang="ko-KR" altLang="en-US" dirty="0"/>
              <a:t> 인하여 </a:t>
            </a:r>
            <a:r>
              <a:rPr lang="ko-KR" altLang="ko-KR" dirty="0"/>
              <a:t>지연이 크게 증가합니다.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DB339-B7D0-915F-3922-B52BA579A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06399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E475-24B8-0182-CE66-F082FFED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087A0-0F26-62B1-D37F-E67FE4343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875FE7-7598-E8F2-A690-F48C9EAD4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이번에는 읽기 비율이 95%인 TPC-H 워크로드입니다.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FAST는</a:t>
            </a:r>
            <a:r>
              <a:rPr lang="ko-KR" altLang="ko-KR" dirty="0"/>
              <a:t> 주소 매핑 정보가 </a:t>
            </a:r>
            <a:r>
              <a:rPr lang="ko-KR" altLang="en-US" dirty="0"/>
              <a:t>전부 </a:t>
            </a:r>
            <a:r>
              <a:rPr lang="ko-KR" altLang="ko-KR" dirty="0" err="1"/>
              <a:t>SRAM에</a:t>
            </a:r>
            <a:r>
              <a:rPr lang="ko-KR" altLang="ko-KR" dirty="0"/>
              <a:t> 있</a:t>
            </a:r>
            <a:r>
              <a:rPr lang="ko-KR" altLang="en-US" dirty="0"/>
              <a:t>지만</a:t>
            </a:r>
            <a:r>
              <a:rPr lang="en-US" altLang="ko-KR" dirty="0"/>
              <a:t>,</a:t>
            </a:r>
            <a:r>
              <a:rPr lang="ko-KR" altLang="ko-KR" dirty="0"/>
              <a:t> </a:t>
            </a:r>
            <a:r>
              <a:rPr lang="ko-KR" altLang="ko-KR" dirty="0" err="1"/>
              <a:t>DFTL은</a:t>
            </a:r>
            <a:r>
              <a:rPr lang="ko-KR" altLang="ko-KR" dirty="0"/>
              <a:t> CMT </a:t>
            </a:r>
            <a:r>
              <a:rPr lang="ko-KR" altLang="ko-KR" dirty="0" err="1"/>
              <a:t>miss</a:t>
            </a:r>
            <a:r>
              <a:rPr lang="ko-KR" altLang="en-US" dirty="0" err="1"/>
              <a:t>로</a:t>
            </a:r>
            <a:r>
              <a:rPr lang="ko-KR" altLang="en-US" dirty="0"/>
              <a:t> </a:t>
            </a:r>
            <a:r>
              <a:rPr lang="ko-KR" altLang="ko-KR" dirty="0"/>
              <a:t>주소 변환 오버헤드가 발생</a:t>
            </a:r>
            <a:r>
              <a:rPr lang="ko-KR" altLang="en-US" dirty="0"/>
              <a:t>하여 초기에는 </a:t>
            </a:r>
            <a:r>
              <a:rPr lang="en-US" altLang="ko-KR" dirty="0"/>
              <a:t>FAST</a:t>
            </a:r>
            <a:r>
              <a:rPr lang="ko-KR" altLang="en-US" dirty="0"/>
              <a:t>가 더 우수한 모습을 보입니다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r>
              <a:rPr lang="ko-KR" altLang="ko-KR" dirty="0"/>
              <a:t>하지만 </a:t>
            </a:r>
            <a:r>
              <a:rPr lang="en-US" altLang="ko-KR" dirty="0"/>
              <a:t>16ms </a:t>
            </a:r>
            <a:r>
              <a:rPr lang="ko-KR" altLang="en-US" dirty="0"/>
              <a:t>이후에서는 </a:t>
            </a:r>
            <a:r>
              <a:rPr lang="en-US" altLang="ko-KR" dirty="0"/>
              <a:t>DFTL</a:t>
            </a:r>
            <a:r>
              <a:rPr lang="ko-KR" altLang="en-US" dirty="0"/>
              <a:t>이 더 우수한 모습을 보이는데</a:t>
            </a:r>
            <a:r>
              <a:rPr lang="en-US" altLang="ko-KR" dirty="0"/>
              <a:t>, </a:t>
            </a:r>
            <a:r>
              <a:rPr lang="ko-KR" altLang="en-US" dirty="0"/>
              <a:t>이는 </a:t>
            </a:r>
            <a:r>
              <a:rPr lang="en-US" altLang="ko-KR" dirty="0"/>
              <a:t>FAST</a:t>
            </a:r>
            <a:r>
              <a:rPr lang="ko-KR" altLang="en-US" dirty="0"/>
              <a:t>에서 </a:t>
            </a:r>
            <a:r>
              <a:rPr lang="en-US" altLang="ko-KR" dirty="0"/>
              <a:t>Read</a:t>
            </a:r>
            <a:r>
              <a:rPr lang="ko-KR" altLang="en-US" dirty="0"/>
              <a:t>가 아닌</a:t>
            </a:r>
            <a:r>
              <a:rPr lang="ko-KR" altLang="ko-KR" dirty="0"/>
              <a:t> </a:t>
            </a:r>
            <a:r>
              <a:rPr lang="en-US" altLang="ko-KR" dirty="0"/>
              <a:t>5% </a:t>
            </a:r>
            <a:r>
              <a:rPr lang="ko-KR" altLang="ko-KR" dirty="0"/>
              <a:t>요청</a:t>
            </a:r>
            <a:r>
              <a:rPr lang="en-US" altLang="ko-KR" dirty="0"/>
              <a:t> </a:t>
            </a:r>
            <a:r>
              <a:rPr lang="ko-KR" altLang="en-US" dirty="0"/>
              <a:t>처리 시</a:t>
            </a:r>
            <a:r>
              <a:rPr lang="en-US" altLang="ko-KR" dirty="0"/>
              <a:t> Full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와 </a:t>
            </a:r>
            <a:r>
              <a:rPr lang="ko-KR" altLang="en-US" dirty="0" err="1"/>
              <a:t>큐잉</a:t>
            </a:r>
            <a:r>
              <a:rPr lang="ko-KR" altLang="en-US" dirty="0"/>
              <a:t> 지연이 발생하기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FAST</a:t>
            </a:r>
            <a:r>
              <a:rPr lang="ko-KR" altLang="en-US" dirty="0"/>
              <a:t>는 </a:t>
            </a:r>
            <a:r>
              <a:rPr lang="en-US" altLang="ko-KR" dirty="0"/>
              <a:t>5%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요청에서 긴 꼬리 지연이 발생하여</a:t>
            </a:r>
            <a:r>
              <a:rPr lang="en-US" altLang="ko-KR" dirty="0"/>
              <a:t>,</a:t>
            </a:r>
            <a:r>
              <a:rPr lang="ko-KR" altLang="en-US" dirty="0"/>
              <a:t> 결론적으로 </a:t>
            </a:r>
            <a:r>
              <a:rPr lang="ko-KR" altLang="ko-KR" dirty="0"/>
              <a:t>전체 평균 시스템 응답시간은 </a:t>
            </a:r>
            <a:r>
              <a:rPr lang="ko-KR" altLang="ko-KR" dirty="0" err="1"/>
              <a:t>DFTL이</a:t>
            </a:r>
            <a:r>
              <a:rPr lang="ko-KR" altLang="ko-KR" dirty="0"/>
              <a:t> 더</a:t>
            </a:r>
            <a:r>
              <a:rPr lang="en-US" altLang="ko-KR" dirty="0"/>
              <a:t> </a:t>
            </a:r>
            <a:r>
              <a:rPr lang="ko-KR" altLang="en-US" dirty="0"/>
              <a:t>우수합니다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D74F3-2954-988F-E521-8A2BEAC12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47173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6D56-D01A-3957-238F-D7D24738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ABF0DB-2248-9D0B-D6B6-F339CF3BF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5DA161-2EA6-FA1C-E067-9241761BA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Web</a:t>
            </a:r>
            <a:r>
              <a:rPr lang="ko-KR" altLang="ko-KR" dirty="0"/>
              <a:t> </a:t>
            </a:r>
            <a:r>
              <a:rPr lang="ko-KR" altLang="ko-KR" dirty="0" err="1"/>
              <a:t>Search는</a:t>
            </a:r>
            <a:r>
              <a:rPr lang="ko-KR" altLang="ko-KR" dirty="0"/>
              <a:t> 전체 요청의 99%가 </a:t>
            </a:r>
            <a:r>
              <a:rPr lang="ko-KR" altLang="ko-KR" dirty="0" err="1"/>
              <a:t>Read인</a:t>
            </a:r>
            <a:r>
              <a:rPr lang="ko-KR" altLang="ko-KR" dirty="0"/>
              <a:t>, 가장 읽기 중심적인 워크로드입니다.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 경우 쓰기와 </a:t>
            </a:r>
            <a:r>
              <a:rPr lang="ko-KR" altLang="ko-KR" dirty="0" err="1"/>
              <a:t>G</a:t>
            </a:r>
            <a:r>
              <a:rPr lang="en-US" altLang="ko-KR" dirty="0"/>
              <a:t>C</a:t>
            </a:r>
            <a:r>
              <a:rPr lang="ko-KR" altLang="en-US" dirty="0"/>
              <a:t>가</a:t>
            </a:r>
            <a:r>
              <a:rPr lang="ko-KR" altLang="ko-KR" dirty="0"/>
              <a:t> 거의 발생하지 않기 때문에 </a:t>
            </a:r>
            <a:r>
              <a:rPr lang="ko-KR" altLang="ko-KR" dirty="0" err="1"/>
              <a:t>FAST는</a:t>
            </a:r>
            <a:r>
              <a:rPr lang="ko-KR" altLang="ko-KR" dirty="0"/>
              <a:t> 이상적인 </a:t>
            </a:r>
            <a:r>
              <a:rPr lang="ko-KR" altLang="ko-KR" dirty="0" err="1"/>
              <a:t>Baseline과</a:t>
            </a:r>
            <a:r>
              <a:rPr lang="ko-KR" altLang="ko-KR" dirty="0"/>
              <a:t> 거의 동일한 성능을 보입니다.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반면 </a:t>
            </a:r>
            <a:r>
              <a:rPr lang="ko-KR" altLang="ko-KR" dirty="0" err="1"/>
              <a:t>DFTL은</a:t>
            </a:r>
            <a:r>
              <a:rPr lang="ko-KR" altLang="ko-KR" dirty="0"/>
              <a:t> CMT </a:t>
            </a:r>
            <a:r>
              <a:rPr lang="ko-KR" altLang="ko-KR" dirty="0" err="1"/>
              <a:t>miss가</a:t>
            </a:r>
            <a:r>
              <a:rPr lang="ko-KR" altLang="ko-KR" dirty="0"/>
              <a:t> 발생하면 </a:t>
            </a:r>
            <a:r>
              <a:rPr lang="ko-KR" altLang="ko-KR" dirty="0" err="1"/>
              <a:t>Translation</a:t>
            </a:r>
            <a:r>
              <a:rPr lang="ko-KR" altLang="ko-KR" dirty="0"/>
              <a:t> </a:t>
            </a:r>
            <a:r>
              <a:rPr lang="ko-KR" altLang="ko-KR" dirty="0" err="1"/>
              <a:t>Page를</a:t>
            </a:r>
            <a:r>
              <a:rPr lang="ko-KR" altLang="ko-KR" dirty="0"/>
              <a:t> 추가로 읽어야 합니다.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즉, 읽기가 극단적으로 많은 환경에서는 </a:t>
            </a:r>
            <a:r>
              <a:rPr lang="ko-KR" altLang="ko-KR" dirty="0" err="1"/>
              <a:t>DFTL의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ko-KR" altLang="ko-KR" dirty="0"/>
              <a:t> 제거 효과보다 주소 변환 오버헤드의 영향이 더 크게 나타납니다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715D2-0124-5CB2-89B2-0D16BB665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8210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A65D-2D6B-C315-88F8-9E6D5F00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BD963C-064E-18B6-0047-6DD700517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5D3ED-5E36-00D9-0A22-6E38FD78A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네 가지 워크로드의 결과를 종합하면 다음과 같습니다.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쓰기</a:t>
            </a:r>
            <a:r>
              <a:rPr lang="en-US" altLang="ko-KR" dirty="0"/>
              <a:t> </a:t>
            </a:r>
            <a:r>
              <a:rPr lang="ko-KR" altLang="en-US" dirty="0"/>
              <a:t>중심</a:t>
            </a:r>
            <a:r>
              <a:rPr lang="ko-KR" altLang="ko-KR" dirty="0"/>
              <a:t>에서는 </a:t>
            </a:r>
            <a:r>
              <a:rPr lang="ko-KR" altLang="ko-KR" dirty="0" err="1"/>
              <a:t>DFTL이</a:t>
            </a:r>
            <a:r>
              <a:rPr lang="ko-KR" altLang="ko-KR" dirty="0"/>
              <a:t> 이상적인 </a:t>
            </a:r>
            <a:r>
              <a:rPr lang="ko-KR" altLang="ko-KR" dirty="0" err="1"/>
              <a:t>Baseline에</a:t>
            </a:r>
            <a:r>
              <a:rPr lang="ko-KR" altLang="ko-KR" dirty="0"/>
              <a:t> 가까운 성능을 보이며, </a:t>
            </a:r>
            <a:r>
              <a:rPr lang="ko-KR" altLang="ko-KR" dirty="0" err="1"/>
              <a:t>FAST와의</a:t>
            </a:r>
            <a:r>
              <a:rPr lang="ko-KR" altLang="ko-KR" dirty="0"/>
              <a:t> 차이도 매우 크게 나타납니다. 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읽기 중심에서는 </a:t>
            </a:r>
            <a:r>
              <a:rPr lang="en-US" altLang="ko-KR" dirty="0"/>
              <a:t>FAST</a:t>
            </a:r>
            <a:r>
              <a:rPr lang="ko-KR" altLang="en-US" dirty="0"/>
              <a:t>가 더 좋은 성능을 보이기도 하지만</a:t>
            </a:r>
            <a:r>
              <a:rPr lang="en-US" altLang="ko-KR" dirty="0"/>
              <a:t>, </a:t>
            </a:r>
            <a:r>
              <a:rPr lang="ko-KR" altLang="en-US" dirty="0"/>
              <a:t>읽기 요청이 아닌 비율이 </a:t>
            </a:r>
            <a:r>
              <a:rPr lang="en-US" altLang="ko-KR" dirty="0"/>
              <a:t>5%</a:t>
            </a:r>
            <a:r>
              <a:rPr lang="ko-KR" altLang="en-US" dirty="0"/>
              <a:t>만 되어도 지연이 발생하는 모습을 보입니다</a:t>
            </a:r>
            <a:r>
              <a:rPr lang="en-US" altLang="ko-KR" dirty="0"/>
              <a:t>.</a:t>
            </a:r>
          </a:p>
          <a:p>
            <a:endParaRPr lang="ko-KR" altLang="ko-KR" dirty="0"/>
          </a:p>
          <a:p>
            <a:r>
              <a:rPr lang="ko-KR" altLang="ko-KR" dirty="0"/>
              <a:t>따라서 </a:t>
            </a:r>
            <a:r>
              <a:rPr lang="ko-KR" altLang="ko-KR" dirty="0" err="1"/>
              <a:t>DFTL은</a:t>
            </a:r>
            <a:r>
              <a:rPr lang="ko-KR" altLang="ko-KR" dirty="0"/>
              <a:t> 쓰기 중심 워크로드에서 명확하게 우수하며, 읽기 중심 워크로드에서도 전반적으로 </a:t>
            </a:r>
            <a:r>
              <a:rPr lang="ko-KR" altLang="ko-KR" dirty="0" err="1"/>
              <a:t>FAST와</a:t>
            </a:r>
            <a:r>
              <a:rPr lang="ko-KR" altLang="ko-KR" dirty="0"/>
              <a:t> 큰 차이 없이 안정적인 성능을 제공합니다.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1443E9-D199-66F8-AD99-95EAD16AC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98007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1EA80-F350-4E24-B8B9-36E2D9A9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19F51B-28C6-8B16-21D2-5A2E9E2AF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4AD5FB-9375-0C41-54DE-F38FE9124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앞의 실험에서는 각 실제 워크로드가 가진 </a:t>
            </a:r>
            <a:r>
              <a:rPr lang="ko-KR" altLang="en-US" dirty="0"/>
              <a:t>평균 </a:t>
            </a:r>
            <a:r>
              <a:rPr lang="ko-KR" altLang="ko-KR" dirty="0"/>
              <a:t>요청 </a:t>
            </a:r>
            <a:r>
              <a:rPr lang="ko-KR" altLang="en-US" dirty="0"/>
              <a:t>간격</a:t>
            </a:r>
            <a:r>
              <a:rPr lang="ko-KR" altLang="ko-KR" dirty="0"/>
              <a:t> 특성을 그대로 사용했습니다.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이번에는 합성 워크로드</a:t>
            </a:r>
            <a:r>
              <a:rPr lang="ko-KR" altLang="en-US" dirty="0"/>
              <a:t>를 이용하여</a:t>
            </a:r>
            <a:r>
              <a:rPr lang="en-US" altLang="ko-KR" dirty="0"/>
              <a:t>,</a:t>
            </a:r>
            <a:r>
              <a:rPr lang="ko-KR" altLang="ko-KR" dirty="0"/>
              <a:t> 요청 </a:t>
            </a:r>
            <a:r>
              <a:rPr lang="ko-KR" altLang="ko-KR" dirty="0" err="1"/>
              <a:t>도착률을</a:t>
            </a:r>
            <a:r>
              <a:rPr lang="ko-KR" altLang="ko-KR" dirty="0"/>
              <a:t> 단계적으로 증가시켜</a:t>
            </a:r>
            <a:r>
              <a:rPr lang="en-US" altLang="ko-KR" dirty="0"/>
              <a:t> </a:t>
            </a:r>
            <a:r>
              <a:rPr lang="ko-KR" altLang="en-US" dirty="0"/>
              <a:t>플래시가</a:t>
            </a:r>
            <a:r>
              <a:rPr lang="ko-KR" altLang="ko-KR" dirty="0"/>
              <a:t> 정상 부하에서 과부하 상태로 전환되는 과정</a:t>
            </a:r>
            <a:r>
              <a:rPr lang="ko-KR" altLang="en-US" dirty="0"/>
              <a:t>에서의</a:t>
            </a:r>
            <a:r>
              <a:rPr lang="ko-KR" altLang="ko-KR" dirty="0"/>
              <a:t> 성능을 분석합니다.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두 워크로드 모두에서 </a:t>
            </a:r>
            <a:r>
              <a:rPr lang="ko-KR" altLang="ko-KR" dirty="0" err="1"/>
              <a:t>DFTL이</a:t>
            </a:r>
            <a:r>
              <a:rPr lang="ko-KR" altLang="ko-KR" dirty="0"/>
              <a:t> </a:t>
            </a:r>
            <a:r>
              <a:rPr lang="ko-KR" altLang="ko-KR" dirty="0" err="1"/>
              <a:t>FAST보다</a:t>
            </a:r>
            <a:r>
              <a:rPr lang="ko-KR" altLang="ko-KR" dirty="0"/>
              <a:t> 전반적으로 </a:t>
            </a:r>
            <a:r>
              <a:rPr lang="ko-KR" altLang="en-US" dirty="0"/>
              <a:t>우수한 성능을 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</a:t>
            </a:r>
            <a:r>
              <a:rPr lang="ko-KR" altLang="ko-KR" dirty="0"/>
              <a:t>워크로드 </a:t>
            </a:r>
            <a:r>
              <a:rPr lang="ko-KR" altLang="ko-KR" dirty="0" err="1"/>
              <a:t>A에서는</a:t>
            </a:r>
            <a:r>
              <a:rPr lang="en-US" altLang="ko-KR" dirty="0"/>
              <a:t> </a:t>
            </a:r>
            <a:r>
              <a:rPr lang="ko-KR" altLang="en-US" dirty="0"/>
              <a:t>과부하 영역 전환 지점인 </a:t>
            </a:r>
            <a:r>
              <a:rPr lang="en-US" altLang="ko-KR" dirty="0"/>
              <a:t>48 IOPS</a:t>
            </a:r>
            <a:r>
              <a:rPr lang="ko-KR" altLang="en-US" dirty="0"/>
              <a:t> </a:t>
            </a:r>
            <a:r>
              <a:rPr lang="ko-KR" altLang="ko-KR" dirty="0"/>
              <a:t>이후 </a:t>
            </a:r>
            <a:r>
              <a:rPr lang="ko-KR" altLang="ko-KR" dirty="0" err="1"/>
              <a:t>FAST의</a:t>
            </a:r>
            <a:r>
              <a:rPr lang="ko-KR" altLang="ko-KR" dirty="0"/>
              <a:t> 응답 시간이 급격히 증가하지만, </a:t>
            </a:r>
            <a:r>
              <a:rPr lang="ko-KR" altLang="ko-KR" dirty="0" err="1"/>
              <a:t>DFTL은</a:t>
            </a:r>
            <a:r>
              <a:rPr lang="ko-KR" altLang="ko-KR" dirty="0"/>
              <a:t> 비교적 점진적으로 증가합니다.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 </a:t>
            </a:r>
            <a:r>
              <a:rPr lang="ko-KR" altLang="ko-KR" dirty="0" err="1"/>
              <a:t>FAST</a:t>
            </a:r>
            <a:r>
              <a:rPr lang="ko-KR" altLang="en-US" dirty="0" err="1"/>
              <a:t>는</a:t>
            </a:r>
            <a:r>
              <a:rPr lang="ko-KR" altLang="ko-KR" dirty="0"/>
              <a:t> 과부하 상태에서 </a:t>
            </a:r>
            <a:r>
              <a:rPr lang="ko-KR" altLang="en-US" dirty="0"/>
              <a:t>부하를 </a:t>
            </a:r>
            <a:r>
              <a:rPr lang="ko-KR" altLang="ko-KR" dirty="0"/>
              <a:t>지속적으로 감당하기 어</a:t>
            </a:r>
            <a:r>
              <a:rPr lang="ko-KR" altLang="en-US" dirty="0"/>
              <a:t>려운 </a:t>
            </a:r>
            <a:r>
              <a:rPr lang="ko-KR" altLang="ko-KR" dirty="0"/>
              <a:t>반면 </a:t>
            </a:r>
            <a:r>
              <a:rPr lang="ko-KR" altLang="ko-KR" dirty="0" err="1"/>
              <a:t>DFTL은</a:t>
            </a:r>
            <a:r>
              <a:rPr lang="en-US" altLang="ko-KR" dirty="0"/>
              <a:t> </a:t>
            </a:r>
            <a:r>
              <a:rPr lang="ko-KR" altLang="en-US" dirty="0"/>
              <a:t>성능이 점진적으로 저하되고</a:t>
            </a:r>
            <a:r>
              <a:rPr lang="en-US" altLang="ko-KR" dirty="0"/>
              <a:t>,</a:t>
            </a:r>
            <a:r>
              <a:rPr lang="ko-KR" altLang="ko-KR" dirty="0"/>
              <a:t> 이는 엔터프라이즈 시스템에서 중요한 특성입니다.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순차 쓰기가 많은 워크로드 </a:t>
            </a:r>
            <a:r>
              <a:rPr lang="ko-KR" altLang="ko-KR" dirty="0" err="1"/>
              <a:t>B에서</a:t>
            </a:r>
            <a:r>
              <a:rPr lang="en-US" altLang="ko-KR" dirty="0"/>
              <a:t> </a:t>
            </a:r>
            <a:r>
              <a:rPr lang="ko-KR" altLang="ko-KR" dirty="0" err="1"/>
              <a:t>DFTL은</a:t>
            </a:r>
            <a:r>
              <a:rPr lang="ko-KR" altLang="ko-KR" dirty="0"/>
              <a:t> 이상적인 </a:t>
            </a:r>
            <a:r>
              <a:rPr lang="ko-KR" altLang="ko-KR" dirty="0" err="1"/>
              <a:t>Baseline에</a:t>
            </a:r>
            <a:r>
              <a:rPr lang="ko-KR" altLang="ko-KR" dirty="0"/>
              <a:t> </a:t>
            </a:r>
            <a:r>
              <a:rPr lang="ko-KR" altLang="en-US" dirty="0"/>
              <a:t>매우</a:t>
            </a:r>
            <a:r>
              <a:rPr lang="ko-KR" altLang="ko-KR" dirty="0"/>
              <a:t> 가까운 성능을 유지합니다.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C9DB7-2DC6-BFBA-A68F-1303AB6BA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2505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E6B2-0F99-429B-73D7-DC270588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61B5F-D3C2-80FF-0199-0205E99AA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BE975E-B19C-C45B-721A-62E1E82BF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이번 실험은 앞에서 </a:t>
            </a:r>
            <a:r>
              <a:rPr lang="ko-KR" altLang="ko-KR" dirty="0" err="1"/>
              <a:t>FAST가</a:t>
            </a:r>
            <a:r>
              <a:rPr lang="ko-KR" altLang="ko-KR" dirty="0"/>
              <a:t> 과부하 영역에 진입할 때 응답 시간이 급격히 증가한 원인을 세부적으로 분석한 결과입니다.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왼쪽은 FAST, 오른쪽은 </a:t>
            </a:r>
            <a:r>
              <a:rPr lang="ko-KR" altLang="ko-KR" dirty="0" err="1"/>
              <a:t>DFTL이</a:t>
            </a:r>
            <a:r>
              <a:rPr lang="ko-KR" altLang="ko-KR" dirty="0"/>
              <a:t> Financial </a:t>
            </a:r>
            <a:r>
              <a:rPr lang="ko-KR" altLang="ko-KR" dirty="0" err="1"/>
              <a:t>Trace의</a:t>
            </a:r>
            <a:r>
              <a:rPr lang="ko-KR" altLang="ko-KR" dirty="0"/>
              <a:t> 연속된 요청을 처리하는 과정입니다.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FAST에서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요청을 처리하는 도중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발생하면, 유효 페이지 복사와 블록 삭제로 인해 </a:t>
            </a:r>
            <a:r>
              <a:rPr lang="ko-KR" altLang="ko-KR" dirty="0" err="1"/>
              <a:t>A의</a:t>
            </a:r>
            <a:r>
              <a:rPr lang="ko-KR" altLang="ko-KR" dirty="0"/>
              <a:t> 장치 서비스 시간이 크게 증가합니다.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뒤에 도착한 </a:t>
            </a:r>
            <a:r>
              <a:rPr lang="ko-KR" altLang="ko-KR" dirty="0" err="1"/>
              <a:t>B</a:t>
            </a:r>
            <a:r>
              <a:rPr lang="ko-KR" altLang="ko-KR" dirty="0"/>
              <a:t> 요청은 </a:t>
            </a:r>
            <a:r>
              <a:rPr lang="ko-KR" altLang="ko-KR" dirty="0" err="1"/>
              <a:t>I</a:t>
            </a:r>
            <a:r>
              <a:rPr lang="ko-KR" altLang="ko-KR" dirty="0"/>
              <a:t>/</a:t>
            </a:r>
            <a:r>
              <a:rPr lang="ko-KR" altLang="ko-KR" dirty="0" err="1"/>
              <a:t>O</a:t>
            </a:r>
            <a:r>
              <a:rPr lang="ko-KR" altLang="ko-KR" dirty="0"/>
              <a:t> 드라이버 대기열에서</a:t>
            </a:r>
            <a:r>
              <a:rPr lang="en-US" altLang="ko-KR" dirty="0"/>
              <a:t> </a:t>
            </a:r>
            <a:r>
              <a:rPr lang="ko-KR" altLang="en-US" dirty="0"/>
              <a:t>대기하여</a:t>
            </a:r>
            <a:r>
              <a:rPr lang="ko-KR" altLang="ko-KR" dirty="0"/>
              <a:t>, </a:t>
            </a:r>
            <a:r>
              <a:rPr lang="ko-KR" altLang="ko-KR" dirty="0" err="1"/>
              <a:t>B의</a:t>
            </a:r>
            <a:r>
              <a:rPr lang="ko-KR" altLang="ko-KR" dirty="0"/>
              <a:t> </a:t>
            </a:r>
            <a:r>
              <a:rPr lang="ko-KR" altLang="ko-KR" dirty="0" err="1"/>
              <a:t>큐잉</a:t>
            </a:r>
            <a:r>
              <a:rPr lang="ko-KR" altLang="ko-KR" dirty="0"/>
              <a:t> 시간</a:t>
            </a:r>
            <a:r>
              <a:rPr lang="ko-KR" altLang="en-US" dirty="0"/>
              <a:t>과</a:t>
            </a:r>
            <a:r>
              <a:rPr lang="ko-KR" altLang="ko-KR" dirty="0"/>
              <a:t> 전체 응답 시간도 함께 증가합니다. </a:t>
            </a:r>
            <a:endParaRPr lang="en-US" altLang="ko-KR" dirty="0"/>
          </a:p>
          <a:p>
            <a:r>
              <a:rPr lang="ko-KR" altLang="ko-KR" dirty="0" err="1"/>
              <a:t>C와</a:t>
            </a:r>
            <a:r>
              <a:rPr lang="ko-KR" altLang="ko-KR" dirty="0"/>
              <a:t> </a:t>
            </a:r>
            <a:r>
              <a:rPr lang="ko-KR" altLang="ko-KR" dirty="0" err="1"/>
              <a:t>D에서도</a:t>
            </a:r>
            <a:r>
              <a:rPr lang="ko-KR" altLang="ko-KR" dirty="0"/>
              <a:t> 동일한 현상이 반복됩니다.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반면 </a:t>
            </a:r>
            <a:r>
              <a:rPr lang="ko-KR" altLang="ko-KR" dirty="0" err="1"/>
              <a:t>DFTL은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Merge를</a:t>
            </a:r>
            <a:r>
              <a:rPr lang="ko-KR" altLang="ko-KR" dirty="0"/>
              <a:t> 수행하지 않기 때문에 GC 오버헤드와 </a:t>
            </a:r>
            <a:r>
              <a:rPr lang="ko-KR" altLang="ko-KR" dirty="0" err="1"/>
              <a:t>큐잉</a:t>
            </a:r>
            <a:r>
              <a:rPr lang="ko-KR" altLang="ko-KR" dirty="0"/>
              <a:t> 시간이 비교적 일정하게 유지됩니다.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즉, </a:t>
            </a:r>
            <a:r>
              <a:rPr lang="ko-KR" altLang="ko-KR" dirty="0" err="1"/>
              <a:t>FAST의</a:t>
            </a:r>
            <a:r>
              <a:rPr lang="ko-KR" altLang="ko-KR" dirty="0"/>
              <a:t> 급격한 성능 저하는 하나의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Merge가</a:t>
            </a:r>
            <a:r>
              <a:rPr lang="ko-KR" altLang="ko-KR" dirty="0"/>
              <a:t> 이후 요청의 지연까지 연쇄적으로 증가시키</a:t>
            </a:r>
            <a:r>
              <a:rPr lang="ko-KR" altLang="en-US" dirty="0"/>
              <a:t>며</a:t>
            </a:r>
            <a:r>
              <a:rPr lang="ko-KR" altLang="ko-KR" dirty="0"/>
              <a:t> 발생합니다.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5089B-9981-1FF5-278F-2BF49E1B4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0973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8F36-269F-43E5-480D-8A961D798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62237B-6BBB-FA68-4705-784F61D86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855E9D-89B8-A7D6-E1AB-280784365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앞의 모든 실험에서는 </a:t>
            </a:r>
            <a:r>
              <a:rPr lang="ko-KR" altLang="ko-KR" dirty="0" err="1"/>
              <a:t>FAST를</a:t>
            </a:r>
            <a:r>
              <a:rPr lang="ko-KR" altLang="ko-KR" dirty="0"/>
              <a:t> 구현하는 데 필요한 최소 SRAM 크기만</a:t>
            </a:r>
            <a:r>
              <a:rPr lang="ko-KR" altLang="en-US" dirty="0"/>
              <a:t>을</a:t>
            </a:r>
            <a:r>
              <a:rPr lang="ko-KR" altLang="ko-KR" dirty="0"/>
              <a:t> </a:t>
            </a:r>
            <a:r>
              <a:rPr lang="ko-KR" altLang="ko-KR" dirty="0" err="1"/>
              <a:t>DFTL에</a:t>
            </a:r>
            <a:r>
              <a:rPr lang="ko-KR" altLang="ko-KR" dirty="0"/>
              <a:t> 제공했습니다. </a:t>
            </a:r>
            <a:endParaRPr lang="en-US" altLang="ko-KR" dirty="0"/>
          </a:p>
          <a:p>
            <a:r>
              <a:rPr lang="ko-KR" altLang="ko-KR" dirty="0"/>
              <a:t>이번 실험에서는 SRAM 크기를 증가시켰을 때 </a:t>
            </a:r>
            <a:r>
              <a:rPr lang="ko-KR" altLang="ko-KR" dirty="0" err="1"/>
              <a:t>DFTL의</a:t>
            </a:r>
            <a:r>
              <a:rPr lang="ko-KR" altLang="ko-KR" dirty="0"/>
              <a:t> 성능이 어떻게 변화하는지를 확인합니다.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X축은</a:t>
            </a:r>
            <a:r>
              <a:rPr lang="ko-KR" altLang="ko-KR" dirty="0"/>
              <a:t> SRAM 크기이고, 점선은 CMT 적중률, 실선은 </a:t>
            </a:r>
            <a:r>
              <a:rPr lang="ko-KR" altLang="ko-KR" dirty="0" err="1"/>
              <a:t>Baseline</a:t>
            </a:r>
            <a:r>
              <a:rPr lang="ko-KR" altLang="ko-KR" dirty="0"/>
              <a:t> 대비 </a:t>
            </a:r>
            <a:r>
              <a:rPr lang="ko-KR" altLang="ko-KR" dirty="0" err="1"/>
              <a:t>정규화된</a:t>
            </a:r>
            <a:r>
              <a:rPr lang="ko-KR" altLang="ko-KR" dirty="0"/>
              <a:t> 평균 응답 시간입니다.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SRAM이</a:t>
            </a:r>
            <a:r>
              <a:rPr lang="ko-KR" altLang="ko-KR" dirty="0"/>
              <a:t> 증가하면 </a:t>
            </a:r>
            <a:r>
              <a:rPr lang="ko-KR" altLang="ko-KR" dirty="0" err="1"/>
              <a:t>CMT에</a:t>
            </a:r>
            <a:r>
              <a:rPr lang="ko-KR" altLang="ko-KR" dirty="0"/>
              <a:t> 더 많은 </a:t>
            </a:r>
            <a:r>
              <a:rPr lang="ko-KR" altLang="ko-KR" dirty="0" err="1"/>
              <a:t>Mapping</a:t>
            </a:r>
            <a:r>
              <a:rPr lang="ko-KR" altLang="ko-KR" dirty="0"/>
              <a:t> </a:t>
            </a:r>
            <a:r>
              <a:rPr lang="ko-KR" altLang="ko-KR" dirty="0" err="1"/>
              <a:t>Entry를</a:t>
            </a:r>
            <a:r>
              <a:rPr lang="ko-KR" altLang="ko-KR" dirty="0"/>
              <a:t> 저장할 수 있으므로 적중률이 높아집니다.</a:t>
            </a:r>
            <a:endParaRPr lang="en-US" altLang="ko-KR" dirty="0"/>
          </a:p>
          <a:p>
            <a:r>
              <a:rPr lang="ko-KR" altLang="ko-KR" dirty="0"/>
              <a:t>이에 따라 주소 변환 오버헤드가 감소하고, 평균 응답 시간도 </a:t>
            </a:r>
            <a:r>
              <a:rPr lang="ko-KR" altLang="ko-KR" dirty="0" err="1"/>
              <a:t>Baseline에</a:t>
            </a:r>
            <a:r>
              <a:rPr lang="ko-KR" altLang="ko-KR" dirty="0"/>
              <a:t> 가까워집니다.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Financial에서는</a:t>
            </a:r>
            <a:r>
              <a:rPr lang="ko-KR" altLang="ko-KR" dirty="0"/>
              <a:t> 약 1메가바이트, TPC-</a:t>
            </a:r>
            <a:r>
              <a:rPr lang="ko-KR" altLang="ko-KR" dirty="0" err="1"/>
              <a:t>H에서는</a:t>
            </a:r>
            <a:r>
              <a:rPr lang="ko-KR" altLang="ko-KR" dirty="0"/>
              <a:t> 약 4메가바이트에서 적중률과 성능이 거의 포화됩니다.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이는 </a:t>
            </a:r>
            <a:r>
              <a:rPr lang="ko-KR" altLang="ko-KR" dirty="0" err="1"/>
              <a:t>SRAM이</a:t>
            </a:r>
            <a:r>
              <a:rPr lang="ko-KR" altLang="ko-KR" dirty="0"/>
              <a:t> 워크로드의 작업 집합을 충분히 수용한 이후에는, 주소 변환을 위한 </a:t>
            </a:r>
            <a:r>
              <a:rPr lang="ko-KR" altLang="ko-KR" dirty="0" err="1"/>
              <a:t>SRAM을</a:t>
            </a:r>
            <a:r>
              <a:rPr lang="ko-KR" altLang="ko-KR" dirty="0"/>
              <a:t> 더 늘려도 추가적인 성능 향상</a:t>
            </a:r>
            <a:r>
              <a:rPr lang="ko-KR" altLang="en-US" dirty="0"/>
              <a:t>의 이점을 제공하지</a:t>
            </a:r>
            <a:r>
              <a:rPr lang="ko-KR" altLang="ko-KR" dirty="0"/>
              <a:t> 않다는 것을 의미합니다.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50748-863C-8450-2627-E546539B9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171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7E90-E34A-B663-61B1-84D130A0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E4085-2F1C-8BCE-C5E4-2ABE652CA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7E7FDF-5A9E-299C-3A3B-63C2A3E89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지금까지의 실험은 다음과 같은 인과관계로 연결됩니다.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먼저 1에서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</a:t>
            </a:r>
            <a:r>
              <a:rPr lang="ko-KR" altLang="ko-KR" dirty="0"/>
              <a:t> 제거가 </a:t>
            </a:r>
            <a:r>
              <a:rPr lang="en-US" altLang="ko-KR" dirty="0"/>
              <a:t>GC </a:t>
            </a:r>
            <a:r>
              <a:rPr lang="ko-KR" altLang="ko-KR" dirty="0"/>
              <a:t>오버헤드를 감소시키는 것을 확인했습니다.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2에서는 </a:t>
            </a:r>
            <a:r>
              <a:rPr lang="ko-KR" altLang="en-US" dirty="0"/>
              <a:t>오버헤드</a:t>
            </a:r>
            <a:r>
              <a:rPr lang="ko-KR" altLang="ko-KR" dirty="0"/>
              <a:t> 감소가 실제 응답 시간 개선으로 이어</a:t>
            </a:r>
            <a:r>
              <a:rPr lang="ko-KR" altLang="en-US" dirty="0"/>
              <a:t>지는지를</a:t>
            </a:r>
            <a:r>
              <a:rPr lang="ko-KR" altLang="ko-KR" dirty="0"/>
              <a:t> </a:t>
            </a:r>
            <a:r>
              <a:rPr lang="ko-KR" altLang="en-US" dirty="0"/>
              <a:t>여러 워크로드 테스트를 통해 </a:t>
            </a:r>
            <a:r>
              <a:rPr lang="ko-KR" altLang="ko-KR" dirty="0"/>
              <a:t>확인했습니다.</a:t>
            </a:r>
          </a:p>
          <a:p>
            <a:endParaRPr lang="en-US" altLang="ko-KR" dirty="0"/>
          </a:p>
          <a:p>
            <a:r>
              <a:rPr lang="ko-KR" altLang="ko-KR" dirty="0"/>
              <a:t>3</a:t>
            </a:r>
            <a:r>
              <a:rPr lang="ko-KR" altLang="en-US" dirty="0"/>
              <a:t>에</a:t>
            </a:r>
            <a:r>
              <a:rPr lang="ko-KR" altLang="ko-KR" dirty="0"/>
              <a:t>서는 </a:t>
            </a:r>
            <a:r>
              <a:rPr lang="ko-KR" altLang="en-US" dirty="0"/>
              <a:t>요청 강도가 변화하는 합성 워크로드도 테스트하여 </a:t>
            </a:r>
            <a:r>
              <a:rPr lang="en-US" altLang="ko-KR" dirty="0"/>
              <a:t>Flash</a:t>
            </a:r>
            <a:r>
              <a:rPr lang="ko-KR" altLang="en-US" dirty="0"/>
              <a:t>의 과부하 영역 진입 시의 성능을 확인하였고</a:t>
            </a:r>
            <a:r>
              <a:rPr lang="en-US" altLang="ko-KR" dirty="0"/>
              <a:t>,</a:t>
            </a:r>
          </a:p>
          <a:p>
            <a:br>
              <a:rPr lang="en-US" altLang="ko-KR" dirty="0"/>
            </a:br>
            <a:r>
              <a:rPr lang="en-US" altLang="ko-KR" dirty="0"/>
              <a:t>FAST</a:t>
            </a:r>
            <a:r>
              <a:rPr lang="ko-KR" altLang="en-US" dirty="0"/>
              <a:t>의 경우 과부하 영역에서 급격히 응답시간이 증가하는 이유를 실험 </a:t>
            </a:r>
            <a:r>
              <a:rPr lang="en-US" altLang="ko-KR" dirty="0"/>
              <a:t>4</a:t>
            </a:r>
            <a:r>
              <a:rPr lang="ko-KR" altLang="en-US" dirty="0"/>
              <a:t>에서 확인하였습니다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ko-KR" dirty="0"/>
              <a:t>마지막으로 5에서는 </a:t>
            </a:r>
            <a:r>
              <a:rPr lang="en-US" altLang="ko-KR" dirty="0"/>
              <a:t>SRAM </a:t>
            </a:r>
            <a:r>
              <a:rPr lang="ko-KR" altLang="en-US" dirty="0"/>
              <a:t>크기 증가에 따른 </a:t>
            </a:r>
            <a:r>
              <a:rPr lang="en-US" altLang="ko-KR" dirty="0"/>
              <a:t>DFTL</a:t>
            </a:r>
            <a:r>
              <a:rPr lang="ko-KR" altLang="en-US" dirty="0"/>
              <a:t>의 성능을 확인하였습니다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ko-KR" dirty="0"/>
              <a:t>종합하면, </a:t>
            </a:r>
            <a:r>
              <a:rPr lang="ko-KR" altLang="ko-KR" dirty="0" err="1"/>
              <a:t>DFTL은</a:t>
            </a:r>
            <a:r>
              <a:rPr lang="ko-KR" altLang="ko-KR" dirty="0"/>
              <a:t>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Merge를</a:t>
            </a:r>
            <a:r>
              <a:rPr lang="ko-KR" altLang="ko-KR" dirty="0"/>
              <a:t> 제거</a:t>
            </a:r>
            <a:r>
              <a:rPr lang="ko-KR" altLang="en-US" dirty="0"/>
              <a:t>하여 </a:t>
            </a:r>
            <a:r>
              <a:rPr lang="en-US" altLang="ko-KR" dirty="0"/>
              <a:t>Overhead</a:t>
            </a:r>
            <a:r>
              <a:rPr lang="ko-KR" altLang="en-US" dirty="0"/>
              <a:t>를 감소</a:t>
            </a:r>
            <a:r>
              <a:rPr lang="en-US" altLang="ko-KR" dirty="0"/>
              <a:t>, </a:t>
            </a:r>
            <a:r>
              <a:rPr lang="ko-KR" altLang="ko-KR" dirty="0"/>
              <a:t>다양한 워크로드와 과부하 환경에서도 </a:t>
            </a:r>
            <a:r>
              <a:rPr lang="ko-KR" altLang="ko-KR" dirty="0" err="1"/>
              <a:t>FAST보다</a:t>
            </a:r>
            <a:r>
              <a:rPr lang="ko-KR" altLang="ko-KR" dirty="0"/>
              <a:t> 낮고 안정적인 응답시간을 제공함을 확인했습니다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5BAD3-2B18-DDC1-9E51-646E9C777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57470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결론적으로 </a:t>
            </a:r>
            <a:r>
              <a:rPr lang="ko-KR" altLang="ko-KR" dirty="0" err="1"/>
              <a:t>DFTL은</a:t>
            </a:r>
            <a:r>
              <a:rPr lang="ko-KR" altLang="ko-KR" dirty="0"/>
              <a:t> 랜덤 쓰기 비중이 높은 엔터프라이즈 워크로드에서 기존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FTL의</a:t>
            </a:r>
            <a:r>
              <a:rPr lang="ko-KR" altLang="ko-KR" dirty="0"/>
              <a:t> 성능 저하를 해결하기 위해 제안되었습니다.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기존 방식은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Merge로</a:t>
            </a:r>
            <a:r>
              <a:rPr lang="ko-KR" altLang="ko-KR" dirty="0"/>
              <a:t> 인해 높은 GC 오버헤드와 긴 응답시간이 발생했지만, </a:t>
            </a:r>
            <a:r>
              <a:rPr lang="ko-KR" altLang="ko-KR" dirty="0" err="1"/>
              <a:t>DFTL은</a:t>
            </a:r>
            <a:r>
              <a:rPr lang="ko-KR" altLang="ko-KR" dirty="0"/>
              <a:t> 수요 기반 페이지 매핑을 통해 이러한 구조적 한계를 줄였습니다. 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dirty="0" err="1"/>
              <a:t>FlashSim과</a:t>
            </a:r>
            <a:r>
              <a:rPr lang="ko-KR" altLang="ko-KR" dirty="0"/>
              <a:t> 실제 워크로드 기반 실험 결과, </a:t>
            </a:r>
            <a:r>
              <a:rPr lang="ko-KR" altLang="ko-KR" dirty="0" err="1"/>
              <a:t>DFTL은</a:t>
            </a:r>
            <a:r>
              <a:rPr lang="ko-KR" altLang="ko-KR" dirty="0"/>
              <a:t> 전반적인 성능과 과부하 대응 능력을 향상시키고, GC 오버헤드를 감소시</a:t>
            </a:r>
            <a:r>
              <a:rPr lang="ko-KR" altLang="en-US" dirty="0"/>
              <a:t>키며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엔터프라이즈 환경에 안정적으로 적용할 수 있음을 확인했습니다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C0143-43CC-3944-A7FC-88D983593444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7893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AD9F9A-1F96-EE43-AD77-3DF017354DB2}"/>
              </a:ext>
            </a:extLst>
          </p:cNvPr>
          <p:cNvSpPr/>
          <p:nvPr userDrawn="1"/>
        </p:nvSpPr>
        <p:spPr>
          <a:xfrm>
            <a:off x="0" y="1800000"/>
            <a:ext cx="12192000" cy="3240000"/>
          </a:xfrm>
          <a:prstGeom prst="rect">
            <a:avLst/>
          </a:prstGeom>
          <a:solidFill>
            <a:srgbClr val="0B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15D765-0DA1-A843-9082-DA8224C3B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506" y="2332870"/>
            <a:ext cx="10416988" cy="1340054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CF8BA7-6440-2A42-8984-D87A1956B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9948" y="5226334"/>
            <a:ext cx="5938687" cy="973084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ysClr val="windowText" lastClr="000000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30EEEFA-EA63-98ED-A7AC-9ABC1E469A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292" y="4199102"/>
            <a:ext cx="7631684" cy="39371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6488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0593AA0-A239-BC96-4C2B-A24A29BA54B4}"/>
              </a:ext>
            </a:extLst>
          </p:cNvPr>
          <p:cNvSpPr/>
          <p:nvPr userDrawn="1"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0B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A429C-A560-6BFB-59B3-817B002742CA}"/>
              </a:ext>
            </a:extLst>
          </p:cNvPr>
          <p:cNvSpPr txBox="1"/>
          <p:nvPr userDrawn="1"/>
        </p:nvSpPr>
        <p:spPr>
          <a:xfrm>
            <a:off x="618216" y="1237488"/>
            <a:ext cx="2363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  <a:endParaRPr lang="ko-KR" altLang="en-US" sz="4000" b="1" dirty="0">
              <a:solidFill>
                <a:schemeClr val="bg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06CB7FC-E3FF-3628-2342-A66CD4B82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6928" y="549000"/>
            <a:ext cx="6480000" cy="5760000"/>
          </a:xfrm>
        </p:spPr>
        <p:txBody>
          <a:bodyPr/>
          <a:lstStyle>
            <a:lvl1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  <a:defRPr sz="28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9144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  <a:defRPr sz="220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marL="1371600" indent="-457200">
              <a:lnSpc>
                <a:spcPct val="120000"/>
              </a:lnSpc>
              <a:spcBef>
                <a:spcPts val="600"/>
              </a:spcBef>
              <a:buFont typeface="+mj-lt"/>
              <a:buAutoNum type="alphaLcPeriod"/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buFont typeface="+mj-lt"/>
              <a:buAutoNum type="alphaLcPeriod"/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marL="2171700" indent="-342900">
              <a:lnSpc>
                <a:spcPct val="120000"/>
              </a:lnSpc>
              <a:spcBef>
                <a:spcPts val="600"/>
              </a:spcBef>
              <a:buFont typeface="+mj-lt"/>
              <a:buAutoNum type="alphaLcPeriod"/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27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D0A98-9713-1546-85B2-980BBD97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8876963" cy="831299"/>
          </a:xfrm>
        </p:spPr>
        <p:txBody>
          <a:bodyPr anchor="ctr">
            <a:normAutofit/>
          </a:bodyPr>
          <a:lstStyle>
            <a:lvl1pPr>
              <a:defRPr sz="4000" b="1">
                <a:solidFill>
                  <a:srgbClr val="0B2D86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E417EA-B8EE-7143-BA3E-5D414D8A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504328"/>
            <a:ext cx="2743200" cy="295861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3B07E9C-B188-D646-AA46-64DB2324B3BF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DA7A330-B061-A746-BC91-4E9EA3E4F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18" y="1335339"/>
            <a:ext cx="11565423" cy="5065461"/>
          </a:xfrm>
        </p:spPr>
        <p:txBody>
          <a:bodyPr/>
          <a:lstStyle>
            <a:lvl1pPr marL="457200" indent="-4572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120000"/>
              </a:lnSpc>
              <a:spcBef>
                <a:spcPts val="600"/>
              </a:spcBef>
              <a:buFontTx/>
              <a:buChar char="-"/>
              <a:defRPr sz="220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200517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AD9F9A-1F96-EE43-AD77-3DF017354DB2}"/>
              </a:ext>
            </a:extLst>
          </p:cNvPr>
          <p:cNvSpPr/>
          <p:nvPr userDrawn="1"/>
        </p:nvSpPr>
        <p:spPr>
          <a:xfrm>
            <a:off x="0" y="1800000"/>
            <a:ext cx="12192000" cy="3240000"/>
          </a:xfrm>
          <a:prstGeom prst="rect">
            <a:avLst/>
          </a:prstGeom>
          <a:solidFill>
            <a:srgbClr val="0B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15D765-0DA1-A843-9082-DA8224C3B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506" y="2749973"/>
            <a:ext cx="10416988" cy="1340054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69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AB072-4FBE-564A-8853-71D540F7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E07ED-FD7C-354D-96D8-4A969F641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0B2EE-E8B5-2849-94D5-6BC97BB91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1061E-6307-C445-AA37-12801B0B4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AC0DC-1CAD-A841-BD24-64B821F95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7E9C-B188-D646-AA46-64DB2324B3BF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Picture 2" descr="https://www.dankook.ac.kr/html_repositories/images/www/kor_content/est_ui_int04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" y="6564648"/>
            <a:ext cx="2148840" cy="2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6488466"/>
            <a:ext cx="2948940" cy="3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6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4" r:id="rId3"/>
    <p:sldLayoutId id="214748366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B153D-E116-59DF-0049-1D61A8A0E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ko-KR" sz="2400" dirty="0"/>
              <a:t>DFTL: </a:t>
            </a:r>
            <a:r>
              <a:rPr lang="ko-KR" altLang="ko-KR" sz="2400" dirty="0" err="1"/>
              <a:t>A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Flash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Translation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Layer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Employing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Demand-based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Selective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Caching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Page-level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Address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Mappings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E838AA-E604-726A-B34B-CE83ABD33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2026. 07. 28</a:t>
            </a:r>
          </a:p>
          <a:p>
            <a:r>
              <a:rPr lang="en-US" altLang="ko-KR" dirty="0"/>
              <a:t>Presentation</a:t>
            </a:r>
            <a:r>
              <a:rPr lang="ko-KR" altLang="en-US" dirty="0"/>
              <a:t> </a:t>
            </a:r>
            <a:r>
              <a:rPr lang="en-US" altLang="ko-KR" dirty="0"/>
              <a:t>by</a:t>
            </a:r>
            <a:r>
              <a:rPr lang="ko-KR" altLang="en-US" dirty="0"/>
              <a:t> </a:t>
            </a:r>
            <a:r>
              <a:rPr lang="en-US" altLang="ko-KR" dirty="0"/>
              <a:t>Jung In, </a:t>
            </a:r>
            <a:r>
              <a:rPr lang="en-US" altLang="ko-KR" dirty="0" err="1"/>
              <a:t>Minsu</a:t>
            </a:r>
            <a:r>
              <a:rPr lang="en-US" altLang="ko-KR" dirty="0"/>
              <a:t> Kim</a:t>
            </a:r>
          </a:p>
          <a:p>
            <a:r>
              <a:rPr lang="en-US" altLang="ko-KR" dirty="0"/>
              <a:t>wjddls0318@dankook.ac.kr, minsk0515@dankook.ac.kr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7A4BFD-C0F4-668B-311B-88227C4445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ko-KR" dirty="0" err="1"/>
              <a:t>Aayush</a:t>
            </a:r>
            <a:r>
              <a:rPr lang="ko-KR" altLang="ko-KR" dirty="0"/>
              <a:t> </a:t>
            </a:r>
            <a:r>
              <a:rPr lang="ko-KR" altLang="ko-KR" dirty="0" err="1"/>
              <a:t>Gupta</a:t>
            </a:r>
            <a:r>
              <a:rPr lang="en-US" altLang="ko-KR" dirty="0"/>
              <a:t>,</a:t>
            </a:r>
            <a:r>
              <a:rPr lang="ko-KR" altLang="ko-KR" dirty="0"/>
              <a:t> </a:t>
            </a:r>
            <a:r>
              <a:rPr lang="ko-KR" altLang="ko-KR" dirty="0" err="1"/>
              <a:t>Youngjae</a:t>
            </a:r>
            <a:r>
              <a:rPr lang="ko-KR" altLang="ko-KR" dirty="0"/>
              <a:t> </a:t>
            </a:r>
            <a:r>
              <a:rPr lang="ko-KR" altLang="ko-KR" dirty="0" err="1"/>
              <a:t>Kim</a:t>
            </a:r>
            <a:r>
              <a:rPr lang="en-US" altLang="ko-KR" dirty="0"/>
              <a:t>,</a:t>
            </a:r>
            <a:r>
              <a:rPr lang="ko-KR" altLang="ko-KR" dirty="0"/>
              <a:t> </a:t>
            </a:r>
            <a:r>
              <a:rPr lang="ko-KR" altLang="ko-KR" dirty="0" err="1"/>
              <a:t>Bhuvan</a:t>
            </a:r>
            <a:r>
              <a:rPr lang="ko-KR" altLang="ko-KR" dirty="0"/>
              <a:t> </a:t>
            </a:r>
            <a:r>
              <a:rPr lang="ko-KR" altLang="ko-KR" dirty="0" err="1"/>
              <a:t>Urgaonkar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710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641D306-AA88-53F7-7D7A-5DBDE8B4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6022" y="1118777"/>
            <a:ext cx="7552966" cy="45100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2500" dirty="0"/>
              <a:t>Problem Background</a:t>
            </a:r>
          </a:p>
          <a:p>
            <a:pPr>
              <a:lnSpc>
                <a:spcPct val="160000"/>
              </a:lnSpc>
            </a:pPr>
            <a:r>
              <a:rPr lang="en-US" altLang="ko-KR" sz="2500" dirty="0"/>
              <a:t>Core Idea of DFTL</a:t>
            </a:r>
          </a:p>
          <a:p>
            <a:pPr>
              <a:lnSpc>
                <a:spcPct val="160000"/>
              </a:lnSpc>
            </a:pPr>
            <a:r>
              <a:rPr lang="en-US" altLang="ko-KR" sz="2500" dirty="0"/>
              <a:t>DFTL Architecture</a:t>
            </a:r>
          </a:p>
          <a:p>
            <a:pPr>
              <a:lnSpc>
                <a:spcPct val="160000"/>
              </a:lnSpc>
            </a:pPr>
            <a:r>
              <a:rPr lang="en-US" altLang="ko-KR" sz="2500" dirty="0"/>
              <a:t>DFTL Principles: Address Translation Process</a:t>
            </a:r>
          </a:p>
          <a:p>
            <a:pPr>
              <a:lnSpc>
                <a:spcPct val="160000"/>
              </a:lnSpc>
            </a:pPr>
            <a:r>
              <a:rPr lang="en-US" altLang="ko-KR" sz="2500" dirty="0"/>
              <a:t>Experiment Results</a:t>
            </a:r>
          </a:p>
          <a:p>
            <a:pPr>
              <a:lnSpc>
                <a:spcPct val="160000"/>
              </a:lnSpc>
            </a:pPr>
            <a:r>
              <a:rPr lang="en-US" altLang="ko-KR" sz="25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0340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4780F15F-B130-D752-81E5-4F24E48D2549}"/>
              </a:ext>
            </a:extLst>
          </p:cNvPr>
          <p:cNvSpPr/>
          <p:nvPr/>
        </p:nvSpPr>
        <p:spPr>
          <a:xfrm>
            <a:off x="8931117" y="1910777"/>
            <a:ext cx="231944" cy="718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DD5E09-004E-882A-C37A-53F017CE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Problem Background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4F0EBD2-9B7A-38F6-A071-45C33ABF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3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79D1D-F19B-3E16-45D8-D7E7E189FB29}"/>
              </a:ext>
            </a:extLst>
          </p:cNvPr>
          <p:cNvSpPr txBox="1"/>
          <p:nvPr/>
        </p:nvSpPr>
        <p:spPr>
          <a:xfrm>
            <a:off x="1123140" y="1435223"/>
            <a:ext cx="46117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 Flash</a:t>
            </a:r>
            <a:r>
              <a:rPr lang="ko-KR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</a:t>
            </a:r>
            <a:r>
              <a:rPr lang="en-US" altLang="ko-KR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Out-of-place Update</a:t>
            </a:r>
            <a:endParaRPr lang="ko-KR" altLang="en-US" sz="2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62838-5F52-CCE7-6070-D66FDB2981EC}"/>
              </a:ext>
            </a:extLst>
          </p:cNvPr>
          <p:cNvSpPr txBox="1"/>
          <p:nvPr/>
        </p:nvSpPr>
        <p:spPr>
          <a:xfrm>
            <a:off x="8752265" y="986793"/>
            <a:ext cx="70807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FTL</a:t>
            </a:r>
            <a:endParaRPr lang="ko-KR" altLang="en-US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F45DEA-2AD8-4860-E1EC-B663BD521E77}"/>
              </a:ext>
            </a:extLst>
          </p:cNvPr>
          <p:cNvSpPr/>
          <p:nvPr/>
        </p:nvSpPr>
        <p:spPr>
          <a:xfrm>
            <a:off x="433383" y="2939879"/>
            <a:ext cx="873045" cy="9052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Valid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AB9077-BF97-0114-4D58-F3C97B589A1A}"/>
              </a:ext>
            </a:extLst>
          </p:cNvPr>
          <p:cNvSpPr/>
          <p:nvPr/>
        </p:nvSpPr>
        <p:spPr>
          <a:xfrm>
            <a:off x="1306428" y="2939879"/>
            <a:ext cx="873045" cy="9052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Erased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2942BB-7D6D-D718-772B-7261BC6F96CE}"/>
              </a:ext>
            </a:extLst>
          </p:cNvPr>
          <p:cNvSpPr/>
          <p:nvPr/>
        </p:nvSpPr>
        <p:spPr>
          <a:xfrm>
            <a:off x="2179473" y="2939879"/>
            <a:ext cx="873045" cy="9052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Erased</a:t>
            </a: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6E687946-9E53-352E-80C1-B7B0D7BEE5F4}"/>
              </a:ext>
            </a:extLst>
          </p:cNvPr>
          <p:cNvSpPr/>
          <p:nvPr/>
        </p:nvSpPr>
        <p:spPr>
          <a:xfrm>
            <a:off x="722865" y="2108189"/>
            <a:ext cx="294079" cy="7478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14EEE4-15DB-007F-A31D-9D8FA312EF11}"/>
              </a:ext>
            </a:extLst>
          </p:cNvPr>
          <p:cNvSpPr/>
          <p:nvPr/>
        </p:nvSpPr>
        <p:spPr>
          <a:xfrm>
            <a:off x="3107659" y="4285458"/>
            <a:ext cx="873045" cy="90521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Invalid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6F50BA-4F06-F329-CC21-46D8F96BA343}"/>
              </a:ext>
            </a:extLst>
          </p:cNvPr>
          <p:cNvSpPr/>
          <p:nvPr/>
        </p:nvSpPr>
        <p:spPr>
          <a:xfrm>
            <a:off x="3980704" y="4285458"/>
            <a:ext cx="873045" cy="9052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Valid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5000D7-AF38-8665-BBE3-960EAA4B26CF}"/>
              </a:ext>
            </a:extLst>
          </p:cNvPr>
          <p:cNvSpPr/>
          <p:nvPr/>
        </p:nvSpPr>
        <p:spPr>
          <a:xfrm>
            <a:off x="4853749" y="4285458"/>
            <a:ext cx="873045" cy="9052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Erased</a:t>
            </a:r>
            <a:endParaRPr lang="en-US" altLang="ko-KR" dirty="0"/>
          </a:p>
        </p:txBody>
      </p:sp>
      <p:sp>
        <p:nvSpPr>
          <p:cNvPr id="22" name="곱하기 기호 21">
            <a:extLst>
              <a:ext uri="{FF2B5EF4-FFF2-40B4-BE49-F238E27FC236}">
                <a16:creationId xmlns:a16="http://schemas.microsoft.com/office/drawing/2014/main" id="{4F7B5F74-613B-B34B-0518-A5D696B0F3E9}"/>
              </a:ext>
            </a:extLst>
          </p:cNvPr>
          <p:cNvSpPr>
            <a:spLocks noChangeAspect="1"/>
          </p:cNvSpPr>
          <p:nvPr/>
        </p:nvSpPr>
        <p:spPr>
          <a:xfrm>
            <a:off x="526738" y="2053878"/>
            <a:ext cx="686332" cy="751152"/>
          </a:xfrm>
          <a:prstGeom prst="mathMultiply">
            <a:avLst>
              <a:gd name="adj1" fmla="val 14631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294832-21D4-3FEF-9965-A4E0B56891A7}"/>
              </a:ext>
            </a:extLst>
          </p:cNvPr>
          <p:cNvSpPr txBox="1"/>
          <p:nvPr/>
        </p:nvSpPr>
        <p:spPr>
          <a:xfrm>
            <a:off x="795486" y="5592329"/>
            <a:ext cx="5014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Flash </a:t>
            </a:r>
            <a:r>
              <a:rPr lang="ko-KR" altLang="en-US" sz="1400" b="1" dirty="0"/>
              <a:t>장치의 </a:t>
            </a:r>
            <a:r>
              <a:rPr lang="en-US" altLang="ko-KR" sz="1400" b="1" dirty="0"/>
              <a:t>Write</a:t>
            </a:r>
            <a:r>
              <a:rPr lang="ko-KR" altLang="en-US" sz="1400" b="1" dirty="0"/>
              <a:t>는 </a:t>
            </a:r>
            <a:r>
              <a:rPr lang="en-US" altLang="ko-KR" sz="1400" b="1" dirty="0"/>
              <a:t>Erased </a:t>
            </a:r>
            <a:r>
              <a:rPr lang="ko-KR" altLang="en-US" sz="1400" b="1" dirty="0"/>
              <a:t>상태의 </a:t>
            </a:r>
            <a:r>
              <a:rPr lang="en-US" altLang="ko-KR" sz="1400" b="1" dirty="0"/>
              <a:t>Page</a:t>
            </a:r>
            <a:r>
              <a:rPr lang="ko-KR" altLang="en-US" sz="1400" b="1" dirty="0"/>
              <a:t>에서만 수행 가능</a:t>
            </a:r>
            <a:endParaRPr lang="en-US" altLang="ko-KR" sz="1400" b="1" dirty="0"/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89E9861F-C6AC-2DBF-BE7B-4171B6F2B5E5}"/>
              </a:ext>
            </a:extLst>
          </p:cNvPr>
          <p:cNvSpPr/>
          <p:nvPr/>
        </p:nvSpPr>
        <p:spPr>
          <a:xfrm>
            <a:off x="4270185" y="3531115"/>
            <a:ext cx="294079" cy="6754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556F8A-B4C5-C0DB-E17F-362B382CED8E}"/>
              </a:ext>
            </a:extLst>
          </p:cNvPr>
          <p:cNvSpPr txBox="1"/>
          <p:nvPr/>
        </p:nvSpPr>
        <p:spPr>
          <a:xfrm>
            <a:off x="6948597" y="3131110"/>
            <a:ext cx="4196983" cy="102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/>
              <a:t>Host의 논리 주소를 </a:t>
            </a:r>
            <a:r>
              <a:rPr lang="ko-KR" altLang="ko-KR" sz="1400" b="1" dirty="0" err="1"/>
              <a:t>Flash의</a:t>
            </a:r>
            <a:r>
              <a:rPr lang="ko-KR" altLang="ko-KR" sz="1400" b="1" dirty="0"/>
              <a:t> 물리 주소로 변환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 err="1"/>
              <a:t>Out</a:t>
            </a:r>
            <a:r>
              <a:rPr lang="ko-KR" altLang="ko-KR" sz="1400" b="1" dirty="0"/>
              <a:t>-of-</a:t>
            </a:r>
            <a:r>
              <a:rPr lang="ko-KR" altLang="ko-KR" sz="1400" b="1" dirty="0" err="1"/>
              <a:t>place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update</a:t>
            </a:r>
            <a:r>
              <a:rPr lang="ko-KR" altLang="ko-KR" sz="1400" b="1" dirty="0"/>
              <a:t> 관</a:t>
            </a:r>
            <a:r>
              <a:rPr lang="ko-KR" altLang="en-US" sz="1400" b="1" dirty="0"/>
              <a:t>리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 err="1"/>
              <a:t>Garbage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Collection</a:t>
            </a:r>
            <a:r>
              <a:rPr lang="ko-KR" altLang="ko-KR" sz="1400" b="1" dirty="0"/>
              <a:t> 수행</a:t>
            </a:r>
            <a:endParaRPr lang="en-US" altLang="ko-KR" sz="1400" b="1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EAB51E2-EC97-6523-33D8-2DF799F65E6D}"/>
              </a:ext>
            </a:extLst>
          </p:cNvPr>
          <p:cNvSpPr/>
          <p:nvPr/>
        </p:nvSpPr>
        <p:spPr>
          <a:xfrm>
            <a:off x="7719461" y="1550931"/>
            <a:ext cx="2628326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/>
              <a:t>Host (File System, etc.)</a:t>
            </a:r>
            <a:endParaRPr lang="ko-KR" altLang="en-US" sz="1500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5C9600B-B570-7851-8092-B3855EA5E22D}"/>
              </a:ext>
            </a:extLst>
          </p:cNvPr>
          <p:cNvSpPr/>
          <p:nvPr/>
        </p:nvSpPr>
        <p:spPr>
          <a:xfrm>
            <a:off x="7719461" y="2115831"/>
            <a:ext cx="2628326" cy="30777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FTL </a:t>
            </a:r>
            <a:r>
              <a:rPr lang="en-US" altLang="ko-KR" sz="1300" dirty="0"/>
              <a:t>LPN -&gt; PPN</a:t>
            </a:r>
            <a:endParaRPr lang="ko-KR" altLang="en-US" sz="13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608A0B-E1D4-BE61-84F7-283763CCB10C}"/>
              </a:ext>
            </a:extLst>
          </p:cNvPr>
          <p:cNvSpPr/>
          <p:nvPr/>
        </p:nvSpPr>
        <p:spPr>
          <a:xfrm>
            <a:off x="7719461" y="2680589"/>
            <a:ext cx="2628326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/>
              <a:t>Flash Memory</a:t>
            </a:r>
            <a:endParaRPr lang="ko-KR" altLang="en-US" sz="15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D28BD29-B242-46DF-FBAC-1F1B36683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684424"/>
              </p:ext>
            </p:extLst>
          </p:nvPr>
        </p:nvGraphicFramePr>
        <p:xfrm>
          <a:off x="6568804" y="4530443"/>
          <a:ext cx="5188154" cy="1388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49">
                  <a:extLst>
                    <a:ext uri="{9D8B030D-6E8A-4147-A177-3AD203B41FA5}">
                      <a16:colId xmlns:a16="http://schemas.microsoft.com/office/drawing/2014/main" val="388194141"/>
                    </a:ext>
                  </a:extLst>
                </a:gridCol>
                <a:gridCol w="3405405">
                  <a:extLst>
                    <a:ext uri="{9D8B030D-6E8A-4147-A177-3AD203B41FA5}">
                      <a16:colId xmlns:a16="http://schemas.microsoft.com/office/drawing/2014/main" val="1315809370"/>
                    </a:ext>
                  </a:extLst>
                </a:gridCol>
              </a:tblGrid>
              <a:tr h="34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Mapping</a:t>
                      </a:r>
                      <a:r>
                        <a:rPr lang="ko-KR" altLang="en-US" sz="1300" b="1" dirty="0"/>
                        <a:t> </a:t>
                      </a:r>
                      <a:r>
                        <a:rPr lang="en-US" altLang="ko-KR" sz="1300" b="1" dirty="0"/>
                        <a:t>Type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특징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59289"/>
                  </a:ext>
                </a:extLst>
              </a:tr>
              <a:tr h="34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Page</a:t>
                      </a:r>
                      <a:r>
                        <a:rPr lang="ko-KR" altLang="en-US" sz="1300" b="1" dirty="0"/>
                        <a:t> 수준 </a:t>
                      </a:r>
                      <a:r>
                        <a:rPr lang="en-US" altLang="ko-KR" sz="1300" b="1" dirty="0"/>
                        <a:t>Mapping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SRAM </a:t>
                      </a:r>
                      <a:r>
                        <a:rPr lang="ko-KR" altLang="en-US" sz="1300" b="1" dirty="0"/>
                        <a:t>필요 용량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39689"/>
                  </a:ext>
                </a:extLst>
              </a:tr>
              <a:tr h="34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Block </a:t>
                      </a:r>
                      <a:r>
                        <a:rPr lang="ko-KR" altLang="en-US" sz="1300" b="1" dirty="0"/>
                        <a:t>수준 </a:t>
                      </a:r>
                      <a:r>
                        <a:rPr lang="en-US" altLang="ko-KR" sz="1300" b="1" dirty="0"/>
                        <a:t>Mapping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내부 단편화</a:t>
                      </a:r>
                      <a:r>
                        <a:rPr lang="en-US" altLang="ko-KR" sz="1300" b="1" dirty="0"/>
                        <a:t>, GC Overhead </a:t>
                      </a:r>
                      <a:r>
                        <a:rPr lang="ko-KR" altLang="en-US" sz="1300" b="1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901136"/>
                  </a:ext>
                </a:extLst>
              </a:tr>
              <a:tr h="34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7030A0"/>
                          </a:solidFill>
                        </a:rPr>
                        <a:t>Hybrid Mapping</a:t>
                      </a:r>
                      <a:endParaRPr lang="ko-KR" altLang="en-US" sz="13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7030A0"/>
                          </a:solidFill>
                        </a:rPr>
                        <a:t>Data Block(Block) + Update Block(Page)</a:t>
                      </a:r>
                      <a:endParaRPr lang="ko-KR" altLang="en-US" sz="13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2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95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613D-3FE2-0FD6-9FF1-E045F75A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5A34A-5583-DD4D-09C2-A91E3FFC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Problem Background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0F93BE-9702-2A7E-B3EC-353EFAC4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4</a:t>
            </a:fld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CC931-E946-5170-232E-4B985E0D8624}"/>
              </a:ext>
            </a:extLst>
          </p:cNvPr>
          <p:cNvSpPr txBox="1"/>
          <p:nvPr/>
        </p:nvSpPr>
        <p:spPr>
          <a:xfrm>
            <a:off x="1716031" y="1781391"/>
            <a:ext cx="2708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FTL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기본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BB16A-D6CB-2EBD-5140-01FA8490705B}"/>
              </a:ext>
            </a:extLst>
          </p:cNvPr>
          <p:cNvSpPr txBox="1"/>
          <p:nvPr/>
        </p:nvSpPr>
        <p:spPr>
          <a:xfrm>
            <a:off x="8487999" y="1878816"/>
            <a:ext cx="143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종류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22D4B5-17FD-03F2-9219-A7F576617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31" y="2370572"/>
            <a:ext cx="6095414" cy="329997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2FBA61B-390C-D768-0199-2480C033B50D}"/>
              </a:ext>
            </a:extLst>
          </p:cNvPr>
          <p:cNvSpPr/>
          <p:nvPr/>
        </p:nvSpPr>
        <p:spPr>
          <a:xfrm>
            <a:off x="5083813" y="4468189"/>
            <a:ext cx="876300" cy="10795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9D878-76D5-6D49-8EC0-71A9A52CDEF2}"/>
              </a:ext>
            </a:extLst>
          </p:cNvPr>
          <p:cNvSpPr txBox="1"/>
          <p:nvPr/>
        </p:nvSpPr>
        <p:spPr>
          <a:xfrm>
            <a:off x="4662593" y="5613400"/>
            <a:ext cx="1718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C00000"/>
                </a:solidFill>
              </a:rPr>
              <a:t>공간 부족 시</a:t>
            </a:r>
            <a:r>
              <a:rPr lang="en-US" altLang="ko-KR" sz="1200" b="1" dirty="0">
                <a:solidFill>
                  <a:srgbClr val="C00000"/>
                </a:solidFill>
              </a:rPr>
              <a:t>, GC </a:t>
            </a:r>
            <a:r>
              <a:rPr lang="ko-KR" altLang="en-US" sz="1200" b="1" dirty="0">
                <a:solidFill>
                  <a:srgbClr val="C00000"/>
                </a:solidFill>
              </a:rPr>
              <a:t>수행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DEAEA0F-C538-7B7A-0750-7CA6FA87E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4" y="2554130"/>
            <a:ext cx="5424693" cy="293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0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E264-7893-FA0B-B5C1-1B25442D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92B07-78D5-47A8-5478-E29222449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4123"/>
            <a:ext cx="8876963" cy="831299"/>
          </a:xfrm>
        </p:spPr>
        <p:txBody>
          <a:bodyPr>
            <a:normAutofit/>
          </a:bodyPr>
          <a:lstStyle/>
          <a:p>
            <a:r>
              <a:rPr lang="en-US" altLang="ko-KR" dirty="0"/>
              <a:t>Problem Background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D86115-2655-1CCE-F85E-C190B4B9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5</a:t>
            </a:fld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16B0E-6917-D778-9630-92FCFC1CA4AB}"/>
              </a:ext>
            </a:extLst>
          </p:cNvPr>
          <p:cNvSpPr txBox="1"/>
          <p:nvPr/>
        </p:nvSpPr>
        <p:spPr>
          <a:xfrm>
            <a:off x="1661337" y="1764470"/>
            <a:ext cx="316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Enterprise-Scale Workload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5FBFE-47AB-035C-1391-A8E0EB72FDFD}"/>
              </a:ext>
            </a:extLst>
          </p:cNvPr>
          <p:cNvSpPr txBox="1"/>
          <p:nvPr/>
        </p:nvSpPr>
        <p:spPr>
          <a:xfrm>
            <a:off x="7633930" y="1762397"/>
            <a:ext cx="294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FTL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한계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(FAST)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746D67-38B8-6FCD-3308-EEA4841D6697}"/>
              </a:ext>
            </a:extLst>
          </p:cNvPr>
          <p:cNvSpPr/>
          <p:nvPr/>
        </p:nvSpPr>
        <p:spPr>
          <a:xfrm>
            <a:off x="285919" y="2695708"/>
            <a:ext cx="2390850" cy="520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 Workload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DEC329-005C-CF97-D8E7-16033290D0BD}"/>
              </a:ext>
            </a:extLst>
          </p:cNvPr>
          <p:cNvSpPr/>
          <p:nvPr/>
        </p:nvSpPr>
        <p:spPr>
          <a:xfrm>
            <a:off x="285918" y="3433031"/>
            <a:ext cx="2390850" cy="520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File Server Workload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0481C-CD65-EC11-D4C6-6F4CE09864AE}"/>
              </a:ext>
            </a:extLst>
          </p:cNvPr>
          <p:cNvSpPr/>
          <p:nvPr/>
        </p:nvSpPr>
        <p:spPr>
          <a:xfrm>
            <a:off x="285918" y="4176343"/>
            <a:ext cx="2390850" cy="520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OLTP Workload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FFF1C6-CB11-505F-5838-EA357993AE23}"/>
              </a:ext>
            </a:extLst>
          </p:cNvPr>
          <p:cNvSpPr/>
          <p:nvPr/>
        </p:nvSpPr>
        <p:spPr>
          <a:xfrm>
            <a:off x="3184768" y="3230464"/>
            <a:ext cx="1247133" cy="925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통합 </a:t>
            </a:r>
            <a:br>
              <a:rPr lang="en-US" altLang="ko-KR" dirty="0"/>
            </a:br>
            <a:r>
              <a:rPr lang="ko-KR" altLang="en-US" dirty="0"/>
              <a:t>저장장치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BB1F0CE2-8792-4ED0-8FE9-8AD9C16DDF01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2676769" y="2956058"/>
            <a:ext cx="507999" cy="7373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D678DEF-E103-0D33-59FD-EFE8C185259F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2676768" y="3693381"/>
            <a:ext cx="508000" cy="7433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783516-96C3-6ED9-85F0-381AFA9AC51D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2676768" y="3693381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827FA8E-E496-BDA9-21C7-F5412DC5957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431901" y="3693381"/>
            <a:ext cx="270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97FCF6E-C995-501A-AB23-8847D09BC310}"/>
              </a:ext>
            </a:extLst>
          </p:cNvPr>
          <p:cNvSpPr txBox="1"/>
          <p:nvPr/>
        </p:nvSpPr>
        <p:spPr>
          <a:xfrm>
            <a:off x="4702418" y="3433031"/>
            <a:ext cx="1396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Randomized</a:t>
            </a:r>
            <a:br>
              <a:rPr lang="en-US" altLang="ko-KR" sz="1600" b="1" dirty="0"/>
            </a:br>
            <a:r>
              <a:rPr lang="en-US" altLang="ko-KR" sz="1600" b="1" dirty="0"/>
              <a:t>I/O</a:t>
            </a:r>
            <a:endParaRPr lang="ko-KR" altLang="en-US" sz="16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E7FB47-857A-2648-6C42-EBACB5122C4C}"/>
              </a:ext>
            </a:extLst>
          </p:cNvPr>
          <p:cNvSpPr txBox="1"/>
          <p:nvPr/>
        </p:nvSpPr>
        <p:spPr>
          <a:xfrm>
            <a:off x="1783676" y="5001041"/>
            <a:ext cx="2781339" cy="783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Write</a:t>
            </a:r>
            <a:r>
              <a:rPr lang="ko-KR" altLang="en-US" sz="1600" b="1" dirty="0"/>
              <a:t> 비중이 높은 워크로드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en-US" altLang="ko-KR" sz="1600" b="1" dirty="0"/>
              <a:t>Temporal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Locality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739DFF50-608C-1E9D-42A1-367CA2801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471" y="2340636"/>
            <a:ext cx="5476648" cy="270549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AF29DBE-FEEF-9239-36F4-8DA9C36BAF8E}"/>
              </a:ext>
            </a:extLst>
          </p:cNvPr>
          <p:cNvSpPr txBox="1"/>
          <p:nvPr/>
        </p:nvSpPr>
        <p:spPr>
          <a:xfrm>
            <a:off x="5792689" y="5205834"/>
            <a:ext cx="6121932" cy="7850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u="sng" dirty="0"/>
              <a:t>Hybrid </a:t>
            </a:r>
            <a:r>
              <a:rPr lang="ko-KR" altLang="en-US" sz="1600" b="1" u="sng" dirty="0"/>
              <a:t>구조를 유지하여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Full Merge</a:t>
            </a:r>
            <a:r>
              <a:rPr lang="ko-KR" altLang="en-US" sz="1600" b="1" dirty="0"/>
              <a:t>를 해결 시도 </a:t>
            </a:r>
            <a:r>
              <a:rPr lang="en-US" altLang="ko-KR" sz="1600" b="1" dirty="0"/>
              <a:t>(BAST,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FAST..)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ym typeface="Wingdings" panose="05000000000000000000" pitchFamily="2" charset="2"/>
              </a:rPr>
              <a:t> GC Overhead, </a:t>
            </a:r>
            <a:r>
              <a:rPr lang="ko-KR" altLang="en-US" sz="1600" b="1" dirty="0">
                <a:sym typeface="Wingdings" panose="05000000000000000000" pitchFamily="2" charset="2"/>
              </a:rPr>
              <a:t>낮은 시간적 지역성 활용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2137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296A-49DB-5058-764A-0C685C4F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086C0-AD22-22E5-5C16-274BFFA3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Core Idea of DFTL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EC48DE1-0D36-F44E-E167-B9826165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6</a:t>
            </a:fld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245ECB-C77E-5A03-5BB2-D215EC8AD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18" y="2940908"/>
            <a:ext cx="11565423" cy="34598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4000" i="1" dirty="0"/>
              <a:t>“</a:t>
            </a:r>
            <a:r>
              <a:rPr lang="ko-KR" altLang="ko-KR" sz="4000" i="1" dirty="0" err="1"/>
              <a:t>doing</a:t>
            </a:r>
            <a:r>
              <a:rPr lang="ko-KR" altLang="ko-KR" sz="4000" i="1" dirty="0"/>
              <a:t> </a:t>
            </a:r>
            <a:r>
              <a:rPr lang="ko-KR" altLang="ko-KR" sz="4000" i="1" dirty="0" err="1"/>
              <a:t>away</a:t>
            </a:r>
            <a:r>
              <a:rPr lang="ko-KR" altLang="ko-KR" sz="4000" i="1" dirty="0"/>
              <a:t> </a:t>
            </a:r>
            <a:r>
              <a:rPr lang="ko-KR" altLang="ko-KR" sz="4000" i="1" dirty="0" err="1"/>
              <a:t>with</a:t>
            </a:r>
            <a:r>
              <a:rPr lang="ko-KR" altLang="ko-KR" sz="4000" i="1" dirty="0"/>
              <a:t> </a:t>
            </a:r>
            <a:r>
              <a:rPr lang="ko-KR" altLang="ko-KR" sz="4000" i="1" dirty="0" err="1"/>
              <a:t>log-blocks</a:t>
            </a:r>
            <a:r>
              <a:rPr lang="ko-KR" altLang="ko-KR" sz="4000" i="1" dirty="0"/>
              <a:t>.</a:t>
            </a:r>
            <a:r>
              <a:rPr lang="en-US" altLang="ko-KR" sz="4000" i="1" dirty="0"/>
              <a:t>”</a:t>
            </a:r>
          </a:p>
          <a:p>
            <a:endParaRPr lang="ko-KR" altLang="ko-KR" sz="4000" dirty="0"/>
          </a:p>
          <a:p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8166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714F-A18E-3168-D412-72D79EB0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786E7-3EFD-C468-9B42-44F41326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DFTL Architecture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EB44382-C58A-8E30-E362-BD20AEC5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7</a:t>
            </a:fld>
            <a:endParaRPr kumimoji="1"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69DA9E6-6891-414F-BEB9-9AF00EF11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4735" y="1072615"/>
            <a:ext cx="8560087" cy="4915065"/>
          </a:xfrm>
          <a:prstGeom prst="rect">
            <a:avLst/>
          </a:prstGeom>
        </p:spPr>
      </p:pic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595FDABF-149B-6475-5BBC-6AE602E8EF6B}"/>
              </a:ext>
            </a:extLst>
          </p:cNvPr>
          <p:cNvSpPr/>
          <p:nvPr/>
        </p:nvSpPr>
        <p:spPr>
          <a:xfrm>
            <a:off x="3992896" y="1726059"/>
            <a:ext cx="1438382" cy="1304818"/>
          </a:xfrm>
          <a:prstGeom prst="round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AAA0D62-30C3-8712-1EC1-01B83A30863E}"/>
              </a:ext>
            </a:extLst>
          </p:cNvPr>
          <p:cNvSpPr/>
          <p:nvPr/>
        </p:nvSpPr>
        <p:spPr>
          <a:xfrm>
            <a:off x="6688476" y="1726059"/>
            <a:ext cx="1438382" cy="1304818"/>
          </a:xfrm>
          <a:prstGeom prst="round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B8E10-BB8E-CC85-EC75-4E66F9A704A4}"/>
              </a:ext>
            </a:extLst>
          </p:cNvPr>
          <p:cNvSpPr txBox="1"/>
          <p:nvPr/>
        </p:nvSpPr>
        <p:spPr>
          <a:xfrm>
            <a:off x="1649970" y="5987680"/>
            <a:ext cx="6199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ko-KR" altLang="ko-KR" sz="1600" dirty="0" err="1">
                <a:solidFill>
                  <a:srgbClr val="000000"/>
                </a:solidFill>
                <a:effectLst/>
                <a:latin typeface="Times"/>
              </a:rPr>
              <a:t>Figure</a:t>
            </a:r>
            <a:r>
              <a:rPr lang="ko-KR" altLang="ko-KR" sz="1600" dirty="0">
                <a:solidFill>
                  <a:srgbClr val="000000"/>
                </a:solidFill>
                <a:effectLst/>
                <a:latin typeface="Times"/>
              </a:rPr>
              <a:t> 4: </a:t>
            </a:r>
            <a:r>
              <a:rPr lang="ko-KR" altLang="ko-KR" sz="1600" dirty="0" err="1">
                <a:solidFill>
                  <a:srgbClr val="000000"/>
                </a:solidFill>
                <a:effectLst/>
                <a:latin typeface="Times"/>
              </a:rPr>
              <a:t>Schematic</a:t>
            </a:r>
            <a:r>
              <a:rPr lang="ko-KR" altLang="ko-KR" sz="1600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ko-KR" altLang="ko-KR" sz="1600" dirty="0" err="1">
                <a:solidFill>
                  <a:srgbClr val="000000"/>
                </a:solidFill>
                <a:effectLst/>
                <a:latin typeface="Times"/>
              </a:rPr>
              <a:t>Design</a:t>
            </a:r>
            <a:r>
              <a:rPr lang="ko-KR" altLang="ko-KR" sz="1600" dirty="0">
                <a:solidFill>
                  <a:srgbClr val="000000"/>
                </a:solidFill>
                <a:effectLst/>
                <a:latin typeface="Times"/>
              </a:rPr>
              <a:t> of DFTL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8B689-812E-33A3-43C9-93A98AC3705D}"/>
              </a:ext>
            </a:extLst>
          </p:cNvPr>
          <p:cNvSpPr txBox="1"/>
          <p:nvPr/>
        </p:nvSpPr>
        <p:spPr>
          <a:xfrm>
            <a:off x="3508513" y="2144983"/>
            <a:ext cx="66556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CMT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BF9D5-892D-4A93-BAD6-18E421C296C9}"/>
              </a:ext>
            </a:extLst>
          </p:cNvPr>
          <p:cNvSpPr txBox="1"/>
          <p:nvPr/>
        </p:nvSpPr>
        <p:spPr>
          <a:xfrm>
            <a:off x="7842279" y="2144983"/>
            <a:ext cx="62914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GTD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4CF01A3-454F-2372-21F8-42C56D157943}"/>
              </a:ext>
            </a:extLst>
          </p:cNvPr>
          <p:cNvSpPr/>
          <p:nvPr/>
        </p:nvSpPr>
        <p:spPr>
          <a:xfrm>
            <a:off x="2212709" y="4079746"/>
            <a:ext cx="2680378" cy="1350813"/>
          </a:xfrm>
          <a:prstGeom prst="round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6575D-9023-CC69-0113-84780D780115}"/>
              </a:ext>
            </a:extLst>
          </p:cNvPr>
          <p:cNvSpPr txBox="1"/>
          <p:nvPr/>
        </p:nvSpPr>
        <p:spPr>
          <a:xfrm>
            <a:off x="3167715" y="3913453"/>
            <a:ext cx="6815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GMT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6631B-EE91-9C03-3117-86C58F4A0030}"/>
              </a:ext>
            </a:extLst>
          </p:cNvPr>
          <p:cNvSpPr txBox="1"/>
          <p:nvPr/>
        </p:nvSpPr>
        <p:spPr>
          <a:xfrm>
            <a:off x="698418" y="3189509"/>
            <a:ext cx="189263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Translation Page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D042D0-7CE7-2042-DCF0-736424150939}"/>
              </a:ext>
            </a:extLst>
          </p:cNvPr>
          <p:cNvSpPr txBox="1"/>
          <p:nvPr/>
        </p:nvSpPr>
        <p:spPr>
          <a:xfrm>
            <a:off x="9917926" y="4514556"/>
            <a:ext cx="125867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Data Page</a:t>
            </a:r>
            <a:endParaRPr kumimoji="1" lang="ko-KR" altLang="en-US" dirty="0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D5B630C6-EFBB-DC66-7491-243D8E730087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10470" y="3687410"/>
            <a:ext cx="608311" cy="35117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662CE6FA-2357-D21F-B630-173388C7FD9A}"/>
              </a:ext>
            </a:extLst>
          </p:cNvPr>
          <p:cNvCxnSpPr>
            <a:cxnSpLocks/>
          </p:cNvCxnSpPr>
          <p:nvPr/>
        </p:nvCxnSpPr>
        <p:spPr>
          <a:xfrm flipV="1">
            <a:off x="9387840" y="4595965"/>
            <a:ext cx="530086" cy="37989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52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BAA0-9E87-DF58-E339-DF0D53AD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935AC-8BFE-8B8A-817B-1CAA1B47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1129334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Address Translation Process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0D3054B-19E3-430A-CCD9-68FF7F5B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8</a:t>
            </a:fld>
            <a:endParaRPr kumimoji="1"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2468A6F-ABD4-14E4-D19B-ECA7E2E77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23816" y="1335088"/>
            <a:ext cx="10288805" cy="506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9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273C-1715-A8B4-FDBD-89A28EC5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5A82C-DC39-BCB9-2898-8E42F0D1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1129334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Address Translation Process – Overhead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9180ABA-CE0A-59AA-2D5C-A52D184F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9</a:t>
            </a:fld>
            <a:endParaRPr kumimoji="1"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3FB05D2D-1030-24BE-4AA6-711D6F9FC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442045"/>
              </p:ext>
            </p:extLst>
          </p:nvPr>
        </p:nvGraphicFramePr>
        <p:xfrm>
          <a:off x="977728" y="1409228"/>
          <a:ext cx="4438650" cy="3788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8650">
                  <a:extLst>
                    <a:ext uri="{9D8B030D-6E8A-4147-A177-3AD203B41FA5}">
                      <a16:colId xmlns:a16="http://schemas.microsoft.com/office/drawing/2014/main" val="2202129922"/>
                    </a:ext>
                  </a:extLst>
                </a:gridCol>
              </a:tblGrid>
              <a:tr h="543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Victim state = clean</a:t>
                      </a:r>
                      <a:endParaRPr lang="ko-KR" altLang="en-US" sz="2400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355576"/>
                  </a:ext>
                </a:extLst>
              </a:tr>
              <a:tr h="20017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 Original request</a:t>
                      </a:r>
                      <a:r>
                        <a:rPr lang="ko-KR" altLang="en-US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에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대한 </a:t>
                      </a: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mapping entry 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적재를 위해 </a:t>
                      </a: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Translation Page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읽기</a:t>
                      </a:r>
                      <a:endParaRPr lang="en-US" altLang="ko-KR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693386"/>
                  </a:ext>
                </a:extLst>
              </a:tr>
              <a:tr h="1243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Overhead: Read * 1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93871"/>
                  </a:ext>
                </a:extLst>
              </a:tr>
            </a:tbl>
          </a:graphicData>
        </a:graphic>
      </p:graphicFrame>
      <p:graphicFrame>
        <p:nvGraphicFramePr>
          <p:cNvPr id="8" name="내용 개체 틀 6">
            <a:extLst>
              <a:ext uri="{FF2B5EF4-FFF2-40B4-BE49-F238E27FC236}">
                <a16:creationId xmlns:a16="http://schemas.microsoft.com/office/drawing/2014/main" id="{22BFFBAA-9EC3-32D2-D173-FA5D5883CA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60002"/>
              </p:ext>
            </p:extLst>
          </p:nvPr>
        </p:nvGraphicFramePr>
        <p:xfrm>
          <a:off x="6096000" y="1409228"/>
          <a:ext cx="4438650" cy="375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8650">
                  <a:extLst>
                    <a:ext uri="{9D8B030D-6E8A-4147-A177-3AD203B41FA5}">
                      <a16:colId xmlns:a16="http://schemas.microsoft.com/office/drawing/2014/main" val="2202129922"/>
                    </a:ext>
                  </a:extLst>
                </a:gridCol>
              </a:tblGrid>
              <a:tr h="543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Victim state = dirty</a:t>
                      </a:r>
                      <a:endParaRPr lang="ko-KR" altLang="en-US" sz="2400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355576"/>
                  </a:ext>
                </a:extLst>
              </a:tr>
              <a:tr h="1973155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victim entry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업데이트를 위한 </a:t>
                      </a: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Translation Page 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원본 읽기</a:t>
                      </a:r>
                      <a:endParaRPr lang="en-US" altLang="ko-KR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업데이트가 반영된 </a:t>
                      </a: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Translation Page 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쓰기</a:t>
                      </a:r>
                      <a:endParaRPr lang="en-US" altLang="ko-KR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Original request</a:t>
                      </a:r>
                      <a:r>
                        <a:rPr lang="ko-KR" altLang="en-US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에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대한 </a:t>
                      </a: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mapping entry 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적재를 위해 </a:t>
                      </a:r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Translation Page</a:t>
                      </a:r>
                      <a:r>
                        <a:rPr lang="ko-KR" alt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읽기</a:t>
                      </a:r>
                      <a:endParaRPr lang="en-US" altLang="ko-KR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693386"/>
                  </a:ext>
                </a:extLst>
              </a:tr>
              <a:tr h="1243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Overhead: Read * 2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Write * 1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93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9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35A8D-9D71-DF3C-C7B1-DF923FCC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Read/Write Operation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C7CE1C-3DA8-AA31-D769-1B60E1FF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10</a:t>
            </a:fld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5655F5-E19B-1DA1-252D-B0C678D39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Read</a:t>
            </a:r>
            <a:r>
              <a:rPr kumimoji="1" lang="ko-KR" altLang="en-US" dirty="0"/>
              <a:t>의 경우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주소 변환이 수행된 후 해당하는 </a:t>
            </a:r>
            <a:r>
              <a:rPr kumimoji="1" lang="en-US" altLang="ko-KR" dirty="0"/>
              <a:t>Data Page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읽음</a:t>
            </a:r>
            <a:endParaRPr kumimoji="1" lang="en-US" altLang="ko-KR" dirty="0"/>
          </a:p>
          <a:p>
            <a:r>
              <a:rPr kumimoji="1" lang="en-US" altLang="ko-KR" dirty="0"/>
              <a:t>DFTL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‘Current Data Block’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‘Current Translation Block’</a:t>
            </a:r>
            <a:r>
              <a:rPr kumimoji="1" lang="ko-KR" altLang="en-US" dirty="0"/>
              <a:t>두 가지 블록을 유지함</a:t>
            </a:r>
            <a:endParaRPr kumimoji="1" lang="en-US" altLang="ko-KR" dirty="0"/>
          </a:p>
          <a:p>
            <a:r>
              <a:rPr kumimoji="1" lang="ko-KR" altLang="en-US" dirty="0"/>
              <a:t>이는 각각 </a:t>
            </a:r>
            <a:r>
              <a:rPr kumimoji="1" lang="en-US" altLang="ko-KR" dirty="0"/>
              <a:t>Data Page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Translation Page</a:t>
            </a:r>
            <a:r>
              <a:rPr kumimoji="1" lang="ko-KR" altLang="en-US" dirty="0"/>
              <a:t>가 쓰여지는 블록이며</a:t>
            </a:r>
            <a:endParaRPr kumimoji="1" lang="en-US" altLang="ko-KR" dirty="0"/>
          </a:p>
          <a:p>
            <a:r>
              <a:rPr kumimoji="1" lang="en-US" altLang="ko-KR" dirty="0"/>
              <a:t>Write Request</a:t>
            </a:r>
            <a:r>
              <a:rPr kumimoji="1" lang="ko-KR" altLang="en-US" dirty="0"/>
              <a:t>의 경우 </a:t>
            </a:r>
            <a:r>
              <a:rPr kumimoji="1" lang="en-US" altLang="ko-KR" dirty="0"/>
              <a:t>Current Data Block</a:t>
            </a:r>
            <a:r>
              <a:rPr kumimoji="1" lang="ko-KR" altLang="en-US" dirty="0"/>
              <a:t> 안의 새 </a:t>
            </a:r>
            <a:r>
              <a:rPr kumimoji="1" lang="en-US" altLang="ko-KR" dirty="0"/>
              <a:t>Data Page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Write</a:t>
            </a:r>
            <a:r>
              <a:rPr kumimoji="1" lang="ko-KR" altLang="en-US" dirty="0"/>
              <a:t>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CMT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있는 </a:t>
            </a:r>
            <a:r>
              <a:rPr kumimoji="1" lang="en-US" altLang="ko-KR" dirty="0"/>
              <a:t>mapping entry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업데이트함</a:t>
            </a:r>
            <a:endParaRPr kumimoji="1" lang="en-US" altLang="ko-KR" dirty="0"/>
          </a:p>
          <a:p>
            <a:r>
              <a:rPr kumimoji="1" lang="ko-KR" altLang="en-US" dirty="0"/>
              <a:t>이 특성으로 인해 </a:t>
            </a:r>
            <a:r>
              <a:rPr kumimoji="1" lang="en-US" altLang="ko-KR" dirty="0"/>
              <a:t>temporal locality</a:t>
            </a:r>
            <a:r>
              <a:rPr kumimoji="1" lang="ko-KR" altLang="en-US" dirty="0"/>
              <a:t> 활용 용이해짐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8492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0C641-0164-6E7C-0748-91D8EE17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Read/Write Operation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lazy copy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A019E9-F781-7E8D-22C6-86DAE57A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11</a:t>
            </a:fld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D4BEBA-2C7E-BB40-6674-4B3EE6FA7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Mapping entry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수정해야 할 때 </a:t>
            </a:r>
            <a:r>
              <a:rPr kumimoji="1" lang="en-US" altLang="ko-KR" dirty="0"/>
              <a:t>CMT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 </a:t>
            </a:r>
            <a:r>
              <a:rPr kumimoji="1" lang="en-US" altLang="ko-KR" dirty="0"/>
              <a:t>mapping entry</a:t>
            </a:r>
            <a:r>
              <a:rPr kumimoji="1" lang="ko-KR" altLang="en-US" dirty="0"/>
              <a:t>가 존재하면 </a:t>
            </a:r>
            <a:r>
              <a:rPr kumimoji="1" lang="en-US" altLang="ko-KR" dirty="0"/>
              <a:t>GMT</a:t>
            </a:r>
            <a:r>
              <a:rPr kumimoji="1" lang="ko-KR" altLang="en-US" dirty="0"/>
              <a:t>상의 </a:t>
            </a:r>
            <a:r>
              <a:rPr kumimoji="1" lang="en-US" altLang="ko-KR" dirty="0"/>
              <a:t>mapping entry</a:t>
            </a:r>
            <a:r>
              <a:rPr kumimoji="1" lang="ko-KR" altLang="en-US" dirty="0"/>
              <a:t>는 수정되지 않음</a:t>
            </a:r>
            <a:endParaRPr kumimoji="1" lang="en-US" altLang="ko-KR" dirty="0"/>
          </a:p>
          <a:p>
            <a:r>
              <a:rPr kumimoji="1" lang="en-US" altLang="ko-KR" dirty="0"/>
              <a:t>CMT</a:t>
            </a:r>
            <a:r>
              <a:rPr kumimoji="1" lang="ko-KR" altLang="en-US" dirty="0"/>
              <a:t>상의 </a:t>
            </a:r>
            <a:r>
              <a:rPr kumimoji="1" lang="en-US" altLang="ko-KR" dirty="0"/>
              <a:t>mapping entry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evict</a:t>
            </a:r>
            <a:r>
              <a:rPr kumimoji="1" lang="ko-KR" altLang="en-US" dirty="0"/>
              <a:t>될 때 수정 사항이 </a:t>
            </a:r>
            <a:r>
              <a:rPr kumimoji="1" lang="en-US" altLang="ko-KR" dirty="0"/>
              <a:t>GMT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반영</a:t>
            </a:r>
            <a:endParaRPr kumimoji="1" lang="en-US" altLang="ko-KR" dirty="0"/>
          </a:p>
          <a:p>
            <a:r>
              <a:rPr kumimoji="1" lang="ko-KR" altLang="en-US" dirty="0"/>
              <a:t>이를 </a:t>
            </a:r>
            <a:r>
              <a:rPr kumimoji="1" lang="en-US" altLang="ko-KR" dirty="0"/>
              <a:t>lazy copy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함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Lazy copy</a:t>
            </a:r>
            <a:r>
              <a:rPr kumimoji="1" lang="ko-KR" altLang="en-US" dirty="0"/>
              <a:t>로 인해 </a:t>
            </a:r>
            <a:r>
              <a:rPr kumimoji="1" lang="en-US" altLang="ko-KR" dirty="0"/>
              <a:t>GMT </a:t>
            </a:r>
            <a:r>
              <a:rPr kumimoji="1" lang="ko-KR" altLang="en-US" dirty="0"/>
              <a:t>업데이트는 오직 한 번 </a:t>
            </a:r>
            <a:r>
              <a:rPr kumimoji="1" lang="ko-KR" altLang="en-US" dirty="0" err="1"/>
              <a:t>일어남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0164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EE3EE-BA9C-5247-CC4A-4E1F5321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7C49F7-6085-8327-90CA-2BC318BE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Read/Write Operation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batch update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D482F-2420-0B0B-B6FE-231B2A51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12</a:t>
            </a:fld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580CC4-C6B4-0B53-68EA-285EF508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18" y="1335339"/>
            <a:ext cx="11565423" cy="2093661"/>
          </a:xfrm>
        </p:spPr>
        <p:txBody>
          <a:bodyPr>
            <a:normAutofit lnSpcReduction="10000"/>
          </a:bodyPr>
          <a:lstStyle/>
          <a:p>
            <a:r>
              <a:rPr kumimoji="1" lang="en-US" altLang="ko-KR" dirty="0"/>
              <a:t>‘dirty’ state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mapping entry</a:t>
            </a:r>
            <a:r>
              <a:rPr kumimoji="1" lang="ko-KR" altLang="en-US" dirty="0"/>
              <a:t>가</a:t>
            </a:r>
            <a:r>
              <a:rPr kumimoji="1" lang="en-US" altLang="ko-KR" dirty="0"/>
              <a:t> evict</a:t>
            </a:r>
            <a:r>
              <a:rPr kumimoji="1" lang="ko-KR" altLang="en-US" dirty="0"/>
              <a:t>될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같은 </a:t>
            </a:r>
            <a:r>
              <a:rPr kumimoji="1" lang="en-US" altLang="ko-KR" dirty="0"/>
              <a:t>Translation Page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속하는 </a:t>
            </a:r>
            <a:r>
              <a:rPr kumimoji="1" lang="en-US" altLang="ko-KR" dirty="0"/>
              <a:t>entry</a:t>
            </a:r>
            <a:r>
              <a:rPr kumimoji="1" lang="ko-KR" altLang="en-US" dirty="0"/>
              <a:t>들을 한 번에 업데이트하는 것</a:t>
            </a:r>
            <a:endParaRPr kumimoji="1" lang="en-US" altLang="ko-KR" dirty="0"/>
          </a:p>
          <a:p>
            <a:r>
              <a:rPr kumimoji="1" lang="ko-KR" altLang="en-US" dirty="0"/>
              <a:t>한 번의 </a:t>
            </a:r>
            <a:r>
              <a:rPr kumimoji="1" lang="en-US" altLang="ko-KR" dirty="0"/>
              <a:t>Translation Page</a:t>
            </a:r>
            <a:r>
              <a:rPr kumimoji="1" lang="ko-KR" altLang="en-US" dirty="0"/>
              <a:t> 업데이트로 여러 개의 </a:t>
            </a:r>
            <a:r>
              <a:rPr kumimoji="1" lang="en-US" altLang="ko-KR" dirty="0"/>
              <a:t>mapping entry </a:t>
            </a:r>
            <a:r>
              <a:rPr kumimoji="1" lang="ko-KR" altLang="en-US" dirty="0"/>
              <a:t>변경사항을 업데이트 할 수 있어 </a:t>
            </a:r>
            <a:r>
              <a:rPr kumimoji="1" lang="en-US" altLang="ko-KR" dirty="0"/>
              <a:t>Write </a:t>
            </a:r>
            <a:r>
              <a:rPr kumimoji="1" lang="ko-KR" altLang="en-US" dirty="0"/>
              <a:t>횟수가 감소함</a:t>
            </a:r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D31904E-FC11-5F10-12AA-4B9B94625E32}"/>
                  </a:ext>
                </a:extLst>
              </p:cNvPr>
              <p:cNvSpPr/>
              <p:nvPr/>
            </p:nvSpPr>
            <p:spPr>
              <a:xfrm>
                <a:off x="840259" y="4232217"/>
                <a:ext cx="4090087" cy="155695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Dirty Entry 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ko-KR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VPN</m:t>
                        </m:r>
                      </m:sub>
                    </m:sSub>
                    <m:r>
                      <a:rPr kumimoji="1"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2)</m:t>
                    </m:r>
                  </m:oMath>
                </a14:m>
                <a:endParaRPr kumimoji="1" lang="en-US" altLang="ko-KR" b="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Dirty Entry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VPN</m:t>
                        </m:r>
                      </m:sub>
                    </m:sSub>
                    <m:r>
                      <a:rPr kumimoji="1" lang="en-US" altLang="ko-KR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2)</m:t>
                    </m:r>
                  </m:oMath>
                </a14:m>
                <a:endParaRPr kumimoji="1" lang="en-US" altLang="ko-KR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Dirty Entry 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VPN</m:t>
                        </m:r>
                      </m:sub>
                    </m:sSub>
                    <m:r>
                      <a:rPr kumimoji="1" lang="en-US" altLang="ko-KR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2)</m:t>
                    </m:r>
                  </m:oMath>
                </a14:m>
                <a:endParaRPr kumimoji="1" lang="en-US" altLang="ko-KR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D31904E-FC11-5F10-12AA-4B9B94625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59" y="4232217"/>
                <a:ext cx="4090087" cy="1556951"/>
              </a:xfrm>
              <a:prstGeom prst="rect">
                <a:avLst/>
              </a:prstGeom>
              <a:blipFill>
                <a:blip r:embed="rId3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AA82152-1755-4D1E-BB1A-55300AC37BD9}"/>
                  </a:ext>
                </a:extLst>
              </p:cNvPr>
              <p:cNvSpPr/>
              <p:nvPr/>
            </p:nvSpPr>
            <p:spPr>
              <a:xfrm>
                <a:off x="7117837" y="4232217"/>
                <a:ext cx="4090087" cy="155695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Translation Page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VPN</m:t>
                        </m:r>
                      </m:sub>
                    </m:sSub>
                    <m:r>
                      <a:rPr kumimoji="1" lang="en-US" altLang="ko-KR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2</m:t>
                    </m:r>
                    <m:r>
                      <a:rPr kumimoji="1"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b="0" dirty="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  <a:p>
                <a:pPr algn="ctr"/>
                <a:endParaRPr kumimoji="1" lang="en-US" altLang="ko-KR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(Write </a:t>
                </a:r>
                <a:r>
                  <a:rPr kumimoji="1" lang="ko-KR" alt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한 번에 </a:t>
                </a:r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</a:t>
                </a:r>
                <a:r>
                  <a:rPr kumimoji="1" lang="ko-KR" alt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개 변경 반영</a:t>
                </a:r>
                <a:r>
                  <a:rPr kumimoji="1" lang="en-US" altLang="ko-KR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AA82152-1755-4D1E-BB1A-55300AC37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837" y="4232217"/>
                <a:ext cx="4090087" cy="15569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81A1671-4F8B-0C26-D01D-78B1D23B5FDB}"/>
              </a:ext>
            </a:extLst>
          </p:cNvPr>
          <p:cNvSpPr txBox="1"/>
          <p:nvPr/>
        </p:nvSpPr>
        <p:spPr>
          <a:xfrm>
            <a:off x="1804087" y="3725589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 CMT (SRAM) ]</a:t>
            </a:r>
            <a:endParaRPr kumimoji="1"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F0B0C-3D12-0711-022E-385DB5169BCF}"/>
              </a:ext>
            </a:extLst>
          </p:cNvPr>
          <p:cNvSpPr txBox="1"/>
          <p:nvPr/>
        </p:nvSpPr>
        <p:spPr>
          <a:xfrm>
            <a:off x="8174276" y="3750303"/>
            <a:ext cx="1977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 Flash Memory ]</a:t>
            </a:r>
            <a:endParaRPr kumimoji="1"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B46FC2C-3490-651A-7ABD-39BDD686FE6D}"/>
              </a:ext>
            </a:extLst>
          </p:cNvPr>
          <p:cNvCxnSpPr/>
          <p:nvPr/>
        </p:nvCxnSpPr>
        <p:spPr>
          <a:xfrm>
            <a:off x="4930346" y="4615276"/>
            <a:ext cx="21874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36AB87-89B4-C394-43DF-8781944F74FC}"/>
              </a:ext>
            </a:extLst>
          </p:cNvPr>
          <p:cNvSpPr txBox="1"/>
          <p:nvPr/>
        </p:nvSpPr>
        <p:spPr>
          <a:xfrm>
            <a:off x="5223423" y="4615276"/>
            <a:ext cx="1601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Batch Update</a:t>
            </a:r>
            <a:b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</a:t>
            </a:r>
            <a:r>
              <a:rPr kumimoji="1" lang="ko-KR" altLang="en-US" dirty="0">
                <a:latin typeface="Tahoma" panose="020B0604030504040204" pitchFamily="34" charset="0"/>
                <a:cs typeface="Tahoma" panose="020B0604030504040204" pitchFamily="34" charset="0"/>
              </a:rPr>
              <a:t>회 </a:t>
            </a:r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Write)</a:t>
            </a:r>
            <a:endParaRPr kumimoji="1"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27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A3BC-027F-C4B2-B08D-47D5903A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E163D-A708-70BC-BB6D-7512F342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Garbage collection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9C8F28-015F-531B-1857-6B2D12F9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13</a:t>
            </a:fld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B678C0D7-838E-779E-2D0D-C189C7F681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Write/Update</a:t>
                </a:r>
                <a:r>
                  <a:rPr lang="ko-KR" altLang="en-US" dirty="0"/>
                  <a:t>가 수행되며 시간이 지남에 따라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가용 가능한 물리 블록 수는 줄어들 것</a:t>
                </a:r>
                <a:endParaRPr lang="en-US" altLang="ko-KR" dirty="0"/>
              </a:p>
              <a:p>
                <a:r>
                  <a:rPr lang="en-US" altLang="ko-KR" dirty="0"/>
                  <a:t>GC</a:t>
                </a:r>
                <a:r>
                  <a:rPr lang="ko-KR" altLang="en-US" dirty="0"/>
                  <a:t> 오버헤드를 고려하여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가용 </a:t>
                </a:r>
                <a:r>
                  <a:rPr lang="en-US" altLang="ko-KR" dirty="0"/>
                  <a:t>Free Block </a:t>
                </a:r>
                <a:r>
                  <a:rPr lang="ko-KR" altLang="en-US" dirty="0"/>
                  <a:t>수가 </a:t>
                </a:r>
                <a:r>
                  <a:rPr lang="ko-KR" altLang="en-US" dirty="0" err="1"/>
                  <a:t>임계값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𝐺𝐶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𝑡h𝑟𝑒𝑠h𝑜𝑙𝑑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이하로 떨어졌을 때 </a:t>
                </a:r>
                <a:r>
                  <a:rPr lang="en-US" altLang="ko-KR" dirty="0"/>
                  <a:t>GC</a:t>
                </a:r>
                <a:r>
                  <a:rPr lang="ko-KR" altLang="en-US" dirty="0"/>
                  <a:t> 트리거</a:t>
                </a:r>
                <a:endParaRPr lang="en-US" altLang="ko-KR" dirty="0"/>
              </a:p>
              <a:p>
                <a:r>
                  <a:rPr lang="en-US" altLang="ko-KR" dirty="0"/>
                  <a:t>Victim Block</a:t>
                </a:r>
                <a:r>
                  <a:rPr lang="ko-KR" altLang="en-US" dirty="0"/>
                  <a:t>의 종류에 따라 처리가 다름</a:t>
                </a:r>
                <a:endParaRPr lang="en-US" altLang="ko-KR" dirty="0"/>
              </a:p>
              <a:p>
                <a:r>
                  <a:rPr lang="en-US" altLang="ko-KR" dirty="0"/>
                  <a:t>Data Block:</a:t>
                </a:r>
                <a:r>
                  <a:rPr lang="ko-KR" altLang="en-US" dirty="0"/>
                  <a:t> </a:t>
                </a:r>
                <a:r>
                  <a:rPr lang="ko-KR" altLang="ko-KR" dirty="0" err="1"/>
                  <a:t>valid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page</a:t>
                </a:r>
                <a:r>
                  <a:rPr lang="ko-KR" altLang="en-US" dirty="0"/>
                  <a:t> 복사 후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해당 </a:t>
                </a:r>
                <a:r>
                  <a:rPr lang="en-US" altLang="ko-KR" dirty="0"/>
                  <a:t>Page</a:t>
                </a:r>
                <a:r>
                  <a:rPr lang="ko-KR" altLang="en-US" dirty="0"/>
                  <a:t>들과 관련된 모든 </a:t>
                </a:r>
                <a:r>
                  <a:rPr lang="en-US" altLang="ko-KR" dirty="0"/>
                  <a:t>Translation Page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CMT </a:t>
                </a:r>
                <a:r>
                  <a:rPr lang="ko-KR" altLang="en-US" dirty="0"/>
                  <a:t>업데이트를 진행</a:t>
                </a:r>
                <a:endParaRPr lang="en-US" altLang="ko-KR" dirty="0"/>
              </a:p>
              <a:p>
                <a:r>
                  <a:rPr lang="en-US" altLang="ko-KR" dirty="0"/>
                  <a:t>Translation Block: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valid Page </a:t>
                </a:r>
                <a:r>
                  <a:rPr lang="ko-KR" altLang="en-US" dirty="0"/>
                  <a:t>복사 후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GTD</a:t>
                </a:r>
                <a:r>
                  <a:rPr lang="ko-KR" altLang="en-US" dirty="0"/>
                  <a:t> 업데이트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B678C0D7-838E-779E-2D0D-C189C7F68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7" t="-750" r="-8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530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E81BF-59E5-1E8A-FC76-8CED7DA4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1247321" cy="831299"/>
          </a:xfrm>
        </p:spPr>
        <p:txBody>
          <a:bodyPr>
            <a:normAutofit/>
          </a:bodyPr>
          <a:lstStyle/>
          <a:p>
            <a:r>
              <a:rPr lang="ko-KR" altLang="ko-KR" dirty="0" err="1"/>
              <a:t>Comparison</a:t>
            </a:r>
            <a:r>
              <a:rPr lang="ko-KR" altLang="ko-KR" dirty="0"/>
              <a:t> of </a:t>
            </a:r>
            <a:r>
              <a:rPr lang="en-US" altLang="ko-KR" dirty="0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FTLs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en-US" altLang="ko-KR" dirty="0"/>
              <a:t> </a:t>
            </a:r>
            <a:r>
              <a:rPr lang="ko-KR" altLang="ko-KR" dirty="0"/>
              <a:t>DFTL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2D2ADB-1008-9670-56BB-F5F545EF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14</a:t>
            </a:fld>
            <a:endParaRPr kumimoji="1" lang="ko-KR" altLang="en-US" dirty="0"/>
          </a:p>
        </p:txBody>
      </p: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A6881189-621E-4865-1F86-DEDAC05EF1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5750" y="1335088"/>
          <a:ext cx="11564937" cy="422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50">
                  <a:extLst>
                    <a:ext uri="{9D8B030D-6E8A-4147-A177-3AD203B41FA5}">
                      <a16:colId xmlns:a16="http://schemas.microsoft.com/office/drawing/2014/main" val="185457959"/>
                    </a:ext>
                  </a:extLst>
                </a:gridCol>
                <a:gridCol w="4196735">
                  <a:extLst>
                    <a:ext uri="{9D8B030D-6E8A-4147-A177-3AD203B41FA5}">
                      <a16:colId xmlns:a16="http://schemas.microsoft.com/office/drawing/2014/main" val="111786736"/>
                    </a:ext>
                  </a:extLst>
                </a:gridCol>
                <a:gridCol w="4250352">
                  <a:extLst>
                    <a:ext uri="{9D8B030D-6E8A-4147-A177-3AD203B41FA5}">
                      <a16:colId xmlns:a16="http://schemas.microsoft.com/office/drawing/2014/main" val="217286568"/>
                    </a:ext>
                  </a:extLst>
                </a:gridCol>
              </a:tblGrid>
              <a:tr h="4556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Metrics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Hybrid FTL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DFTL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17306"/>
                  </a:ext>
                </a:extLst>
              </a:tr>
              <a:tr h="942022"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Full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Merge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Full Merge 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연산을 줄이려 시도하지만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여전히 발생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완전 제거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515335"/>
                  </a:ext>
                </a:extLst>
              </a:tr>
              <a:tr h="942022"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Partial Merge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&amp;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Hot/Cold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(temporal locality)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외부 별도 메커니즘 필요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(LAST, Superblock)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Temporal Locality 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기반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hot/cold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암묵적 자동 분리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834373"/>
                  </a:ext>
                </a:extLst>
              </a:tr>
              <a:tr h="942022"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Random Write Performance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Log block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의 비싼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 Merge 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연산으로 인해 성능 저하 발생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Full Merge 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제거로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Random Write 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성능 향상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80262"/>
                  </a:ext>
                </a:extLst>
              </a:tr>
              <a:tr h="942022"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Block </a:t>
                      </a:r>
                      <a:r>
                        <a:rPr lang="en-US" altLang="ko-KR" dirty="0" err="1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Utilizatioin</a:t>
                      </a:r>
                      <a:endParaRPr lang="ko-KR" altLang="en-US" dirty="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Log block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만 업데이트 수용 가능하여 </a:t>
                      </a:r>
                      <a:r>
                        <a:rPr lang="en-US" altLang="ko-KR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block utilization </a:t>
                      </a:r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제한됨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모든 블록이 업데이트 수용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93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189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BC10D-6DAC-E682-F4E8-A939BA49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The </a:t>
            </a:r>
            <a:r>
              <a:rPr kumimoji="1" lang="en-US" altLang="ko-KR" dirty="0" err="1"/>
              <a:t>FlashSim</a:t>
            </a:r>
            <a:r>
              <a:rPr kumimoji="1" lang="en-US" altLang="ko-KR" dirty="0"/>
              <a:t> Simulator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51A408-C2B6-1416-7AD9-9237FFAD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15</a:t>
            </a:fld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4BDC-4B77-1AA3-0537-22652DBF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/>
              <a:t>[ Objective &amp; Base Framework ]</a:t>
            </a:r>
            <a:br>
              <a:rPr kumimoji="1" lang="en-US" altLang="ko-KR" sz="2400" dirty="0"/>
            </a:br>
            <a:r>
              <a:rPr kumimoji="1" lang="en-US" altLang="ko-KR" sz="2400" dirty="0"/>
              <a:t>- </a:t>
            </a:r>
            <a:r>
              <a:rPr kumimoji="1" lang="ko-KR" altLang="en-US" sz="2400" dirty="0"/>
              <a:t>다양한 </a:t>
            </a:r>
            <a:r>
              <a:rPr kumimoji="1" lang="en-US" altLang="ko-KR" sz="2400" dirty="0"/>
              <a:t>FTL Scheme</a:t>
            </a:r>
            <a:r>
              <a:rPr kumimoji="1" lang="ko-KR" altLang="en-US" sz="2400" dirty="0"/>
              <a:t>의 성능 파급효과</a:t>
            </a:r>
            <a:r>
              <a:rPr kumimoji="1" lang="en-US" altLang="ko-KR" sz="2400" dirty="0"/>
              <a:t>(Performance Implication)</a:t>
            </a:r>
            <a:r>
              <a:rPr kumimoji="1" lang="ko-KR" altLang="en-US" sz="2400" dirty="0"/>
              <a:t> 정밀 평가</a:t>
            </a:r>
            <a:br>
              <a:rPr kumimoji="1" lang="en-US" altLang="ko-KR" sz="2400" dirty="0"/>
            </a:br>
            <a:r>
              <a:rPr kumimoji="1" lang="en-US" altLang="ko-KR" sz="2400" dirty="0"/>
              <a:t>- </a:t>
            </a:r>
            <a:r>
              <a:rPr kumimoji="1" lang="ko-KR" altLang="en-US" sz="2400" dirty="0"/>
              <a:t>타 연구에서 널리 사용된 </a:t>
            </a:r>
            <a:r>
              <a:rPr kumimoji="1" lang="en-US" altLang="ko-KR" sz="2400" dirty="0"/>
              <a:t>event-driven </a:t>
            </a:r>
            <a:r>
              <a:rPr kumimoji="1" lang="ko-KR" altLang="en-US" sz="2400" dirty="0"/>
              <a:t>시뮬레이터인 </a:t>
            </a:r>
            <a:r>
              <a:rPr kumimoji="1" lang="en-US" altLang="ko-KR" sz="2400" dirty="0" err="1"/>
              <a:t>Disksim</a:t>
            </a:r>
            <a:r>
              <a:rPr kumimoji="1" lang="ko-KR" altLang="en-US" sz="2400" dirty="0" err="1"/>
              <a:t>에</a:t>
            </a:r>
            <a:r>
              <a:rPr kumimoji="1" lang="ko-KR" altLang="en-US" sz="2400" dirty="0"/>
              <a:t> 기반하여 자체 시뮬레이션 프레임워크를 구축</a:t>
            </a:r>
            <a:endParaRPr kumimoji="1" lang="en-US" altLang="ko-KR" sz="2400" dirty="0"/>
          </a:p>
          <a:p>
            <a:r>
              <a:rPr lang="ko-KR" altLang="ko-KR" sz="2400" dirty="0"/>
              <a:t>[ </a:t>
            </a:r>
            <a:r>
              <a:rPr lang="ko-KR" altLang="ko-KR" sz="2400" dirty="0" err="1"/>
              <a:t>FlashSim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Architecture</a:t>
            </a:r>
            <a:r>
              <a:rPr lang="ko-KR" altLang="ko-KR" sz="2400" dirty="0"/>
              <a:t> &amp; </a:t>
            </a:r>
            <a:r>
              <a:rPr lang="ko-KR" altLang="ko-KR" sz="2400" dirty="0" err="1"/>
              <a:t>Simulation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Scope</a:t>
            </a:r>
            <a:r>
              <a:rPr lang="ko-KR" altLang="ko-KR" sz="2400" dirty="0"/>
              <a:t> ]</a:t>
            </a:r>
            <a:br>
              <a:rPr lang="en-US" altLang="ko-KR" sz="2400" dirty="0"/>
            </a:br>
            <a:r>
              <a:rPr lang="en-US" altLang="ko-KR" sz="2400" dirty="0"/>
              <a:t>- </a:t>
            </a:r>
            <a:r>
              <a:rPr lang="ko-KR" altLang="en-US" sz="2400" dirty="0"/>
              <a:t>전체 플래시 저장 환경을 </a:t>
            </a:r>
            <a:r>
              <a:rPr lang="ko-KR" altLang="en-US" sz="2400" dirty="0" err="1"/>
              <a:t>모듈화하여</a:t>
            </a:r>
            <a:r>
              <a:rPr lang="ko-KR" altLang="en-US" sz="2400" dirty="0"/>
              <a:t> 묘사</a:t>
            </a:r>
            <a:br>
              <a:rPr kumimoji="1" lang="en-US" altLang="ko-KR" sz="2400" dirty="0"/>
            </a:br>
            <a:r>
              <a:rPr kumimoji="1" lang="en-US" altLang="ko-KR" sz="2400" dirty="0"/>
              <a:t>-</a:t>
            </a:r>
            <a:r>
              <a:rPr kumimoji="1" lang="ko-KR" altLang="en-US" sz="2400" dirty="0"/>
              <a:t> </a:t>
            </a:r>
            <a:r>
              <a:rPr lang="ko-KR" altLang="ko-KR" sz="2400" dirty="0" err="1"/>
              <a:t>device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drivers</a:t>
            </a:r>
            <a:r>
              <a:rPr lang="ko-KR" altLang="ko-KR" sz="2400" dirty="0"/>
              <a:t>,</a:t>
            </a:r>
            <a:r>
              <a:rPr lang="ko-KR" altLang="en-US" sz="2400" dirty="0"/>
              <a:t> </a:t>
            </a:r>
            <a:r>
              <a:rPr lang="ko-KR" altLang="ko-KR" sz="2400" dirty="0" err="1"/>
              <a:t>controllers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caches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flash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devices</a:t>
            </a:r>
            <a:r>
              <a:rPr lang="en-US" altLang="ko-KR" sz="2400" dirty="0"/>
              <a:t>,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interconnects</a:t>
            </a:r>
            <a:endParaRPr lang="ko-KR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15465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B6FF-E653-DFEA-8C5B-30897274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CDD98-3C66-ABD3-7337-2286A8AD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0DEE15-6BCB-D67F-5A33-D5975D22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16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BCA5C-6E4E-3968-6F91-EB63A754CC7C}"/>
              </a:ext>
            </a:extLst>
          </p:cNvPr>
          <p:cNvSpPr txBox="1"/>
          <p:nvPr/>
        </p:nvSpPr>
        <p:spPr>
          <a:xfrm>
            <a:off x="239416" y="1635569"/>
            <a:ext cx="5259453" cy="427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[Environments]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/>
              <a:t>Flash Settings</a:t>
            </a:r>
            <a:br>
              <a:rPr lang="en-US" altLang="ko-KR" sz="1500" b="1" dirty="0"/>
            </a:br>
            <a:r>
              <a:rPr lang="en-US" altLang="ko-KR" sz="1500" b="1" dirty="0"/>
              <a:t>- </a:t>
            </a:r>
            <a:r>
              <a:rPr lang="en-US" altLang="ko-KR" sz="1500" dirty="0"/>
              <a:t>32GB NAND Flash</a:t>
            </a:r>
            <a:br>
              <a:rPr lang="en-US" altLang="ko-KR" sz="1500" b="1" dirty="0"/>
            </a:br>
            <a:r>
              <a:rPr lang="en-US" altLang="ko-KR" sz="1500" b="1" dirty="0"/>
              <a:t>- </a:t>
            </a:r>
            <a:r>
              <a:rPr lang="ko-KR" altLang="en-US" sz="1500" b="1" dirty="0"/>
              <a:t>일부 공간만 워크로드 저장되는 활성 영역으로 설정</a:t>
            </a:r>
            <a:endParaRPr lang="en-US" altLang="ko-KR" sz="1500" b="1" dirty="0"/>
          </a:p>
          <a:p>
            <a:pPr>
              <a:lnSpc>
                <a:spcPct val="150000"/>
              </a:lnSpc>
            </a:pPr>
            <a:endParaRPr lang="en-US" altLang="ko-KR" sz="15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/>
              <a:t>SRAM Settings</a:t>
            </a:r>
            <a:br>
              <a:rPr lang="en-US" altLang="ko-KR" sz="1500" b="1" dirty="0"/>
            </a:br>
            <a:r>
              <a:rPr lang="en-US" altLang="ko-KR" sz="1500" b="1" dirty="0"/>
              <a:t>- FAST </a:t>
            </a:r>
            <a:r>
              <a:rPr lang="ko-KR" altLang="en-US" sz="1500" b="1" dirty="0"/>
              <a:t>주소변환 정보 저장 시 필요한 최소 크기로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설정</a:t>
            </a:r>
            <a:endParaRPr lang="en-US" altLang="ko-KR" sz="1500" b="1" dirty="0"/>
          </a:p>
          <a:p>
            <a:pPr>
              <a:lnSpc>
                <a:spcPct val="150000"/>
              </a:lnSpc>
            </a:pPr>
            <a:endParaRPr lang="en-US" altLang="ko-KR" sz="15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/>
              <a:t>Test FTL</a:t>
            </a:r>
            <a:br>
              <a:rPr lang="en-US" altLang="ko-KR" sz="1500" b="1" dirty="0"/>
            </a:br>
            <a:r>
              <a:rPr lang="en-US" altLang="ko-KR" sz="1500" b="1" dirty="0"/>
              <a:t>- FAST:</a:t>
            </a:r>
            <a:r>
              <a:rPr lang="ko-KR" altLang="en-US" sz="1500" b="1" dirty="0"/>
              <a:t> 완전 연관형 </a:t>
            </a:r>
            <a:r>
              <a:rPr lang="en-US" altLang="ko-KR" sz="1500" b="1" dirty="0"/>
              <a:t>Hybrid FTL</a:t>
            </a:r>
            <a:br>
              <a:rPr lang="en-US" altLang="ko-KR" sz="1500" b="1" dirty="0"/>
            </a:br>
            <a:r>
              <a:rPr lang="en-US" altLang="ko-KR" sz="1500" b="1" dirty="0"/>
              <a:t>- DFTL: </a:t>
            </a:r>
            <a:r>
              <a:rPr lang="ko-KR" altLang="ko-KR" sz="1500" b="1" dirty="0"/>
              <a:t>수요 기반 </a:t>
            </a:r>
            <a:r>
              <a:rPr lang="ko-KR" altLang="en-US" sz="1500" b="1" dirty="0"/>
              <a:t>페이지 매핑 </a:t>
            </a:r>
            <a:r>
              <a:rPr lang="ko-KR" altLang="ko-KR" sz="1500" b="1" dirty="0"/>
              <a:t>FTL </a:t>
            </a:r>
            <a:br>
              <a:rPr lang="en-US" altLang="ko-KR" sz="1500" b="1" dirty="0"/>
            </a:br>
            <a:r>
              <a:rPr lang="en-US" altLang="ko-KR" sz="1500" b="1" dirty="0"/>
              <a:t>- Baseline: </a:t>
            </a:r>
            <a:r>
              <a:rPr lang="ko-KR" altLang="ko-KR" sz="1500" b="1" dirty="0"/>
              <a:t>이상적인 FTL</a:t>
            </a:r>
            <a:r>
              <a:rPr lang="en-US" altLang="ko-KR" sz="1500" b="1" dirty="0"/>
              <a:t> </a:t>
            </a:r>
            <a:r>
              <a:rPr lang="en-US" altLang="ko-KR" sz="1500" dirty="0"/>
              <a:t>(</a:t>
            </a:r>
            <a:r>
              <a:rPr lang="ko-KR" altLang="ko-KR" sz="1500" dirty="0"/>
              <a:t>순수 페이지 기반 FTL</a:t>
            </a:r>
            <a:r>
              <a:rPr lang="en-US" altLang="ko-KR" sz="1500" dirty="0"/>
              <a:t>)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E6F546F-4174-06BC-3F28-FF4143771A69}"/>
              </a:ext>
            </a:extLst>
          </p:cNvPr>
          <p:cNvGraphicFramePr>
            <a:graphicFrameLocks noGrp="1"/>
          </p:cNvGraphicFramePr>
          <p:nvPr/>
        </p:nvGraphicFramePr>
        <p:xfrm>
          <a:off x="6265285" y="1917496"/>
          <a:ext cx="5567323" cy="1930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951">
                  <a:extLst>
                    <a:ext uri="{9D8B030D-6E8A-4147-A177-3AD203B41FA5}">
                      <a16:colId xmlns:a16="http://schemas.microsoft.com/office/drawing/2014/main" val="388194141"/>
                    </a:ext>
                  </a:extLst>
                </a:gridCol>
                <a:gridCol w="2206186">
                  <a:extLst>
                    <a:ext uri="{9D8B030D-6E8A-4147-A177-3AD203B41FA5}">
                      <a16:colId xmlns:a16="http://schemas.microsoft.com/office/drawing/2014/main" val="1315809370"/>
                    </a:ext>
                  </a:extLst>
                </a:gridCol>
                <a:gridCol w="2206186">
                  <a:extLst>
                    <a:ext uri="{9D8B030D-6E8A-4147-A177-3AD203B41FA5}">
                      <a16:colId xmlns:a16="http://schemas.microsoft.com/office/drawing/2014/main" val="319420777"/>
                    </a:ext>
                  </a:extLst>
                </a:gridCol>
              </a:tblGrid>
              <a:tr h="2746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Workload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Definition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Features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59289"/>
                  </a:ext>
                </a:extLst>
              </a:tr>
              <a:tr h="4625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Financial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dirty="0"/>
                        <a:t>금융 OLTP 쓰기 </a:t>
                      </a:r>
                      <a:r>
                        <a:rPr lang="en-US" altLang="ko-KR" sz="1300" dirty="0"/>
                        <a:t>Trace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랜덤 쓰기</a:t>
                      </a:r>
                      <a:r>
                        <a:rPr lang="ko-KR" altLang="ko-KR" sz="1300" b="0" dirty="0">
                          <a:solidFill>
                            <a:schemeClr val="tx1"/>
                          </a:solidFill>
                        </a:rPr>
                        <a:t>가</a:t>
                      </a:r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ko-KR" altLang="ko-KR" sz="1300" dirty="0"/>
                        <a:t>매우 많은 OLTP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39689"/>
                  </a:ext>
                </a:extLst>
              </a:tr>
              <a:tr h="4625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Cello99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dirty="0"/>
                        <a:t>시분할 서버 디스크</a:t>
                      </a:r>
                      <a:r>
                        <a:rPr lang="en-US" altLang="ko-KR" sz="1300" dirty="0"/>
                        <a:t> Trace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쓰기가 많고 요청 강도가 높음</a:t>
                      </a:r>
                      <a:endParaRPr lang="ko-KR" altLang="en-US" sz="13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901136"/>
                  </a:ext>
                </a:extLst>
              </a:tr>
              <a:tr h="332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TPC-H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dirty="0"/>
                        <a:t>OLAP 의사결정 </a:t>
                      </a:r>
                      <a:r>
                        <a:rPr lang="en-US" altLang="ko-KR" sz="1300" dirty="0"/>
                        <a:t>Benchmark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읽기 중심 </a:t>
                      </a:r>
                      <a:r>
                        <a:rPr lang="ko-KR" altLang="ko-KR" sz="1300" dirty="0"/>
                        <a:t>OLAP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2903"/>
                  </a:ext>
                </a:extLst>
              </a:tr>
              <a:tr h="332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Web Search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dirty="0"/>
                        <a:t>읽기 중심 웹 검색 </a:t>
                      </a:r>
                      <a:r>
                        <a:rPr lang="en-US" altLang="ko-KR" sz="1300" dirty="0"/>
                        <a:t>Trace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300" dirty="0"/>
                        <a:t>거의 대부분 </a:t>
                      </a:r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읽기 요청</a:t>
                      </a:r>
                      <a:endParaRPr lang="ko-KR" altLang="en-US" sz="13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55609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AEE1540-4702-77D9-AF02-14772B5A9413}"/>
              </a:ext>
            </a:extLst>
          </p:cNvPr>
          <p:cNvSpPr txBox="1"/>
          <p:nvPr/>
        </p:nvSpPr>
        <p:spPr>
          <a:xfrm>
            <a:off x="5922609" y="1457930"/>
            <a:ext cx="187320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/>
              <a:t>Test Workloads</a:t>
            </a:r>
            <a:endParaRPr lang="ko-KR" altLang="en-US" sz="15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D78F6-CA57-95CF-F73C-F2A02254F774}"/>
              </a:ext>
            </a:extLst>
          </p:cNvPr>
          <p:cNvSpPr txBox="1"/>
          <p:nvPr/>
        </p:nvSpPr>
        <p:spPr>
          <a:xfrm>
            <a:off x="6020999" y="4092894"/>
            <a:ext cx="5243936" cy="2125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/>
              <a:t>Main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Performance Metrics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500" b="1" dirty="0"/>
              <a:t>GC </a:t>
            </a:r>
            <a:r>
              <a:rPr lang="ko-KR" altLang="en-US" sz="1500" b="1" dirty="0"/>
              <a:t>효율 및 </a:t>
            </a:r>
            <a:r>
              <a:rPr lang="en-US" altLang="ko-KR" sz="1500" b="1" dirty="0"/>
              <a:t>F</a:t>
            </a:r>
            <a:r>
              <a:rPr lang="ko-KR" altLang="ko-KR" sz="1500" b="1" dirty="0"/>
              <a:t>TL 내부 오버헤드</a:t>
            </a:r>
            <a:br>
              <a:rPr lang="en-US" altLang="ko-KR" sz="1500" b="1" dirty="0"/>
            </a:br>
            <a:r>
              <a:rPr lang="en-US" altLang="ko-KR" sz="1500" b="1" dirty="0"/>
              <a:t>- </a:t>
            </a:r>
            <a:r>
              <a:rPr lang="ko-KR" altLang="ko-KR" sz="1500" dirty="0"/>
              <a:t>병합 횟수와 유형, 블록 삭제 횟수</a:t>
            </a:r>
            <a:br>
              <a:rPr lang="en-US" altLang="ko-KR" sz="1500" dirty="0"/>
            </a:br>
            <a:r>
              <a:rPr lang="en-US" altLang="ko-KR" sz="1500" dirty="0"/>
              <a:t>- </a:t>
            </a:r>
            <a:r>
              <a:rPr lang="ko-KR" altLang="ko-KR" sz="1500" dirty="0"/>
              <a:t>유효 페이지 복사와</a:t>
            </a:r>
            <a:r>
              <a:rPr lang="en-US" altLang="ko-KR" sz="1500" dirty="0"/>
              <a:t> </a:t>
            </a:r>
            <a:r>
              <a:rPr lang="ko-KR" altLang="ko-KR" sz="1500" dirty="0"/>
              <a:t>추가 </a:t>
            </a:r>
            <a:r>
              <a:rPr lang="en-US" altLang="ko-KR" sz="1500" dirty="0"/>
              <a:t>Translation </a:t>
            </a:r>
            <a:r>
              <a:rPr lang="ko-KR" altLang="ko-KR" sz="1500" dirty="0" err="1"/>
              <a:t>Read</a:t>
            </a:r>
            <a:r>
              <a:rPr lang="ko-KR" altLang="ko-KR" sz="1500" dirty="0"/>
              <a:t>/</a:t>
            </a:r>
            <a:r>
              <a:rPr lang="ko-KR" altLang="ko-KR" sz="1500" dirty="0" err="1"/>
              <a:t>Write</a:t>
            </a:r>
            <a:endParaRPr lang="en-US" altLang="ko-KR" sz="15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500" b="1" dirty="0"/>
              <a:t>시스템 응답 시간</a:t>
            </a:r>
            <a:br>
              <a:rPr lang="en-US" altLang="ko-KR" sz="1500" b="1" dirty="0"/>
            </a:br>
            <a:r>
              <a:rPr lang="en-US" altLang="ko-KR" sz="1500" b="1" dirty="0"/>
              <a:t>- </a:t>
            </a:r>
            <a:r>
              <a:rPr lang="ko-KR" altLang="ko-KR" sz="1500" dirty="0"/>
              <a:t>장치 서비스 시간 + </a:t>
            </a:r>
            <a:r>
              <a:rPr lang="ko-KR" altLang="ko-KR" sz="1500" dirty="0" err="1"/>
              <a:t>I</a:t>
            </a:r>
            <a:r>
              <a:rPr lang="ko-KR" altLang="ko-KR" sz="1500" dirty="0"/>
              <a:t>/</a:t>
            </a:r>
            <a:r>
              <a:rPr lang="ko-KR" altLang="ko-KR" sz="1500" dirty="0" err="1"/>
              <a:t>O</a:t>
            </a:r>
            <a:r>
              <a:rPr lang="ko-KR" altLang="ko-KR" sz="1500" dirty="0"/>
              <a:t> </a:t>
            </a:r>
            <a:r>
              <a:rPr lang="ko-KR" altLang="ko-KR" sz="1500" dirty="0" err="1"/>
              <a:t>Driver</a:t>
            </a:r>
            <a:r>
              <a:rPr lang="ko-KR" altLang="ko-KR" sz="1500" dirty="0"/>
              <a:t> </a:t>
            </a:r>
            <a:r>
              <a:rPr lang="ko-KR" altLang="ko-KR" sz="1500" dirty="0" err="1"/>
              <a:t>큐잉</a:t>
            </a:r>
            <a:r>
              <a:rPr lang="ko-KR" altLang="ko-KR" sz="1500" dirty="0"/>
              <a:t> 지연시간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3905618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4574-348C-B039-7367-2328FED4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E4787-36BE-5D36-EADE-91B45C53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8FFE7D2-DDB6-57BB-6C84-52CEFBEA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17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CA0E9-A255-530E-93E3-92825DEE3A66}"/>
              </a:ext>
            </a:extLst>
          </p:cNvPr>
          <p:cNvSpPr txBox="1"/>
          <p:nvPr/>
        </p:nvSpPr>
        <p:spPr>
          <a:xfrm>
            <a:off x="239416" y="1635569"/>
            <a:ext cx="6350008" cy="80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1: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FTL 간 GC 및 주소 변환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Overhead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70AB00-8855-6C98-A3C0-8BBE2315C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60" y="2189973"/>
            <a:ext cx="5741693" cy="4124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DEF6E2-31AC-0CDD-7EA8-9DC7E12F1E58}"/>
              </a:ext>
            </a:extLst>
          </p:cNvPr>
          <p:cNvSpPr txBox="1"/>
          <p:nvPr/>
        </p:nvSpPr>
        <p:spPr>
          <a:xfrm>
            <a:off x="6232549" y="3429000"/>
            <a:ext cx="5806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Merge</a:t>
            </a:r>
            <a:r>
              <a:rPr lang="ko-KR" altLang="en-US" dirty="0"/>
              <a:t> 횟수는 </a:t>
            </a:r>
            <a:r>
              <a:rPr lang="en-US" altLang="ko-KR" dirty="0"/>
              <a:t>FAST</a:t>
            </a:r>
            <a:r>
              <a:rPr lang="ko-KR" altLang="en-US" dirty="0"/>
              <a:t>와 </a:t>
            </a:r>
            <a:r>
              <a:rPr lang="en-US" altLang="ko-KR" dirty="0"/>
              <a:t>DFTL</a:t>
            </a:r>
            <a:r>
              <a:rPr lang="ko-KR" altLang="en-US" dirty="0"/>
              <a:t>이 유사 </a:t>
            </a:r>
            <a:r>
              <a:rPr lang="en-US" altLang="ko-KR" dirty="0"/>
              <a:t>or DFTL</a:t>
            </a:r>
            <a:r>
              <a:rPr lang="ko-KR" altLang="en-US" dirty="0"/>
              <a:t>이 더 많음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b="1" dirty="0"/>
              <a:t>DFTL</a:t>
            </a:r>
            <a:r>
              <a:rPr lang="ko-KR" altLang="en-US" b="1" dirty="0"/>
              <a:t>에는 </a:t>
            </a:r>
            <a:r>
              <a:rPr lang="en-US" altLang="ko-KR" b="1" dirty="0"/>
              <a:t>Full Merge</a:t>
            </a:r>
            <a:r>
              <a:rPr lang="ko-KR" altLang="en-US" b="1" dirty="0"/>
              <a:t>가 발생하지 않음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7B76F3-4F7A-0ADB-E5BC-947B5F2960A8}"/>
              </a:ext>
            </a:extLst>
          </p:cNvPr>
          <p:cNvSpPr/>
          <p:nvPr/>
        </p:nvSpPr>
        <p:spPr>
          <a:xfrm>
            <a:off x="1289504" y="5479142"/>
            <a:ext cx="950686" cy="297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2D3F75-6E1E-1B99-0077-AB71A7801DB1}"/>
              </a:ext>
            </a:extLst>
          </p:cNvPr>
          <p:cNvSpPr/>
          <p:nvPr/>
        </p:nvSpPr>
        <p:spPr>
          <a:xfrm>
            <a:off x="2915104" y="5483677"/>
            <a:ext cx="950686" cy="297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878945-34B1-A949-252E-CDE3823851E6}"/>
              </a:ext>
            </a:extLst>
          </p:cNvPr>
          <p:cNvSpPr/>
          <p:nvPr/>
        </p:nvSpPr>
        <p:spPr>
          <a:xfrm>
            <a:off x="4540704" y="5479141"/>
            <a:ext cx="950686" cy="29754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AC0249-B54A-62B1-588B-C383DDAFBAAC}"/>
              </a:ext>
            </a:extLst>
          </p:cNvPr>
          <p:cNvSpPr/>
          <p:nvPr/>
        </p:nvSpPr>
        <p:spPr>
          <a:xfrm>
            <a:off x="965200" y="2660828"/>
            <a:ext cx="707390" cy="14120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E9095D-99E6-1C7A-E8D9-2C231D55F6E7}"/>
              </a:ext>
            </a:extLst>
          </p:cNvPr>
          <p:cNvSpPr/>
          <p:nvPr/>
        </p:nvSpPr>
        <p:spPr>
          <a:xfrm>
            <a:off x="2628899" y="2297430"/>
            <a:ext cx="670905" cy="134560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0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F258-9456-2D0E-B022-B2B2C29B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24AB0-EF66-154A-243A-19F48ED5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77689C-65E7-8AA1-9C23-A3DE67D5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18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042C6-6541-25E4-CA98-A725A937A161}"/>
              </a:ext>
            </a:extLst>
          </p:cNvPr>
          <p:cNvSpPr txBox="1"/>
          <p:nvPr/>
        </p:nvSpPr>
        <p:spPr>
          <a:xfrm>
            <a:off x="239416" y="1635569"/>
            <a:ext cx="6120778" cy="80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1: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FTL 간 GC 및 주소 변환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Overhead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D7E53-17CD-427B-BDEC-D373CEC565EE}"/>
              </a:ext>
            </a:extLst>
          </p:cNvPr>
          <p:cNvSpPr txBox="1"/>
          <p:nvPr/>
        </p:nvSpPr>
        <p:spPr>
          <a:xfrm>
            <a:off x="6740678" y="3551344"/>
            <a:ext cx="47900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FAST</a:t>
            </a:r>
            <a:r>
              <a:rPr lang="ko-KR" altLang="en-US" b="1" dirty="0"/>
              <a:t>는 </a:t>
            </a:r>
            <a:r>
              <a:rPr lang="en-US" altLang="ko-KR" b="1" dirty="0"/>
              <a:t>Full Merge</a:t>
            </a:r>
            <a:r>
              <a:rPr lang="ko-KR" altLang="en-US" b="1" dirty="0"/>
              <a:t>로 인한 삭제 횟수 증가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DFTL</a:t>
            </a:r>
            <a:r>
              <a:rPr lang="ko-KR" altLang="en-US" b="1" dirty="0"/>
              <a:t>은 </a:t>
            </a:r>
            <a:r>
              <a:rPr lang="en-US" altLang="ko-KR" b="1" dirty="0"/>
              <a:t>FAST</a:t>
            </a:r>
            <a:r>
              <a:rPr lang="ko-KR" altLang="en-US" b="1" dirty="0"/>
              <a:t>의 </a:t>
            </a:r>
            <a:r>
              <a:rPr lang="en-US" altLang="ko-KR" b="1" dirty="0"/>
              <a:t>1/3 </a:t>
            </a:r>
            <a:r>
              <a:rPr lang="ko-KR" altLang="en-US" b="1" dirty="0"/>
              <a:t>수준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873608-A4D3-71CA-A126-972DEE3B0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18" y="2210019"/>
            <a:ext cx="5942818" cy="417653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95989-072E-9C4F-26F3-E3A889D7A486}"/>
              </a:ext>
            </a:extLst>
          </p:cNvPr>
          <p:cNvSpPr/>
          <p:nvPr/>
        </p:nvSpPr>
        <p:spPr>
          <a:xfrm>
            <a:off x="1473200" y="5632449"/>
            <a:ext cx="950686" cy="297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747129-E42C-EFE1-C6B8-3F9EA6B59E63}"/>
              </a:ext>
            </a:extLst>
          </p:cNvPr>
          <p:cNvSpPr/>
          <p:nvPr/>
        </p:nvSpPr>
        <p:spPr>
          <a:xfrm>
            <a:off x="3175000" y="5636984"/>
            <a:ext cx="950686" cy="297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23E38D-39C6-9EAB-26D1-1745A866C84F}"/>
              </a:ext>
            </a:extLst>
          </p:cNvPr>
          <p:cNvSpPr/>
          <p:nvPr/>
        </p:nvSpPr>
        <p:spPr>
          <a:xfrm>
            <a:off x="4876800" y="5630270"/>
            <a:ext cx="950686" cy="29754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5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376C-D5CE-863F-5599-20DDAE28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36D8B2B-1C31-0B0D-AFA4-65D7484ED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76" y="2163752"/>
            <a:ext cx="5169820" cy="41789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465769A-1DC3-80E1-8DDE-DB0C5A4D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C324FF-6F81-7DD6-7B72-4389F3BE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19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98985-DA7B-B44A-1354-2A48E73948DC}"/>
              </a:ext>
            </a:extLst>
          </p:cNvPr>
          <p:cNvSpPr txBox="1"/>
          <p:nvPr/>
        </p:nvSpPr>
        <p:spPr>
          <a:xfrm>
            <a:off x="239416" y="1635569"/>
            <a:ext cx="6120778" cy="80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1: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FTL 간 GC 및 주소 변환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Overhead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61F25-7E98-B279-AFBC-ADFDB54B3260}"/>
              </a:ext>
            </a:extLst>
          </p:cNvPr>
          <p:cNvSpPr txBox="1"/>
          <p:nvPr/>
        </p:nvSpPr>
        <p:spPr>
          <a:xfrm>
            <a:off x="6122851" y="2336199"/>
            <a:ext cx="4011034" cy="1086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 err="1">
                <a:solidFill>
                  <a:schemeClr val="accent3">
                    <a:lumMod val="75000"/>
                  </a:schemeClr>
                </a:solidFill>
              </a:rPr>
              <a:t>Addr</a:t>
            </a:r>
            <a:r>
              <a:rPr lang="en-US" altLang="ko-KR" sz="1500" b="1" dirty="0">
                <a:solidFill>
                  <a:schemeClr val="accent3">
                    <a:lumMod val="75000"/>
                  </a:schemeClr>
                </a:solidFill>
              </a:rPr>
              <a:t> Translation Read: </a:t>
            </a:r>
            <a:r>
              <a:rPr lang="ko-KR" altLang="ko-KR" sz="1500" b="1" dirty="0">
                <a:solidFill>
                  <a:schemeClr val="accent3">
                    <a:lumMod val="75000"/>
                  </a:schemeClr>
                </a:solidFill>
              </a:rPr>
              <a:t>매핑 정보 읽기</a:t>
            </a:r>
            <a:endParaRPr lang="en-US" altLang="ko-KR" sz="15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 err="1">
                <a:solidFill>
                  <a:schemeClr val="accent3">
                    <a:lumMod val="75000"/>
                  </a:schemeClr>
                </a:solidFill>
              </a:rPr>
              <a:t>Addr</a:t>
            </a:r>
            <a:r>
              <a:rPr lang="en-US" altLang="ko-KR" sz="1500" b="1" dirty="0">
                <a:solidFill>
                  <a:schemeClr val="accent3">
                    <a:lumMod val="75000"/>
                  </a:schemeClr>
                </a:solidFill>
              </a:rPr>
              <a:t> Translation Write: </a:t>
            </a:r>
            <a:r>
              <a:rPr lang="ko-KR" altLang="ko-KR" sz="1500" b="1" dirty="0">
                <a:solidFill>
                  <a:schemeClr val="accent3">
                    <a:lumMod val="75000"/>
                  </a:schemeClr>
                </a:solidFill>
              </a:rPr>
              <a:t>매핑 정보 </a:t>
            </a:r>
            <a:r>
              <a:rPr lang="ko-KR" altLang="en-US" sz="1500" b="1" dirty="0">
                <a:solidFill>
                  <a:schemeClr val="accent3">
                    <a:lumMod val="75000"/>
                  </a:schemeClr>
                </a:solidFill>
              </a:rPr>
              <a:t>갱신</a:t>
            </a:r>
            <a:endParaRPr lang="en-US" altLang="ko-KR" sz="15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Valid Page Copy: </a:t>
            </a:r>
            <a:r>
              <a:rPr lang="ko-KR" altLang="en-US" sz="1500" b="1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유효 페이지 정보 복사</a:t>
            </a:r>
            <a:endParaRPr lang="en-US" altLang="ko-KR" sz="1500" b="1" dirty="0">
              <a:solidFill>
                <a:schemeClr val="accent3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F75E9F-4EE5-F95D-BA7A-E43729059BFA}"/>
              </a:ext>
            </a:extLst>
          </p:cNvPr>
          <p:cNvSpPr/>
          <p:nvPr/>
        </p:nvSpPr>
        <p:spPr>
          <a:xfrm>
            <a:off x="1412240" y="5590539"/>
            <a:ext cx="950686" cy="297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6334CD-96B7-BB74-897B-69344F9E913C}"/>
              </a:ext>
            </a:extLst>
          </p:cNvPr>
          <p:cNvSpPr/>
          <p:nvPr/>
        </p:nvSpPr>
        <p:spPr>
          <a:xfrm>
            <a:off x="2906848" y="5586361"/>
            <a:ext cx="950686" cy="297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7A455F-DA91-D451-3C6A-A1EAC0AE1D7C}"/>
              </a:ext>
            </a:extLst>
          </p:cNvPr>
          <p:cNvSpPr/>
          <p:nvPr/>
        </p:nvSpPr>
        <p:spPr>
          <a:xfrm>
            <a:off x="4401457" y="5588539"/>
            <a:ext cx="950686" cy="29754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88D90F-58D2-97BD-7855-FFB5037C80A7}"/>
              </a:ext>
            </a:extLst>
          </p:cNvPr>
          <p:cNvSpPr/>
          <p:nvPr/>
        </p:nvSpPr>
        <p:spPr>
          <a:xfrm>
            <a:off x="4940300" y="3009901"/>
            <a:ext cx="628650" cy="134620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25556-7AD0-3C59-BBD2-00BD60ABBB2D}"/>
              </a:ext>
            </a:extLst>
          </p:cNvPr>
          <p:cNvSpPr txBox="1"/>
          <p:nvPr/>
        </p:nvSpPr>
        <p:spPr>
          <a:xfrm>
            <a:off x="6122851" y="3882131"/>
            <a:ext cx="56060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b="1" dirty="0" err="1"/>
              <a:t>Write</a:t>
            </a:r>
            <a:r>
              <a:rPr lang="en-US" altLang="ko-KR" b="1" dirty="0"/>
              <a:t> </a:t>
            </a:r>
            <a:r>
              <a:rPr lang="ko-KR" altLang="en-US" b="1" dirty="0"/>
              <a:t>중심</a:t>
            </a:r>
            <a:r>
              <a:rPr lang="ko-KR" altLang="ko-KR" b="1" dirty="0"/>
              <a:t> 워크로</a:t>
            </a:r>
            <a:r>
              <a:rPr lang="ko-KR" altLang="en-US" b="1" dirty="0"/>
              <a:t>드에서 </a:t>
            </a:r>
            <a:r>
              <a:rPr lang="en-US" altLang="ko-KR" b="1" dirty="0"/>
              <a:t>DFTL</a:t>
            </a:r>
            <a:r>
              <a:rPr lang="ko-KR" altLang="en-US" b="1" dirty="0"/>
              <a:t>은 </a:t>
            </a:r>
            <a:br>
              <a:rPr lang="en-US" altLang="ko-KR" b="1" dirty="0"/>
            </a:br>
            <a:r>
              <a:rPr lang="ko-KR" altLang="ko-KR" b="1" dirty="0" err="1"/>
              <a:t>FAST의</a:t>
            </a:r>
            <a:r>
              <a:rPr lang="ko-KR" altLang="ko-KR" b="1" dirty="0"/>
              <a:t> 27%, 13% 수준의 </a:t>
            </a:r>
            <a:r>
              <a:rPr lang="ko-KR" altLang="ko-KR" b="1" dirty="0" err="1"/>
              <a:t>Overhead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Read </a:t>
            </a:r>
            <a:r>
              <a:rPr lang="ko-KR" altLang="en-US" b="1" dirty="0"/>
              <a:t>중심 워크로드에서는</a:t>
            </a:r>
            <a:br>
              <a:rPr lang="en-US" altLang="ko-KR" b="1" dirty="0"/>
            </a:br>
            <a:r>
              <a:rPr lang="ko-KR" altLang="ko-KR" b="1" dirty="0" err="1"/>
              <a:t>FAST와</a:t>
            </a:r>
            <a:r>
              <a:rPr lang="ko-KR" altLang="ko-KR" b="1" dirty="0"/>
              <a:t> </a:t>
            </a:r>
            <a:r>
              <a:rPr lang="ko-KR" altLang="ko-KR" b="1" dirty="0" err="1"/>
              <a:t>DFTL의</a:t>
            </a:r>
            <a:r>
              <a:rPr lang="ko-KR" altLang="ko-KR" b="1" dirty="0"/>
              <a:t> 추가 </a:t>
            </a:r>
            <a:r>
              <a:rPr lang="ko-KR" altLang="ko-KR" b="1" dirty="0" err="1"/>
              <a:t>R</a:t>
            </a:r>
            <a:r>
              <a:rPr lang="ko-KR" altLang="ko-KR" b="1" dirty="0"/>
              <a:t>/</a:t>
            </a:r>
            <a:r>
              <a:rPr lang="ko-KR" altLang="ko-KR" b="1" dirty="0" err="1"/>
              <a:t>W</a:t>
            </a:r>
            <a:r>
              <a:rPr lang="ko-KR" altLang="ko-KR" b="1" dirty="0"/>
              <a:t> </a:t>
            </a:r>
            <a:r>
              <a:rPr lang="ko-KR" altLang="ko-KR" b="1" dirty="0" err="1"/>
              <a:t>Overhead</a:t>
            </a:r>
            <a:r>
              <a:rPr lang="ko-KR" altLang="ko-KR" b="1" dirty="0"/>
              <a:t> 차이가 제한적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35312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4343-965D-FE9F-49DA-6F4B3B34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23033F4-ED21-3432-CF29-B852D589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04" y="2279677"/>
            <a:ext cx="5971581" cy="420367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EAA9DAC-977D-A731-A81E-D8188DBC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7FEEEA9-8331-6FF9-EEDA-D44ABDAB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20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5A0D5-B11F-AF3E-E7E5-5E72995C72C4}"/>
              </a:ext>
            </a:extLst>
          </p:cNvPr>
          <p:cNvSpPr txBox="1"/>
          <p:nvPr/>
        </p:nvSpPr>
        <p:spPr>
          <a:xfrm>
            <a:off x="239416" y="1635569"/>
            <a:ext cx="7078284" cy="80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1_Sub: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한 번에 포함되는 데이터 블록 수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4B48B-0CD1-4DE1-EFEB-1EDAD076E215}"/>
              </a:ext>
            </a:extLst>
          </p:cNvPr>
          <p:cNvSpPr txBox="1"/>
          <p:nvPr/>
        </p:nvSpPr>
        <p:spPr>
          <a:xfrm>
            <a:off x="6370369" y="3267417"/>
            <a:ext cx="26084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500" b="1" dirty="0"/>
              <a:t>Financial (20, 0.8)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위치</a:t>
            </a:r>
            <a:r>
              <a:rPr lang="ko-KR" altLang="ko-KR" sz="1500" b="1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3C37B2-7D76-9DFE-0889-1504897DC105}"/>
              </a:ext>
            </a:extLst>
          </p:cNvPr>
          <p:cNvSpPr/>
          <p:nvPr/>
        </p:nvSpPr>
        <p:spPr>
          <a:xfrm>
            <a:off x="8031889" y="3688606"/>
            <a:ext cx="2920194" cy="3108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80%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999054-1322-0FBD-2E2B-623FD736ACC7}"/>
              </a:ext>
            </a:extLst>
          </p:cNvPr>
          <p:cNvSpPr/>
          <p:nvPr/>
        </p:nvSpPr>
        <p:spPr>
          <a:xfrm>
            <a:off x="7354807" y="3687656"/>
            <a:ext cx="677082" cy="31181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20%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93CDBA-F69F-A1BA-46E8-F98493C9D0A3}"/>
              </a:ext>
            </a:extLst>
          </p:cNvPr>
          <p:cNvSpPr txBox="1"/>
          <p:nvPr/>
        </p:nvSpPr>
        <p:spPr>
          <a:xfrm>
            <a:off x="6370368" y="4124231"/>
            <a:ext cx="23278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500" b="1" dirty="0"/>
              <a:t>TPC-H (20, 0.4)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위치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29678-D364-4DE6-C226-78B3DDA75A37}"/>
              </a:ext>
            </a:extLst>
          </p:cNvPr>
          <p:cNvSpPr txBox="1"/>
          <p:nvPr/>
        </p:nvSpPr>
        <p:spPr>
          <a:xfrm>
            <a:off x="6379763" y="2156857"/>
            <a:ext cx="4992777" cy="102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3">
                    <a:lumMod val="50000"/>
                  </a:schemeClr>
                </a:solidFill>
              </a:rPr>
              <a:t>-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</a:rPr>
              <a:t>막대그래프 전체</a:t>
            </a:r>
            <a:r>
              <a:rPr lang="en-US" altLang="ko-KR" sz="1400" b="1" dirty="0">
                <a:solidFill>
                  <a:schemeClr val="accent3">
                    <a:lumMod val="50000"/>
                  </a:schemeClr>
                </a:solidFill>
              </a:rPr>
              <a:t>: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</a:rPr>
              <a:t>총 </a:t>
            </a:r>
            <a:r>
              <a:rPr lang="en-US" altLang="ko-KR" sz="1400" b="1" dirty="0">
                <a:solidFill>
                  <a:schemeClr val="accent3">
                    <a:lumMod val="50000"/>
                  </a:schemeClr>
                </a:solidFill>
              </a:rPr>
              <a:t>Full Merge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</a:rPr>
              <a:t>발생 횟수</a:t>
            </a:r>
            <a:endParaRPr lang="en-US" altLang="ko-KR" sz="1400" b="1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3">
                    <a:lumMod val="50000"/>
                  </a:schemeClr>
                </a:solidFill>
              </a:rPr>
              <a:t>- </a:t>
            </a:r>
            <a:r>
              <a:rPr lang="ko-KR" altLang="en-US" sz="1400" b="1" dirty="0">
                <a:solidFill>
                  <a:srgbClr val="7030A0"/>
                </a:solidFill>
              </a:rPr>
              <a:t>보라색</a:t>
            </a:r>
            <a:r>
              <a:rPr lang="en-US" altLang="ko-KR" sz="1400" b="1" dirty="0">
                <a:solidFill>
                  <a:srgbClr val="7030A0"/>
                </a:solidFill>
              </a:rPr>
              <a:t>: </a:t>
            </a:r>
            <a:r>
              <a:rPr lang="ko-KR" altLang="en-US" sz="1400" b="1" dirty="0">
                <a:solidFill>
                  <a:srgbClr val="7030A0"/>
                </a:solidFill>
              </a:rPr>
              <a:t>각 </a:t>
            </a:r>
            <a:r>
              <a:rPr lang="en-US" altLang="ko-KR" sz="1400" b="1" dirty="0">
                <a:solidFill>
                  <a:srgbClr val="7030A0"/>
                </a:solidFill>
              </a:rPr>
              <a:t>Full Merge</a:t>
            </a:r>
            <a:r>
              <a:rPr lang="ko-KR" altLang="en-US" sz="1400" b="1" dirty="0">
                <a:solidFill>
                  <a:srgbClr val="7030A0"/>
                </a:solidFill>
              </a:rPr>
              <a:t> 마다 </a:t>
            </a:r>
            <a:r>
              <a:rPr lang="en-US" altLang="ko-KR" sz="1400" b="1" dirty="0">
                <a:solidFill>
                  <a:srgbClr val="FF0000"/>
                </a:solidFill>
              </a:rPr>
              <a:t>20</a:t>
            </a:r>
            <a:r>
              <a:rPr lang="ko-KR" altLang="en-US" sz="1400" b="1" dirty="0">
                <a:solidFill>
                  <a:srgbClr val="FF0000"/>
                </a:solidFill>
              </a:rPr>
              <a:t>개 초과</a:t>
            </a:r>
            <a:r>
              <a:rPr lang="ko-KR" altLang="en-US" sz="1400" b="1" dirty="0">
                <a:solidFill>
                  <a:srgbClr val="7030A0"/>
                </a:solidFill>
              </a:rPr>
              <a:t> 데이터 블록 포함</a:t>
            </a:r>
            <a:endParaRPr lang="en-US" altLang="ko-KR" sz="1400" b="1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3">
                    <a:lumMod val="50000"/>
                  </a:schemeClr>
                </a:solidFill>
              </a:rPr>
              <a:t>- </a:t>
            </a:r>
            <a:r>
              <a:rPr lang="ko-KR" altLang="en-US" sz="1400" b="1" dirty="0">
                <a:solidFill>
                  <a:srgbClr val="00B0F0"/>
                </a:solidFill>
              </a:rPr>
              <a:t>하늘색</a:t>
            </a:r>
            <a:r>
              <a:rPr lang="en-US" altLang="ko-KR" sz="1400" b="1" dirty="0">
                <a:solidFill>
                  <a:srgbClr val="00B0F0"/>
                </a:solidFill>
              </a:rPr>
              <a:t>: </a:t>
            </a:r>
            <a:r>
              <a:rPr lang="ko-KR" altLang="en-US" sz="1400" b="1" dirty="0">
                <a:solidFill>
                  <a:srgbClr val="00B0F0"/>
                </a:solidFill>
              </a:rPr>
              <a:t>각 </a:t>
            </a:r>
            <a:r>
              <a:rPr lang="en-US" altLang="ko-KR" sz="1400" b="1" dirty="0">
                <a:solidFill>
                  <a:srgbClr val="00B0F0"/>
                </a:solidFill>
              </a:rPr>
              <a:t>Full Merge </a:t>
            </a:r>
            <a:r>
              <a:rPr lang="ko-KR" altLang="en-US" sz="1400" b="1" dirty="0">
                <a:solidFill>
                  <a:srgbClr val="00B0F0"/>
                </a:solidFill>
              </a:rPr>
              <a:t>마다 </a:t>
            </a:r>
            <a:r>
              <a:rPr lang="en-US" altLang="ko-KR" sz="1400" b="1" dirty="0">
                <a:solidFill>
                  <a:srgbClr val="FF0000"/>
                </a:solidFill>
              </a:rPr>
              <a:t>20</a:t>
            </a:r>
            <a:r>
              <a:rPr lang="ko-KR" altLang="en-US" sz="1400" b="1" dirty="0">
                <a:solidFill>
                  <a:srgbClr val="FF0000"/>
                </a:solidFill>
              </a:rPr>
              <a:t>개 이하 </a:t>
            </a:r>
            <a:r>
              <a:rPr lang="ko-KR" altLang="en-US" sz="1400" b="1" dirty="0">
                <a:solidFill>
                  <a:srgbClr val="00B0F0"/>
                </a:solidFill>
              </a:rPr>
              <a:t>데이터 블록 처리  </a:t>
            </a:r>
            <a:endParaRPr lang="ko-KR" altLang="ko-KR" sz="1400" b="1" dirty="0">
              <a:solidFill>
                <a:srgbClr val="00B0F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42E4FD2-422F-8ACC-8468-BB07CE3808D5}"/>
              </a:ext>
            </a:extLst>
          </p:cNvPr>
          <p:cNvSpPr>
            <a:spLocks noChangeAspect="1"/>
          </p:cNvSpPr>
          <p:nvPr/>
        </p:nvSpPr>
        <p:spPr>
          <a:xfrm>
            <a:off x="2369820" y="3041840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0018A84-88FC-B17A-EB81-9CA524866F25}"/>
              </a:ext>
            </a:extLst>
          </p:cNvPr>
          <p:cNvSpPr>
            <a:spLocks noChangeAspect="1"/>
          </p:cNvSpPr>
          <p:nvPr/>
        </p:nvSpPr>
        <p:spPr>
          <a:xfrm>
            <a:off x="2369820" y="44521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4CBADD-1ED4-D38E-C81F-422BEA2CBDBD}"/>
              </a:ext>
            </a:extLst>
          </p:cNvPr>
          <p:cNvSpPr txBox="1"/>
          <p:nvPr/>
        </p:nvSpPr>
        <p:spPr>
          <a:xfrm>
            <a:off x="2542920" y="3060257"/>
            <a:ext cx="10259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500" b="1" dirty="0"/>
              <a:t>(20, 0.8)</a:t>
            </a:r>
            <a:r>
              <a:rPr lang="en-US" altLang="ko-KR" sz="1500" b="1" dirty="0"/>
              <a:t> 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3D4BB5-1D00-2B65-DAE8-F7930C01DF62}"/>
              </a:ext>
            </a:extLst>
          </p:cNvPr>
          <p:cNvSpPr txBox="1"/>
          <p:nvPr/>
        </p:nvSpPr>
        <p:spPr>
          <a:xfrm>
            <a:off x="2529054" y="4548438"/>
            <a:ext cx="10259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500" b="1" dirty="0"/>
              <a:t>(20, 0.</a:t>
            </a:r>
            <a:r>
              <a:rPr lang="en-US" altLang="ko-KR" sz="1500" b="1" dirty="0"/>
              <a:t>4</a:t>
            </a:r>
            <a:r>
              <a:rPr lang="ko-KR" altLang="ko-KR" sz="1500" b="1" dirty="0"/>
              <a:t>)</a:t>
            </a:r>
            <a:r>
              <a:rPr lang="en-US" altLang="ko-KR" sz="1500" b="1" dirty="0"/>
              <a:t> </a:t>
            </a:r>
            <a:endParaRPr lang="ko-KR" altLang="en-US" b="1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2210F08-044A-731F-2B5C-2DC0742B4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239372"/>
              </p:ext>
            </p:extLst>
          </p:nvPr>
        </p:nvGraphicFramePr>
        <p:xfrm>
          <a:off x="6570572" y="5290600"/>
          <a:ext cx="4801968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88">
                  <a:extLst>
                    <a:ext uri="{9D8B030D-6E8A-4147-A177-3AD203B41FA5}">
                      <a16:colId xmlns:a16="http://schemas.microsoft.com/office/drawing/2014/main" val="388194141"/>
                    </a:ext>
                  </a:extLst>
                </a:gridCol>
                <a:gridCol w="1647265">
                  <a:extLst>
                    <a:ext uri="{9D8B030D-6E8A-4147-A177-3AD203B41FA5}">
                      <a16:colId xmlns:a16="http://schemas.microsoft.com/office/drawing/2014/main" val="1315809370"/>
                    </a:ext>
                  </a:extLst>
                </a:gridCol>
                <a:gridCol w="1157815">
                  <a:extLst>
                    <a:ext uri="{9D8B030D-6E8A-4147-A177-3AD203B41FA5}">
                      <a16:colId xmlns:a16="http://schemas.microsoft.com/office/drawing/2014/main" val="319420777"/>
                    </a:ext>
                  </a:extLst>
                </a:gridCol>
              </a:tblGrid>
              <a:tr h="258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Merge Type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Calculation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Total Blocks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59289"/>
                  </a:ext>
                </a:extLst>
              </a:tr>
              <a:tr h="258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Full Merge (Financial)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 x 21 + 80 x 10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C00000"/>
                          </a:solidFill>
                        </a:rPr>
                        <a:t>1220</a:t>
                      </a:r>
                      <a:r>
                        <a:rPr lang="ko-KR" altLang="en-US" sz="1300" b="1" dirty="0">
                          <a:solidFill>
                            <a:srgbClr val="C00000"/>
                          </a:solidFill>
                        </a:rPr>
                        <a:t>개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39689"/>
                  </a:ext>
                </a:extLst>
              </a:tr>
              <a:tr h="258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Full Merge (TPC-H)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60 x 21 + 40 x 10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C00000"/>
                          </a:solidFill>
                        </a:rPr>
                        <a:t>1660</a:t>
                      </a:r>
                      <a:r>
                        <a:rPr lang="ko-KR" altLang="en-US" sz="1300" b="1" dirty="0">
                          <a:solidFill>
                            <a:srgbClr val="C00000"/>
                          </a:solidFill>
                        </a:rPr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901136"/>
                  </a:ext>
                </a:extLst>
              </a:tr>
              <a:tr h="258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Switch/Partial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100 x 1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C00000"/>
                          </a:solidFill>
                        </a:rPr>
                        <a:t>100</a:t>
                      </a:r>
                      <a:r>
                        <a:rPr lang="ko-KR" altLang="en-US" sz="1300" b="1" dirty="0">
                          <a:solidFill>
                            <a:srgbClr val="C00000"/>
                          </a:solidFill>
                        </a:rPr>
                        <a:t>개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290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7E70ADC0-BAFB-B0BB-FF5B-A16F1BA48F83}"/>
              </a:ext>
            </a:extLst>
          </p:cNvPr>
          <p:cNvSpPr/>
          <p:nvPr/>
        </p:nvSpPr>
        <p:spPr>
          <a:xfrm>
            <a:off x="9563986" y="4545420"/>
            <a:ext cx="1388096" cy="3108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40%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F8BB949-79E8-617A-DD11-3051B8894A7D}"/>
              </a:ext>
            </a:extLst>
          </p:cNvPr>
          <p:cNvSpPr/>
          <p:nvPr/>
        </p:nvSpPr>
        <p:spPr>
          <a:xfrm>
            <a:off x="7354806" y="4544470"/>
            <a:ext cx="2209179" cy="31181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60%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D3AFB-98EE-3C79-DE21-DC6150BDE02C}"/>
              </a:ext>
            </a:extLst>
          </p:cNvPr>
          <p:cNvSpPr txBox="1"/>
          <p:nvPr/>
        </p:nvSpPr>
        <p:spPr>
          <a:xfrm>
            <a:off x="6490933" y="5030728"/>
            <a:ext cx="48221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</a:rPr>
              <a:t>(Merge 100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</a:rPr>
              <a:t>회 수행 가정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</a:rPr>
              <a:t>. 20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</a:rPr>
              <a:t>개 이하 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= 10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개 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/ 20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개 초과 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= 21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개 일반화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685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78950-387E-34C7-BAB8-CB44CAC7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05000-4F40-3673-6BAB-F2BB54A5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0BD9EB-6846-B86E-E88E-BDB22FA0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21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1721E-0F97-5329-A585-9192AC544D60}"/>
              </a:ext>
            </a:extLst>
          </p:cNvPr>
          <p:cNvSpPr txBox="1"/>
          <p:nvPr/>
        </p:nvSpPr>
        <p:spPr>
          <a:xfrm>
            <a:off x="174300" y="1181277"/>
            <a:ext cx="4819909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2: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(Financial Trace)]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37AFC6-E51E-865F-8947-DA76BD05BA53}"/>
              </a:ext>
            </a:extLst>
          </p:cNvPr>
          <p:cNvSpPr txBox="1"/>
          <p:nvPr/>
        </p:nvSpPr>
        <p:spPr>
          <a:xfrm>
            <a:off x="5903996" y="3032875"/>
            <a:ext cx="55903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7030A0"/>
                </a:solidFill>
              </a:rPr>
              <a:t>(Financial: Write 91%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en-US" altLang="ko-KR" b="1" dirty="0">
                <a:solidFill>
                  <a:srgbClr val="7030A0"/>
                </a:solidFill>
              </a:rPr>
              <a:t>+ </a:t>
            </a:r>
            <a:r>
              <a:rPr lang="ko-KR" altLang="en-US" b="1" dirty="0">
                <a:solidFill>
                  <a:srgbClr val="7030A0"/>
                </a:solidFill>
              </a:rPr>
              <a:t>평균 요청 간격 </a:t>
            </a:r>
            <a:r>
              <a:rPr lang="en-US" altLang="ko-KR" b="1" dirty="0">
                <a:solidFill>
                  <a:srgbClr val="7030A0"/>
                </a:solidFill>
              </a:rPr>
              <a:t>133ms)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DFTL</a:t>
            </a:r>
            <a:r>
              <a:rPr lang="ko-KR" altLang="en-US" b="1" dirty="0"/>
              <a:t>은 </a:t>
            </a:r>
            <a:r>
              <a:rPr lang="en-US" altLang="ko-KR" b="1" dirty="0"/>
              <a:t>16ms </a:t>
            </a:r>
            <a:r>
              <a:rPr lang="ko-KR" altLang="en-US" b="1" dirty="0"/>
              <a:t>이후 모든 요청 처리</a:t>
            </a:r>
            <a:endParaRPr lang="en-US" altLang="ko-KR" b="1" dirty="0"/>
          </a:p>
          <a:p>
            <a:pPr algn="ctr"/>
            <a:r>
              <a:rPr lang="en-US" altLang="ko-KR" b="1" dirty="0"/>
              <a:t>FAST</a:t>
            </a:r>
            <a:r>
              <a:rPr lang="ko-KR" altLang="en-US" b="1" dirty="0"/>
              <a:t>는 </a:t>
            </a:r>
            <a:r>
              <a:rPr lang="en-US" altLang="ko-KR" b="1" dirty="0"/>
              <a:t>128ms</a:t>
            </a:r>
            <a:r>
              <a:rPr lang="ko-KR" altLang="en-US" b="1" dirty="0"/>
              <a:t>에서도 완료 </a:t>
            </a:r>
            <a:r>
              <a:rPr lang="en-US" altLang="ko-KR" b="1" dirty="0"/>
              <a:t>X</a:t>
            </a:r>
          </a:p>
          <a:p>
            <a:pPr algn="ctr"/>
            <a:br>
              <a:rPr lang="en-US" altLang="ko-KR" b="1" dirty="0"/>
            </a:b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ko-KR" b="1" dirty="0" err="1"/>
              <a:t>DFTL이</a:t>
            </a:r>
            <a:r>
              <a:rPr lang="ko-KR" altLang="ko-KR" b="1" dirty="0"/>
              <a:t> FAST 비해 전체 </a:t>
            </a:r>
            <a:r>
              <a:rPr lang="ko-KR" altLang="ko-KR" b="1" dirty="0" err="1"/>
              <a:t>I</a:t>
            </a:r>
            <a:r>
              <a:rPr lang="ko-KR" altLang="ko-KR" b="1" dirty="0"/>
              <a:t>/</a:t>
            </a:r>
            <a:r>
              <a:rPr lang="ko-KR" altLang="ko-KR" b="1" dirty="0" err="1"/>
              <a:t>O</a:t>
            </a:r>
            <a:r>
              <a:rPr lang="ko-KR" altLang="ko-KR" b="1" dirty="0"/>
              <a:t> 응답 시간 78% 향상</a:t>
            </a:r>
            <a:endParaRPr lang="ko-KR" altLang="en-US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AF9F796-BD5A-95E9-398F-D7C484C9E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68" y="1818074"/>
            <a:ext cx="4974672" cy="449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89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11CF-C666-E243-90ED-3ADC41AF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74828-D2A1-4D89-706B-6AAB02EF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33241A-0FB4-8F04-FE63-99D5D760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22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72C12-E1BB-143C-A895-D455E7AE5FA9}"/>
              </a:ext>
            </a:extLst>
          </p:cNvPr>
          <p:cNvSpPr txBox="1"/>
          <p:nvPr/>
        </p:nvSpPr>
        <p:spPr>
          <a:xfrm>
            <a:off x="174300" y="1181277"/>
            <a:ext cx="4019818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2: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(Cello99)]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0C7DCB-190B-57F7-74FF-5A441BDA0EBB}"/>
              </a:ext>
            </a:extLst>
          </p:cNvPr>
          <p:cNvSpPr txBox="1"/>
          <p:nvPr/>
        </p:nvSpPr>
        <p:spPr>
          <a:xfrm>
            <a:off x="6238115" y="3111722"/>
            <a:ext cx="49533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7030A0"/>
                </a:solidFill>
              </a:rPr>
              <a:t>(Cello99: Write 65%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en-US" altLang="ko-KR" b="1" dirty="0">
                <a:solidFill>
                  <a:srgbClr val="7030A0"/>
                </a:solidFill>
              </a:rPr>
              <a:t>+ </a:t>
            </a:r>
            <a:r>
              <a:rPr lang="ko-KR" altLang="en-US" b="1" dirty="0">
                <a:solidFill>
                  <a:srgbClr val="7030A0"/>
                </a:solidFill>
              </a:rPr>
              <a:t>평균 요청 간격 </a:t>
            </a:r>
            <a:r>
              <a:rPr lang="en-US" altLang="ko-KR" b="1" dirty="0">
                <a:solidFill>
                  <a:srgbClr val="7030A0"/>
                </a:solidFill>
              </a:rPr>
              <a:t>4ms)</a:t>
            </a:r>
          </a:p>
          <a:p>
            <a:pPr algn="ctr"/>
            <a:endParaRPr lang="en-US" altLang="ko-KR" b="1" dirty="0"/>
          </a:p>
          <a:p>
            <a:pPr algn="ctr"/>
            <a:r>
              <a:rPr lang="ko-KR" altLang="ko-KR" b="1" dirty="0"/>
              <a:t>더 높은 강도의 </a:t>
            </a:r>
            <a:r>
              <a:rPr lang="ko-KR" altLang="ko-KR" b="1" dirty="0" err="1"/>
              <a:t>write</a:t>
            </a:r>
            <a:r>
              <a:rPr lang="ko-KR" altLang="ko-KR" b="1" dirty="0"/>
              <a:t> 워크로드</a:t>
            </a:r>
            <a:r>
              <a:rPr lang="en-US" altLang="ko-KR" b="1" dirty="0"/>
              <a:t> </a:t>
            </a:r>
          </a:p>
          <a:p>
            <a:pPr algn="ctr"/>
            <a:endParaRPr lang="en-US" altLang="ko-KR" b="1" dirty="0">
              <a:sym typeface="Wingdings" panose="05000000000000000000" pitchFamily="2" charset="2"/>
            </a:endParaRPr>
          </a:p>
          <a:p>
            <a:pPr algn="ctr"/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ko-KR" b="1" dirty="0"/>
              <a:t> </a:t>
            </a:r>
            <a:r>
              <a:rPr lang="ko-KR" altLang="ko-KR" b="1" dirty="0" err="1"/>
              <a:t>DFTL과</a:t>
            </a:r>
            <a:r>
              <a:rPr lang="ko-KR" altLang="ko-KR" b="1" dirty="0"/>
              <a:t> </a:t>
            </a:r>
            <a:r>
              <a:rPr lang="ko-KR" altLang="ko-KR" b="1" dirty="0" err="1"/>
              <a:t>FAST의</a:t>
            </a:r>
            <a:r>
              <a:rPr lang="ko-KR" altLang="ko-KR" b="1" dirty="0"/>
              <a:t> 성능 차이가 커짐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4AFC0-5B8A-686E-7DA0-1D4BD6DA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32" y="1778096"/>
            <a:ext cx="504895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7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3B5C-2DF0-6D42-686C-38BA392E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76A21-A450-742A-2873-BF46AB35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6FB6CD-0FBA-06D1-474A-A858A3D1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23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D2F9E-2A04-109A-CA4B-D994BA0C430E}"/>
              </a:ext>
            </a:extLst>
          </p:cNvPr>
          <p:cNvSpPr txBox="1"/>
          <p:nvPr/>
        </p:nvSpPr>
        <p:spPr>
          <a:xfrm>
            <a:off x="174300" y="1181277"/>
            <a:ext cx="4050276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2: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(TPC-H)]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7F9F24-C3CF-EB70-CC41-DF9152F3CC5A}"/>
              </a:ext>
            </a:extLst>
          </p:cNvPr>
          <p:cNvSpPr txBox="1"/>
          <p:nvPr/>
        </p:nvSpPr>
        <p:spPr>
          <a:xfrm>
            <a:off x="5900615" y="3032875"/>
            <a:ext cx="56057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7030A0"/>
                </a:solidFill>
              </a:rPr>
              <a:t>(TPC-H: Read 95%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en-US" altLang="ko-KR" b="1" dirty="0">
                <a:solidFill>
                  <a:srgbClr val="7030A0"/>
                </a:solidFill>
              </a:rPr>
              <a:t>+</a:t>
            </a:r>
            <a:r>
              <a:rPr lang="ko-KR" altLang="en-US" b="1" dirty="0">
                <a:solidFill>
                  <a:srgbClr val="7030A0"/>
                </a:solidFill>
              </a:rPr>
              <a:t> 평균 요청 간격 </a:t>
            </a:r>
            <a:r>
              <a:rPr lang="en-US" altLang="ko-KR" b="1" dirty="0">
                <a:solidFill>
                  <a:srgbClr val="7030A0"/>
                </a:solidFill>
              </a:rPr>
              <a:t>155ms)</a:t>
            </a:r>
          </a:p>
          <a:p>
            <a:pPr algn="ctr"/>
            <a:endParaRPr lang="en-US" altLang="ko-KR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ko-KR" altLang="ko-KR" b="1" dirty="0"/>
              <a:t>전체 95% </a:t>
            </a:r>
            <a:r>
              <a:rPr lang="ko-KR" altLang="ko-KR" b="1" dirty="0" err="1"/>
              <a:t>Read</a:t>
            </a:r>
            <a:r>
              <a:rPr lang="ko-KR" altLang="ko-KR" b="1" dirty="0"/>
              <a:t> 요청을 빠르게 처리</a:t>
            </a:r>
            <a:r>
              <a:rPr lang="ko-KR" altLang="en-US" b="1" dirty="0"/>
              <a:t>해도 </a:t>
            </a:r>
            <a:br>
              <a:rPr lang="en-US" altLang="ko-KR" b="1" dirty="0"/>
            </a:br>
            <a:r>
              <a:rPr lang="ko-KR" altLang="ko-KR" b="1" dirty="0"/>
              <a:t>나머지 요청에서 긴 지연 발생</a:t>
            </a:r>
            <a:r>
              <a:rPr lang="en-US" altLang="ko-KR" b="1" dirty="0"/>
              <a:t> </a:t>
            </a:r>
            <a:r>
              <a:rPr lang="ko-KR" altLang="ko-KR" b="1" dirty="0"/>
              <a:t>(꼬리 </a:t>
            </a:r>
            <a:r>
              <a:rPr lang="ko-KR" altLang="en-US" b="1" dirty="0"/>
              <a:t>지연</a:t>
            </a:r>
            <a:r>
              <a:rPr lang="ko-KR" altLang="ko-KR" b="1" dirty="0"/>
              <a:t>) </a:t>
            </a:r>
            <a:endParaRPr lang="en-US" altLang="ko-KR" b="1" dirty="0"/>
          </a:p>
          <a:p>
            <a:pPr algn="ctr"/>
            <a:br>
              <a:rPr lang="en-US" altLang="ko-KR" b="1" dirty="0"/>
            </a:b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누적 처리량 증가할수록</a:t>
            </a:r>
            <a:r>
              <a:rPr lang="ko-KR" altLang="ko-KR" b="1" dirty="0"/>
              <a:t> 성능이 </a:t>
            </a:r>
            <a:r>
              <a:rPr lang="ko-KR" altLang="ko-KR" b="1" dirty="0" err="1"/>
              <a:t>DFTL보다</a:t>
            </a:r>
            <a:r>
              <a:rPr lang="ko-KR" altLang="ko-KR" b="1" dirty="0"/>
              <a:t> 낮아짐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0943AA-DDD9-64DA-3A37-50781CEA6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01" y="1845543"/>
            <a:ext cx="5012914" cy="454529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EB21A48-CB84-F054-D682-53D727778558}"/>
              </a:ext>
            </a:extLst>
          </p:cNvPr>
          <p:cNvCxnSpPr>
            <a:cxnSpLocks/>
          </p:cNvCxnSpPr>
          <p:nvPr/>
        </p:nvCxnSpPr>
        <p:spPr>
          <a:xfrm flipH="1" flipV="1">
            <a:off x="3102708" y="2006600"/>
            <a:ext cx="27842" cy="282575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16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71C0-0761-71C5-FD81-FC5CECBC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56258-BC34-DEF4-1B20-1F92F3B5E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538381-5935-B96A-845D-19A9D277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24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E9D2-26BD-8E4E-721C-85520D6C15BC}"/>
              </a:ext>
            </a:extLst>
          </p:cNvPr>
          <p:cNvSpPr txBox="1"/>
          <p:nvPr/>
        </p:nvSpPr>
        <p:spPr>
          <a:xfrm>
            <a:off x="174300" y="1181277"/>
            <a:ext cx="4525085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2: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(Web-Search)]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064F5E-ABB0-E14C-E37B-528DDC255B47}"/>
              </a:ext>
            </a:extLst>
          </p:cNvPr>
          <p:cNvSpPr txBox="1"/>
          <p:nvPr/>
        </p:nvSpPr>
        <p:spPr>
          <a:xfrm>
            <a:off x="5807172" y="3032875"/>
            <a:ext cx="544777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7030A0"/>
                </a:solidFill>
              </a:rPr>
              <a:t>(Web-Search: Read 99%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en-US" altLang="ko-KR" b="1" dirty="0">
                <a:solidFill>
                  <a:srgbClr val="7030A0"/>
                </a:solidFill>
              </a:rPr>
              <a:t>+</a:t>
            </a:r>
            <a:r>
              <a:rPr lang="ko-KR" altLang="en-US" b="1" dirty="0">
                <a:solidFill>
                  <a:srgbClr val="7030A0"/>
                </a:solidFill>
              </a:rPr>
              <a:t> 평균 요청 간격 </a:t>
            </a:r>
            <a:r>
              <a:rPr lang="en-US" altLang="ko-KR" b="1" dirty="0">
                <a:solidFill>
                  <a:srgbClr val="7030A0"/>
                </a:solidFill>
              </a:rPr>
              <a:t>10ms)</a:t>
            </a:r>
          </a:p>
          <a:p>
            <a:pPr algn="ctr"/>
            <a:endParaRPr lang="en-US" altLang="ko-KR" b="1" dirty="0"/>
          </a:p>
          <a:p>
            <a:pPr algn="ctr"/>
            <a:r>
              <a:rPr lang="ko-KR" altLang="ko-KR" b="1" dirty="0" err="1"/>
              <a:t>FAST는</a:t>
            </a:r>
            <a:r>
              <a:rPr lang="ko-KR" altLang="ko-KR" b="1" dirty="0"/>
              <a:t> 베이스라인과 유사한 성능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DFTL</a:t>
            </a:r>
            <a:r>
              <a:rPr lang="ko-KR" altLang="en-US" b="1" dirty="0"/>
              <a:t>은 </a:t>
            </a:r>
            <a:r>
              <a:rPr lang="ko-KR" altLang="ko-KR" b="1" dirty="0" err="1"/>
              <a:t>Full</a:t>
            </a:r>
            <a:r>
              <a:rPr lang="ko-KR" altLang="ko-KR" b="1" dirty="0"/>
              <a:t> </a:t>
            </a:r>
            <a:r>
              <a:rPr lang="ko-KR" altLang="ko-KR" b="1" dirty="0" err="1"/>
              <a:t>Merge</a:t>
            </a:r>
            <a:r>
              <a:rPr lang="ko-KR" altLang="ko-KR" b="1" dirty="0"/>
              <a:t> 제거 효과보다 </a:t>
            </a:r>
            <a:endParaRPr lang="en-US" altLang="ko-KR" b="1" dirty="0"/>
          </a:p>
          <a:p>
            <a:pPr algn="ctr"/>
            <a:r>
              <a:rPr lang="ko-KR" altLang="ko-KR" b="1" dirty="0"/>
              <a:t>주소 변환 오버헤드의 영향이 더 크게 나타</a:t>
            </a:r>
            <a:r>
              <a:rPr lang="ko-KR" altLang="en-US" b="1" dirty="0"/>
              <a:t>남</a:t>
            </a:r>
            <a:endParaRPr lang="en-US" altLang="ko-KR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A4191A-FE11-86A9-4F15-95D273040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18" y="1801792"/>
            <a:ext cx="5264475" cy="470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2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DD236-E83D-6768-D452-74DD3C15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A4C64-29AE-1EA6-19C9-B94D9A0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EFFABEC-A8EE-1AC4-BB16-8BFFF5D9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25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89E46-A6D1-A45E-5B86-42371B0F625C}"/>
              </a:ext>
            </a:extLst>
          </p:cNvPr>
          <p:cNvSpPr txBox="1"/>
          <p:nvPr/>
        </p:nvSpPr>
        <p:spPr>
          <a:xfrm>
            <a:off x="174300" y="1181277"/>
            <a:ext cx="2960234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2: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성능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7AC554-752F-6113-2402-83030F3AB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445" y="1889545"/>
            <a:ext cx="2892303" cy="25835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247714-D802-586C-27DB-654E896B3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18" y="1860294"/>
            <a:ext cx="2894707" cy="26128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7E033D-B7A1-D725-98FF-667034154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72" y="1889547"/>
            <a:ext cx="2849373" cy="25835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4DB1D76-E62B-0AF1-2248-1043EC450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3119" y="1889546"/>
            <a:ext cx="2870638" cy="25835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B02F7E-43B7-C350-0998-A90E997A0EA7}"/>
              </a:ext>
            </a:extLst>
          </p:cNvPr>
          <p:cNvSpPr txBox="1"/>
          <p:nvPr/>
        </p:nvSpPr>
        <p:spPr>
          <a:xfrm>
            <a:off x="907689" y="4697844"/>
            <a:ext cx="194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</a:rPr>
              <a:t>Financial (write)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2BCA5-3CBC-9F97-9964-F80998E8CA85}"/>
              </a:ext>
            </a:extLst>
          </p:cNvPr>
          <p:cNvSpPr txBox="1"/>
          <p:nvPr/>
        </p:nvSpPr>
        <p:spPr>
          <a:xfrm>
            <a:off x="3879121" y="4675481"/>
            <a:ext cx="17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</a:rPr>
              <a:t>Cello99 (write)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C5D0C-1E8A-68CC-A082-0A4F7495F82E}"/>
              </a:ext>
            </a:extLst>
          </p:cNvPr>
          <p:cNvSpPr txBox="1"/>
          <p:nvPr/>
        </p:nvSpPr>
        <p:spPr>
          <a:xfrm>
            <a:off x="6803716" y="4697844"/>
            <a:ext cx="16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TPC-H (read)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7508D-7E1F-E422-FDA6-369BFCD0CE00}"/>
              </a:ext>
            </a:extLst>
          </p:cNvPr>
          <p:cNvSpPr txBox="1"/>
          <p:nvPr/>
        </p:nvSpPr>
        <p:spPr>
          <a:xfrm>
            <a:off x="9318760" y="4697844"/>
            <a:ext cx="223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Web-Search (read)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0A3D12-2E36-1BEB-1CD4-528E6214736B}"/>
              </a:ext>
            </a:extLst>
          </p:cNvPr>
          <p:cNvSpPr txBox="1"/>
          <p:nvPr/>
        </p:nvSpPr>
        <p:spPr>
          <a:xfrm>
            <a:off x="462895" y="5771050"/>
            <a:ext cx="113563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/>
              <a:t>DFTL</a:t>
            </a:r>
            <a:r>
              <a:rPr lang="ko-KR" altLang="en-US" sz="1500" b="1" dirty="0"/>
              <a:t>은 </a:t>
            </a:r>
            <a:r>
              <a:rPr lang="en-US" altLang="ko-KR" sz="1500" b="1" dirty="0"/>
              <a:t>Write </a:t>
            </a:r>
            <a:r>
              <a:rPr lang="ko-KR" altLang="en-US" sz="1500" b="1" dirty="0"/>
              <a:t>중심 워크로드에서 우수한 성능을 보이고</a:t>
            </a:r>
            <a:r>
              <a:rPr lang="en-US" altLang="ko-KR" sz="1500" b="1" dirty="0"/>
              <a:t>, Read</a:t>
            </a:r>
            <a:r>
              <a:rPr lang="ko-KR" altLang="en-US" sz="1500" b="1" dirty="0"/>
              <a:t>에서도 전반적으로 </a:t>
            </a:r>
            <a:r>
              <a:rPr lang="en-US" altLang="ko-KR" sz="1500" b="1" dirty="0"/>
              <a:t>FAST</a:t>
            </a:r>
            <a:r>
              <a:rPr lang="ko-KR" altLang="en-US" sz="1500" b="1" dirty="0"/>
              <a:t>와 큰 성능 차이를 보이지 않음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416439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AA42A-2672-7DF5-393E-E2D94461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5463D-D6EA-9F5A-7E11-CFD28728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A48DA-C7A9-ADBA-CF89-DFBF8B18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26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15460-0825-C8D5-9721-9279CE134E1D}"/>
              </a:ext>
            </a:extLst>
          </p:cNvPr>
          <p:cNvSpPr txBox="1"/>
          <p:nvPr/>
        </p:nvSpPr>
        <p:spPr>
          <a:xfrm>
            <a:off x="174300" y="1181277"/>
            <a:ext cx="5595571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3: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더 넓은 범위의 워크로드 특성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C3E23F-5C96-334F-75FD-338EB08B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225" y="1620883"/>
            <a:ext cx="7903538" cy="3704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8FFEB4-D694-64D5-11CA-E5E4AB46C6FB}"/>
              </a:ext>
            </a:extLst>
          </p:cNvPr>
          <p:cNvSpPr txBox="1"/>
          <p:nvPr/>
        </p:nvSpPr>
        <p:spPr>
          <a:xfrm>
            <a:off x="5904224" y="1131424"/>
            <a:ext cx="52114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7030A0"/>
                </a:solidFill>
                <a:effectLst/>
              </a:rPr>
              <a:t>워크로드의 </a:t>
            </a:r>
            <a:r>
              <a:rPr lang="ko-KR" altLang="ko-KR" sz="1500" b="1" dirty="0">
                <a:solidFill>
                  <a:srgbClr val="7030A0"/>
                </a:solidFill>
                <a:effectLst/>
              </a:rPr>
              <a:t>요청 </a:t>
            </a:r>
            <a:r>
              <a:rPr lang="ko-KR" altLang="ko-KR" sz="1500" b="1" dirty="0" err="1">
                <a:solidFill>
                  <a:srgbClr val="7030A0"/>
                </a:solidFill>
                <a:effectLst/>
              </a:rPr>
              <a:t>도착률을</a:t>
            </a:r>
            <a:r>
              <a:rPr lang="ko-KR" altLang="ko-KR" sz="1500" b="1" dirty="0">
                <a:solidFill>
                  <a:srgbClr val="7030A0"/>
                </a:solidFill>
                <a:effectLst/>
              </a:rPr>
              <a:t> 증가</a:t>
            </a:r>
            <a:r>
              <a:rPr lang="ko-KR" altLang="ko-KR" sz="1500" dirty="0">
                <a:solidFill>
                  <a:srgbClr val="7030A0"/>
                </a:solidFill>
                <a:effectLst/>
              </a:rPr>
              <a:t>시키면</a:t>
            </a:r>
            <a:r>
              <a:rPr lang="ko-KR" altLang="ko-KR" sz="1500" b="1" dirty="0">
                <a:solidFill>
                  <a:srgbClr val="7030A0"/>
                </a:solidFill>
                <a:effectLst/>
              </a:rPr>
              <a:t> </a:t>
            </a:r>
            <a:br>
              <a:rPr lang="en-US" altLang="ko-KR" sz="1500" b="1" dirty="0">
                <a:solidFill>
                  <a:srgbClr val="7030A0"/>
                </a:solidFill>
                <a:effectLst/>
              </a:rPr>
            </a:br>
            <a:r>
              <a:rPr lang="ko-KR" altLang="ko-KR" sz="1500" dirty="0">
                <a:solidFill>
                  <a:srgbClr val="7030A0"/>
                </a:solidFill>
                <a:effectLst/>
              </a:rPr>
              <a:t>플래시 장치는 </a:t>
            </a:r>
            <a:r>
              <a:rPr lang="ko-KR" altLang="ko-KR" sz="1500" b="1" dirty="0">
                <a:solidFill>
                  <a:srgbClr val="7030A0"/>
                </a:solidFill>
                <a:effectLst/>
              </a:rPr>
              <a:t>정상 동작 영역</a:t>
            </a:r>
            <a:r>
              <a:rPr lang="en-US" altLang="ko-KR" sz="1500" b="1" dirty="0">
                <a:solidFill>
                  <a:srgbClr val="7030A0"/>
                </a:solidFill>
                <a:effectLst/>
              </a:rPr>
              <a:t> </a:t>
            </a:r>
            <a:r>
              <a:rPr lang="en-US" altLang="ko-KR" sz="1500" b="1" dirty="0">
                <a:solidFill>
                  <a:srgbClr val="7030A0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ko-KR" altLang="ko-KR" sz="1500" b="1" dirty="0">
                <a:solidFill>
                  <a:srgbClr val="7030A0"/>
                </a:solidFill>
                <a:effectLst/>
              </a:rPr>
              <a:t> 과부하 영역으로 전환</a:t>
            </a:r>
            <a:endParaRPr lang="ko-KR" altLang="en-US" sz="1500" dirty="0">
              <a:solidFill>
                <a:srgbClr val="7030A0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98D4BE-B64D-5F2D-BFDD-C350FC2B4495}"/>
              </a:ext>
            </a:extLst>
          </p:cNvPr>
          <p:cNvCxnSpPr>
            <a:cxnSpLocks/>
          </p:cNvCxnSpPr>
          <p:nvPr/>
        </p:nvCxnSpPr>
        <p:spPr>
          <a:xfrm flipH="1" flipV="1">
            <a:off x="5183554" y="1761560"/>
            <a:ext cx="27842" cy="282575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933783F-8DC0-E2AD-99D2-7059722E6861}"/>
              </a:ext>
            </a:extLst>
          </p:cNvPr>
          <p:cNvSpPr txBox="1"/>
          <p:nvPr/>
        </p:nvSpPr>
        <p:spPr>
          <a:xfrm>
            <a:off x="1988974" y="5577193"/>
            <a:ext cx="8214052" cy="92333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ko-KR" b="1" dirty="0" err="1"/>
              <a:t>FAST는</a:t>
            </a:r>
            <a:r>
              <a:rPr lang="ko-KR" altLang="ko-KR" b="1" dirty="0"/>
              <a:t> 부하를 지속적으로 처리하기 어려움</a:t>
            </a:r>
            <a:br>
              <a:rPr lang="en-US" altLang="ko-KR" b="1" dirty="0"/>
            </a:br>
            <a:br>
              <a:rPr lang="en-US" altLang="ko-KR" b="1" dirty="0"/>
            </a:br>
            <a:r>
              <a:rPr lang="ko-KR" altLang="ko-KR" b="1" dirty="0" err="1"/>
              <a:t>DFTL은</a:t>
            </a:r>
            <a:r>
              <a:rPr lang="ko-KR" altLang="ko-KR" b="1" dirty="0"/>
              <a:t> 성능이 점진적으로 저하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ko-KR" b="1" dirty="0"/>
              <a:t>엔터프라이즈 시스템에서 </a:t>
            </a:r>
            <a:r>
              <a:rPr lang="ko-KR" altLang="en-US" b="1" dirty="0"/>
              <a:t>중요한</a:t>
            </a:r>
            <a:r>
              <a:rPr lang="ko-KR" altLang="ko-KR" b="1" dirty="0"/>
              <a:t> 특성</a:t>
            </a: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9A74D-459A-3BD6-4F69-51A963526587}"/>
              </a:ext>
            </a:extLst>
          </p:cNvPr>
          <p:cNvSpPr txBox="1"/>
          <p:nvPr/>
        </p:nvSpPr>
        <p:spPr>
          <a:xfrm>
            <a:off x="2453052" y="2398905"/>
            <a:ext cx="18693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accent5">
                    <a:lumMod val="75000"/>
                  </a:schemeClr>
                </a:solidFill>
              </a:rPr>
              <a:t>랜덤 쓰기 중심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C2184-E5A5-F007-EA21-3C2C521A2729}"/>
              </a:ext>
            </a:extLst>
          </p:cNvPr>
          <p:cNvSpPr txBox="1"/>
          <p:nvPr/>
        </p:nvSpPr>
        <p:spPr>
          <a:xfrm>
            <a:off x="6440852" y="2398905"/>
            <a:ext cx="18693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accent5">
                    <a:lumMod val="75000"/>
                  </a:schemeClr>
                </a:solidFill>
              </a:rPr>
              <a:t>많은 순차 쓰기</a:t>
            </a:r>
          </a:p>
        </p:txBody>
      </p:sp>
    </p:spTree>
    <p:extLst>
      <p:ext uri="{BB962C8B-B14F-4D97-AF65-F5344CB8AC3E}">
        <p14:creationId xmlns:p14="http://schemas.microsoft.com/office/powerpoint/2010/main" val="3058086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6375-E97B-F46A-7186-DEA69132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B7AE8-8289-C5ED-A620-5A4CF303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A1A0CF-E0F9-0D0C-F0B4-74B42670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27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679B9-88C4-719A-173E-C5F3F26844EF}"/>
              </a:ext>
            </a:extLst>
          </p:cNvPr>
          <p:cNvSpPr txBox="1"/>
          <p:nvPr/>
        </p:nvSpPr>
        <p:spPr>
          <a:xfrm>
            <a:off x="174300" y="1181277"/>
            <a:ext cx="5597173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4: GC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 응답시간에 미치는 영향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09B115-0CEF-7DE1-05B8-CE420425B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1" y="2023464"/>
            <a:ext cx="6523632" cy="44209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94BCE1-D735-FE92-5BF8-0F9F0F8D7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26775"/>
            <a:ext cx="5921699" cy="1517861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29C9C2-2D1A-342A-B257-826E3BF62D46}"/>
              </a:ext>
            </a:extLst>
          </p:cNvPr>
          <p:cNvSpPr txBox="1"/>
          <p:nvPr/>
        </p:nvSpPr>
        <p:spPr>
          <a:xfrm>
            <a:off x="6697933" y="3628958"/>
            <a:ext cx="540824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FAST: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A</a:t>
            </a:r>
            <a:r>
              <a:rPr lang="ko-KR" altLang="en-US" sz="1600" b="1" dirty="0"/>
              <a:t>에서 </a:t>
            </a:r>
            <a:r>
              <a:rPr lang="en-US" altLang="ko-KR" sz="1600" b="1" dirty="0"/>
              <a:t>Full Merge </a:t>
            </a:r>
            <a:r>
              <a:rPr lang="ko-KR" altLang="en-US" sz="1600" b="1" dirty="0"/>
              <a:t>인한 </a:t>
            </a:r>
            <a:r>
              <a:rPr lang="ko-KR" altLang="ko-KR" sz="1600" b="1" dirty="0"/>
              <a:t>복사/삭제 작업</a:t>
            </a:r>
            <a:r>
              <a:rPr lang="en-US" altLang="ko-KR" sz="1600" b="1" dirty="0"/>
              <a:t> </a:t>
            </a:r>
            <a:br>
              <a:rPr lang="en-US" altLang="ko-KR" sz="1600" b="1" dirty="0"/>
            </a:br>
            <a:r>
              <a:rPr lang="en-US" altLang="ko-KR" sz="1600" b="1" dirty="0">
                <a:sym typeface="Wingdings" panose="05000000000000000000" pitchFamily="2" charset="2"/>
              </a:rPr>
              <a:t></a:t>
            </a:r>
            <a:r>
              <a:rPr lang="ko-KR" altLang="ko-KR" sz="1600" b="1" dirty="0"/>
              <a:t> 장치 서비스 시간 증가</a:t>
            </a:r>
            <a:r>
              <a:rPr lang="en-US" altLang="ko-KR" sz="1600" b="1" dirty="0"/>
              <a:t> </a:t>
            </a:r>
            <a:br>
              <a:rPr lang="en-US" altLang="ko-KR" sz="1600" b="1" dirty="0"/>
            </a:br>
            <a:r>
              <a:rPr lang="en-US" altLang="ko-KR" sz="1600" b="1" dirty="0">
                <a:sym typeface="Wingdings" panose="05000000000000000000" pitchFamily="2" charset="2"/>
              </a:rPr>
              <a:t> </a:t>
            </a:r>
            <a:r>
              <a:rPr lang="ko-KR" altLang="ko-KR" sz="1600" b="1" dirty="0" err="1"/>
              <a:t>I</a:t>
            </a:r>
            <a:r>
              <a:rPr lang="ko-KR" altLang="ko-KR" sz="1600" b="1" dirty="0"/>
              <a:t>/</a:t>
            </a:r>
            <a:r>
              <a:rPr lang="ko-KR" altLang="ko-KR" sz="1600" b="1" dirty="0" err="1"/>
              <a:t>O</a:t>
            </a:r>
            <a:r>
              <a:rPr lang="ko-KR" altLang="ko-KR" sz="1600" b="1" dirty="0"/>
              <a:t> 드라이버 대기열에 있는 </a:t>
            </a:r>
            <a:r>
              <a:rPr lang="ko-KR" altLang="ko-KR" sz="1600" b="1" dirty="0" err="1"/>
              <a:t>B</a:t>
            </a:r>
            <a:r>
              <a:rPr lang="ko-KR" altLang="ko-KR" sz="1600" b="1" dirty="0"/>
              <a:t> 요청의 </a:t>
            </a:r>
            <a:r>
              <a:rPr lang="ko-KR" altLang="ko-KR" sz="1600" b="1" dirty="0" err="1"/>
              <a:t>큐잉</a:t>
            </a:r>
            <a:r>
              <a:rPr lang="ko-KR" altLang="ko-KR" sz="1600" b="1" dirty="0"/>
              <a:t> 시간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증가</a:t>
            </a:r>
            <a:r>
              <a:rPr lang="ko-KR" altLang="ko-KR" sz="1600" b="1" dirty="0"/>
              <a:t> </a:t>
            </a:r>
            <a:br>
              <a:rPr lang="en-US" altLang="ko-KR" sz="1600" b="1" dirty="0"/>
            </a:br>
            <a:r>
              <a:rPr lang="en-US" altLang="ko-KR" sz="1600" b="1" dirty="0">
                <a:sym typeface="Wingdings" panose="05000000000000000000" pitchFamily="2" charset="2"/>
              </a:rPr>
              <a:t> </a:t>
            </a:r>
            <a:r>
              <a:rPr lang="ko-KR" altLang="ko-KR" sz="1600" b="1" dirty="0"/>
              <a:t>전체 시스템 응답 시간 증가</a:t>
            </a:r>
            <a:endParaRPr lang="en-US" altLang="ko-KR" sz="1600" b="1" dirty="0"/>
          </a:p>
          <a:p>
            <a:endParaRPr lang="en-US" altLang="ko-KR" sz="1600" b="1" dirty="0"/>
          </a:p>
          <a:p>
            <a:r>
              <a:rPr lang="en-US" altLang="ko-KR" sz="1600" b="1" dirty="0"/>
              <a:t>DFTL: </a:t>
            </a:r>
            <a:r>
              <a:rPr lang="ko-KR" altLang="ko-KR" sz="1600" b="1" dirty="0" err="1"/>
              <a:t>Full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Merge를</a:t>
            </a:r>
            <a:r>
              <a:rPr lang="ko-KR" altLang="ko-KR" sz="1600" b="1" dirty="0"/>
              <a:t> 수행하지 않으므로 요청에 대한 </a:t>
            </a:r>
            <a:br>
              <a:rPr lang="en-US" altLang="ko-KR" sz="1600" b="1" dirty="0"/>
            </a:br>
            <a:r>
              <a:rPr lang="ko-KR" altLang="en-US" sz="1600" b="1" dirty="0"/>
              <a:t>향상된 </a:t>
            </a:r>
            <a:r>
              <a:rPr lang="ko-KR" altLang="ko-KR" sz="1600" b="1" dirty="0"/>
              <a:t>성능을 </a:t>
            </a:r>
            <a:r>
              <a:rPr lang="ko-KR" altLang="en-US" sz="1600" b="1" dirty="0"/>
              <a:t>지속적으로 </a:t>
            </a:r>
            <a:r>
              <a:rPr lang="ko-KR" altLang="ko-KR" sz="1600" b="1" dirty="0"/>
              <a:t>제공</a:t>
            </a:r>
            <a:endParaRPr lang="en-US" altLang="ko-KR" sz="16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CC1B70-2FC7-3E58-2B42-1C05A1781F7D}"/>
              </a:ext>
            </a:extLst>
          </p:cNvPr>
          <p:cNvSpPr/>
          <p:nvPr/>
        </p:nvSpPr>
        <p:spPr>
          <a:xfrm>
            <a:off x="1555262" y="2023465"/>
            <a:ext cx="1735626" cy="79117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527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108A-2A9F-1208-4E6D-0D1F930D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32B4A-49C0-5872-E731-176A05BCE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F3D3A3-CD23-C3E4-F580-05918862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28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B63BC-956D-82AD-1205-9D4664C08793}"/>
              </a:ext>
            </a:extLst>
          </p:cNvPr>
          <p:cNvSpPr txBox="1"/>
          <p:nvPr/>
        </p:nvSpPr>
        <p:spPr>
          <a:xfrm>
            <a:off x="174300" y="1181277"/>
            <a:ext cx="4446217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5: 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SRAM 크기의 영향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1AA11-15C0-7199-8F5D-BBA685D13040}"/>
              </a:ext>
            </a:extLst>
          </p:cNvPr>
          <p:cNvSpPr txBox="1"/>
          <p:nvPr/>
        </p:nvSpPr>
        <p:spPr>
          <a:xfrm>
            <a:off x="2027124" y="5327679"/>
            <a:ext cx="8245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600" b="1" dirty="0">
                <a:solidFill>
                  <a:srgbClr val="7030A0"/>
                </a:solidFill>
              </a:rPr>
              <a:t>SRAM 크기가 증가</a:t>
            </a:r>
            <a:r>
              <a:rPr lang="en-US" altLang="ko-KR" sz="1600" b="1" dirty="0">
                <a:solidFill>
                  <a:srgbClr val="7030A0"/>
                </a:solidFill>
              </a:rPr>
              <a:t> </a:t>
            </a:r>
            <a:r>
              <a:rPr lang="en-US" altLang="ko-KR" sz="1600" b="1" dirty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r>
              <a:rPr lang="ko-KR" altLang="ko-KR" sz="1600" b="1" dirty="0">
                <a:solidFill>
                  <a:srgbClr val="7030A0"/>
                </a:solidFill>
              </a:rPr>
              <a:t> </a:t>
            </a:r>
            <a:r>
              <a:rPr lang="en-US" altLang="ko-KR" sz="1600" b="1" dirty="0">
                <a:solidFill>
                  <a:srgbClr val="7030A0"/>
                </a:solidFill>
              </a:rPr>
              <a:t>CMT </a:t>
            </a:r>
            <a:r>
              <a:rPr lang="ko-KR" altLang="ko-KR" sz="1600" b="1" dirty="0">
                <a:solidFill>
                  <a:srgbClr val="7030A0"/>
                </a:solidFill>
              </a:rPr>
              <a:t>적중률 향상</a:t>
            </a:r>
            <a:r>
              <a:rPr lang="en-US" altLang="ko-KR" sz="1600" b="1" dirty="0">
                <a:solidFill>
                  <a:srgbClr val="7030A0"/>
                </a:solidFill>
              </a:rPr>
              <a:t>,</a:t>
            </a:r>
            <a:r>
              <a:rPr lang="ko-KR" altLang="ko-KR" sz="1600" b="1" dirty="0">
                <a:solidFill>
                  <a:srgbClr val="7030A0"/>
                </a:solidFill>
              </a:rPr>
              <a:t> </a:t>
            </a:r>
            <a:r>
              <a:rPr lang="en-US" altLang="ko-KR" sz="1600" b="1" dirty="0" err="1">
                <a:solidFill>
                  <a:srgbClr val="7030A0"/>
                </a:solidFill>
              </a:rPr>
              <a:t>Overh</a:t>
            </a:r>
            <a:r>
              <a:rPr lang="ko-KR" altLang="ko-KR" sz="1600" b="1" dirty="0" err="1">
                <a:solidFill>
                  <a:srgbClr val="7030A0"/>
                </a:solidFill>
              </a:rPr>
              <a:t>ead</a:t>
            </a:r>
            <a:r>
              <a:rPr lang="ko-KR" altLang="ko-KR" sz="1600" b="1" dirty="0">
                <a:solidFill>
                  <a:srgbClr val="7030A0"/>
                </a:solidFill>
              </a:rPr>
              <a:t> 감</a:t>
            </a:r>
            <a:r>
              <a:rPr lang="ko-KR" altLang="en-US" sz="1600" b="1" dirty="0">
                <a:solidFill>
                  <a:srgbClr val="7030A0"/>
                </a:solidFill>
              </a:rPr>
              <a:t>소 </a:t>
            </a:r>
            <a:r>
              <a:rPr lang="en-US" altLang="ko-KR" sz="1600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ko-KR" altLang="ko-KR" sz="1600" b="1" dirty="0">
                <a:solidFill>
                  <a:srgbClr val="7030A0"/>
                </a:solidFill>
              </a:rPr>
              <a:t>성능 향상</a:t>
            </a:r>
            <a:endParaRPr lang="en-US" altLang="ko-KR" sz="1600" b="1" dirty="0">
              <a:solidFill>
                <a:srgbClr val="7030A0"/>
              </a:solidFill>
            </a:endParaRP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1600" b="1" dirty="0"/>
              <a:t>S</a:t>
            </a:r>
            <a:r>
              <a:rPr lang="ko-KR" altLang="ko-KR" sz="1600" b="1" dirty="0"/>
              <a:t>RAM 크기</a:t>
            </a:r>
            <a:r>
              <a:rPr lang="ko-KR" altLang="en-US" sz="1600" b="1" dirty="0"/>
              <a:t>가</a:t>
            </a:r>
            <a:r>
              <a:rPr lang="ko-KR" altLang="ko-KR" sz="1600" b="1" dirty="0"/>
              <a:t> 워크로드의 작업 집합 크기를 넘어서면</a:t>
            </a:r>
            <a:r>
              <a:rPr lang="en-US" altLang="ko-KR" sz="1600" b="1" dirty="0"/>
              <a:t>,</a:t>
            </a:r>
            <a:br>
              <a:rPr lang="en-US" altLang="ko-KR" sz="1600" b="1" dirty="0"/>
            </a:br>
            <a:r>
              <a:rPr lang="ko-KR" altLang="ko-KR" sz="1600" b="1" dirty="0"/>
              <a:t> 주소 변환을 위한 추가 </a:t>
            </a:r>
            <a:r>
              <a:rPr lang="ko-KR" altLang="ko-KR" sz="1600" b="1" dirty="0" err="1"/>
              <a:t>SRAM은</a:t>
            </a:r>
            <a:r>
              <a:rPr lang="ko-KR" altLang="ko-KR" sz="1600" b="1" dirty="0"/>
              <a:t> 더 이상 성능 향상 측면에서 이점을 제공하지 않음</a:t>
            </a:r>
            <a:endParaRPr lang="en-US" altLang="ko-KR" sz="16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C82578-9CAF-341B-01B6-DD73568E7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124" y="1778096"/>
            <a:ext cx="8137752" cy="340819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F4AACA5-ADF0-F6A1-CB24-FC0556A46C19}"/>
              </a:ext>
            </a:extLst>
          </p:cNvPr>
          <p:cNvSpPr/>
          <p:nvPr/>
        </p:nvSpPr>
        <p:spPr>
          <a:xfrm>
            <a:off x="4851400" y="4102100"/>
            <a:ext cx="1036638" cy="5921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4EFAD3-2B2B-172C-6AE5-FE6EC601AD10}"/>
              </a:ext>
            </a:extLst>
          </p:cNvPr>
          <p:cNvSpPr/>
          <p:nvPr/>
        </p:nvSpPr>
        <p:spPr>
          <a:xfrm>
            <a:off x="9380049" y="4025791"/>
            <a:ext cx="784827" cy="74305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669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B55D-BADB-AC95-5B0A-9B1CA9278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56081-B27E-1FCA-A303-7A4F2EC0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Experiment Results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F10F01-36EE-3E0D-1DD7-31C135F0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29</a:t>
            </a:fld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D4691-A466-7982-CEB7-766B9EC2B2A9}"/>
              </a:ext>
            </a:extLst>
          </p:cNvPr>
          <p:cNvSpPr txBox="1"/>
          <p:nvPr/>
        </p:nvSpPr>
        <p:spPr>
          <a:xfrm>
            <a:off x="174300" y="1018139"/>
            <a:ext cx="3138295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[Experiment Relationships]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2F881D-9C73-905E-3933-8912F253A5A9}"/>
              </a:ext>
            </a:extLst>
          </p:cNvPr>
          <p:cNvSpPr/>
          <p:nvPr/>
        </p:nvSpPr>
        <p:spPr>
          <a:xfrm>
            <a:off x="4135537" y="1841687"/>
            <a:ext cx="1996439" cy="661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1. GC/</a:t>
            </a:r>
            <a:r>
              <a:rPr lang="ko-KR" altLang="en-US" sz="1600" b="1" dirty="0"/>
              <a:t>주소 변환 </a:t>
            </a:r>
            <a:r>
              <a:rPr lang="en-US" altLang="ko-KR" sz="1600" b="1" dirty="0"/>
              <a:t>Overhead </a:t>
            </a:r>
            <a:r>
              <a:rPr lang="ko-KR" altLang="en-US" sz="1600" b="1" dirty="0"/>
              <a:t>분석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87A297-DAAD-0C04-C855-71726300DBCC}"/>
              </a:ext>
            </a:extLst>
          </p:cNvPr>
          <p:cNvSpPr/>
          <p:nvPr/>
        </p:nvSpPr>
        <p:spPr>
          <a:xfrm>
            <a:off x="9733023" y="1875549"/>
            <a:ext cx="1628959" cy="661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2. </a:t>
            </a:r>
            <a:r>
              <a:rPr lang="ko-KR" altLang="en-US" sz="1600" b="1" dirty="0"/>
              <a:t>워크로드별 성능 분석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4B3644-4D59-67EA-D4F2-C096A81353BA}"/>
              </a:ext>
            </a:extLst>
          </p:cNvPr>
          <p:cNvSpPr/>
          <p:nvPr/>
        </p:nvSpPr>
        <p:spPr>
          <a:xfrm>
            <a:off x="6627451" y="1778504"/>
            <a:ext cx="2606462" cy="82077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줄어든 </a:t>
            </a:r>
            <a:r>
              <a:rPr lang="en-US" altLang="ko-KR" sz="1600" b="1" dirty="0">
                <a:solidFill>
                  <a:schemeClr val="tx1"/>
                </a:solidFill>
              </a:rPr>
              <a:t>Overhead</a:t>
            </a:r>
            <a:r>
              <a:rPr lang="ko-KR" altLang="ko-KR" sz="1600" b="1" dirty="0">
                <a:solidFill>
                  <a:schemeClr val="tx1"/>
                </a:solidFill>
              </a:rPr>
              <a:t>가 </a:t>
            </a:r>
            <a:br>
              <a:rPr lang="en-US" altLang="ko-KR" sz="1600" b="1" dirty="0">
                <a:solidFill>
                  <a:schemeClr val="tx1"/>
                </a:solidFill>
              </a:rPr>
            </a:br>
            <a:r>
              <a:rPr lang="ko-KR" altLang="ko-KR" sz="1600" b="1" dirty="0">
                <a:solidFill>
                  <a:schemeClr val="tx1"/>
                </a:solidFill>
              </a:rPr>
              <a:t>실제 응답 시간 개선으로 이어지</a:t>
            </a:r>
            <a:r>
              <a:rPr lang="ko-KR" altLang="en-US" sz="1600" b="1" dirty="0">
                <a:solidFill>
                  <a:schemeClr val="tx1"/>
                </a:solidFill>
              </a:rPr>
              <a:t>는가</a:t>
            </a:r>
            <a:r>
              <a:rPr lang="en-US" altLang="ko-KR" sz="1600" b="1" dirty="0">
                <a:solidFill>
                  <a:schemeClr val="tx1"/>
                </a:solidFill>
              </a:rPr>
              <a:t>?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3AD1A3-F5DD-420C-3D59-3527718A0697}"/>
              </a:ext>
            </a:extLst>
          </p:cNvPr>
          <p:cNvSpPr/>
          <p:nvPr/>
        </p:nvSpPr>
        <p:spPr>
          <a:xfrm>
            <a:off x="7083720" y="3111186"/>
            <a:ext cx="2739730" cy="82077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b="1" dirty="0" err="1">
                <a:solidFill>
                  <a:schemeClr val="tx1"/>
                </a:solidFill>
              </a:rPr>
              <a:t>FAST</a:t>
            </a:r>
            <a:r>
              <a:rPr lang="ko-KR" altLang="en-US" sz="1600" b="1" dirty="0" err="1">
                <a:solidFill>
                  <a:schemeClr val="tx1"/>
                </a:solidFill>
              </a:rPr>
              <a:t>가</a:t>
            </a:r>
            <a:r>
              <a:rPr lang="ko-KR" altLang="ko-KR" sz="1600" b="1" dirty="0">
                <a:solidFill>
                  <a:schemeClr val="tx1"/>
                </a:solidFill>
              </a:rPr>
              <a:t> 과부하 </a:t>
            </a:r>
            <a:r>
              <a:rPr lang="ko-KR" altLang="en-US" sz="1600" b="1" dirty="0">
                <a:solidFill>
                  <a:schemeClr val="tx1"/>
                </a:solidFill>
              </a:rPr>
              <a:t>영역</a:t>
            </a:r>
            <a:r>
              <a:rPr lang="ko-KR" altLang="ko-KR" sz="1600" b="1" dirty="0">
                <a:solidFill>
                  <a:schemeClr val="tx1"/>
                </a:solidFill>
              </a:rPr>
              <a:t>에서 </a:t>
            </a:r>
            <a:br>
              <a:rPr lang="en-US" altLang="ko-KR" sz="1600" b="1" dirty="0">
                <a:solidFill>
                  <a:schemeClr val="tx1"/>
                </a:solidFill>
              </a:rPr>
            </a:br>
            <a:r>
              <a:rPr lang="ko-KR" altLang="ko-KR" sz="1600" b="1" dirty="0">
                <a:solidFill>
                  <a:schemeClr val="tx1"/>
                </a:solidFill>
              </a:rPr>
              <a:t>급격</a:t>
            </a:r>
            <a:r>
              <a:rPr lang="ko-KR" altLang="en-US" sz="1600" b="1" dirty="0">
                <a:solidFill>
                  <a:schemeClr val="tx1"/>
                </a:solidFill>
              </a:rPr>
              <a:t>한</a:t>
            </a:r>
            <a:r>
              <a:rPr lang="ko-KR" altLang="ko-KR" sz="1600" b="1" dirty="0">
                <a:solidFill>
                  <a:schemeClr val="tx1"/>
                </a:solidFill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</a:rPr>
              <a:t>응답시간 증가</a:t>
            </a:r>
            <a:r>
              <a:rPr lang="ko-KR" altLang="ko-KR" sz="1600" b="1" dirty="0">
                <a:solidFill>
                  <a:schemeClr val="tx1"/>
                </a:solidFill>
              </a:rPr>
              <a:t>가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발생하</a:t>
            </a:r>
            <a:r>
              <a:rPr lang="ko-KR" altLang="ko-KR" sz="1600" b="1" dirty="0">
                <a:solidFill>
                  <a:schemeClr val="tx1"/>
                </a:solidFill>
              </a:rPr>
              <a:t>는 원인</a:t>
            </a:r>
            <a:r>
              <a:rPr lang="ko-KR" altLang="en-US" sz="1600" b="1" dirty="0">
                <a:solidFill>
                  <a:schemeClr val="tx1"/>
                </a:solidFill>
              </a:rPr>
              <a:t>은 무엇인가</a:t>
            </a:r>
            <a:r>
              <a:rPr lang="en-US" altLang="ko-KR" sz="1600" b="1" dirty="0">
                <a:solidFill>
                  <a:schemeClr val="tx1"/>
                </a:solidFill>
              </a:rPr>
              <a:t>?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AE4CE9-D931-9EBA-1CEF-55D6FBBEBAB1}"/>
              </a:ext>
            </a:extLst>
          </p:cNvPr>
          <p:cNvSpPr/>
          <p:nvPr/>
        </p:nvSpPr>
        <p:spPr>
          <a:xfrm>
            <a:off x="4149675" y="3310855"/>
            <a:ext cx="2390783" cy="451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3. </a:t>
            </a:r>
            <a:r>
              <a:rPr lang="ko-KR" altLang="en-US" sz="1600" b="1" dirty="0"/>
              <a:t>합성 워크로드 분석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CA7D3DB-7C30-7043-2886-1EB1C81500A5}"/>
              </a:ext>
            </a:extLst>
          </p:cNvPr>
          <p:cNvSpPr/>
          <p:nvPr/>
        </p:nvSpPr>
        <p:spPr>
          <a:xfrm>
            <a:off x="647699" y="3121143"/>
            <a:ext cx="2988727" cy="8313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b="1" dirty="0">
                <a:solidFill>
                  <a:schemeClr val="tx1"/>
                </a:solidFill>
              </a:rPr>
              <a:t>부하가 증가하는 </a:t>
            </a:r>
            <a:r>
              <a:rPr lang="ko-KR" altLang="en-US" sz="1600" b="1" dirty="0">
                <a:solidFill>
                  <a:schemeClr val="tx1"/>
                </a:solidFill>
              </a:rPr>
              <a:t>워크로드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ko-KR" sz="1600" b="1" dirty="0">
                <a:solidFill>
                  <a:schemeClr val="tx1"/>
                </a:solidFill>
              </a:rPr>
              <a:t>에서도 </a:t>
            </a:r>
            <a:r>
              <a:rPr lang="ko-KR" altLang="en-US" sz="1600" b="1" dirty="0">
                <a:solidFill>
                  <a:schemeClr val="tx1"/>
                </a:solidFill>
              </a:rPr>
              <a:t>성능이</a:t>
            </a:r>
            <a:r>
              <a:rPr lang="ko-KR" altLang="ko-KR" sz="1600" b="1" dirty="0">
                <a:solidFill>
                  <a:schemeClr val="tx1"/>
                </a:solidFill>
              </a:rPr>
              <a:t> 유지되는</a:t>
            </a:r>
            <a:r>
              <a:rPr lang="ko-KR" altLang="en-US" sz="1600" b="1" dirty="0">
                <a:solidFill>
                  <a:schemeClr val="tx1"/>
                </a:solidFill>
              </a:rPr>
              <a:t>가</a:t>
            </a:r>
            <a:r>
              <a:rPr lang="en-US" altLang="ko-KR" sz="1600" b="1" dirty="0">
                <a:solidFill>
                  <a:schemeClr val="tx1"/>
                </a:solidFill>
              </a:rPr>
              <a:t>?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90D1153-BC86-6602-55D5-76B56003B764}"/>
              </a:ext>
            </a:extLst>
          </p:cNvPr>
          <p:cNvSpPr/>
          <p:nvPr/>
        </p:nvSpPr>
        <p:spPr>
          <a:xfrm>
            <a:off x="10324663" y="3190630"/>
            <a:ext cx="1452271" cy="661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4. </a:t>
            </a:r>
            <a:r>
              <a:rPr lang="ko-KR" altLang="en-US" sz="1600" b="1" dirty="0"/>
              <a:t>응답시간 미시적 분석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2B0668-F41B-C6B1-C745-92073FA5C214}"/>
              </a:ext>
            </a:extLst>
          </p:cNvPr>
          <p:cNvSpPr/>
          <p:nvPr/>
        </p:nvSpPr>
        <p:spPr>
          <a:xfrm>
            <a:off x="4149675" y="4752476"/>
            <a:ext cx="2381412" cy="604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5. </a:t>
            </a:r>
            <a:r>
              <a:rPr lang="ko-KR" altLang="ko-KR" sz="1600" b="1" dirty="0"/>
              <a:t>SRAM 크기</a:t>
            </a:r>
            <a:r>
              <a:rPr lang="ko-KR" altLang="en-US" sz="1600" b="1" dirty="0"/>
              <a:t>에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따른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 </a:t>
            </a:r>
            <a:r>
              <a:rPr lang="en-US" altLang="ko-KR" sz="1600" b="1" dirty="0"/>
              <a:t>DFTL </a:t>
            </a:r>
            <a:r>
              <a:rPr lang="ko-KR" altLang="en-US" sz="1600" b="1" dirty="0"/>
              <a:t>성능 분석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8F76020-7C25-841C-4C47-0E2B5D3BAA0C}"/>
              </a:ext>
            </a:extLst>
          </p:cNvPr>
          <p:cNvSpPr/>
          <p:nvPr/>
        </p:nvSpPr>
        <p:spPr>
          <a:xfrm>
            <a:off x="674084" y="4656763"/>
            <a:ext cx="2962343" cy="8313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SRAM </a:t>
            </a:r>
            <a:r>
              <a:rPr lang="ko-KR" altLang="en-US" sz="1600" b="1" dirty="0">
                <a:solidFill>
                  <a:schemeClr val="tx1"/>
                </a:solidFill>
              </a:rPr>
              <a:t>크기가 증가할 경우</a:t>
            </a:r>
            <a:br>
              <a:rPr lang="en-US" altLang="ko-KR" sz="1600" b="1" dirty="0">
                <a:solidFill>
                  <a:schemeClr val="tx1"/>
                </a:solidFill>
              </a:rPr>
            </a:br>
            <a:r>
              <a:rPr lang="ko-KR" altLang="en-US" sz="1600" b="1" dirty="0">
                <a:solidFill>
                  <a:schemeClr val="tx1"/>
                </a:solidFill>
              </a:rPr>
              <a:t>성능이 어떻게 변화하는가</a:t>
            </a:r>
            <a:r>
              <a:rPr lang="en-US" altLang="ko-KR" sz="1600" b="1" dirty="0">
                <a:solidFill>
                  <a:schemeClr val="tx1"/>
                </a:solidFill>
              </a:rPr>
              <a:t>?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565DCB8A-5A93-2B5C-10D2-F0A7F04F0DD6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rot="5400000">
            <a:off x="6052931" y="-1373430"/>
            <a:ext cx="583705" cy="8405440"/>
          </a:xfrm>
          <a:prstGeom prst="bentConnector3">
            <a:avLst>
              <a:gd name="adj1" fmla="val 50000"/>
            </a:avLst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3D036CDC-28DA-CC66-F9CA-B8BA0A0E2A75}"/>
              </a:ext>
            </a:extLst>
          </p:cNvPr>
          <p:cNvSpPr/>
          <p:nvPr/>
        </p:nvSpPr>
        <p:spPr>
          <a:xfrm>
            <a:off x="3650565" y="4866967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3A4465F-D3F6-6404-7B3D-6094BBED625A}"/>
              </a:ext>
            </a:extLst>
          </p:cNvPr>
          <p:cNvSpPr/>
          <p:nvPr/>
        </p:nvSpPr>
        <p:spPr>
          <a:xfrm>
            <a:off x="647700" y="1756983"/>
            <a:ext cx="2988727" cy="8313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Full Merge</a:t>
            </a:r>
            <a:r>
              <a:rPr lang="ko-KR" altLang="en-US" sz="1600" b="1" dirty="0">
                <a:solidFill>
                  <a:schemeClr val="tx1"/>
                </a:solidFill>
              </a:rPr>
              <a:t>를 없애면 </a:t>
            </a:r>
            <a:r>
              <a:rPr lang="en-US" altLang="ko-KR" sz="1600" b="1" dirty="0">
                <a:solidFill>
                  <a:schemeClr val="tx1"/>
                </a:solidFill>
              </a:rPr>
              <a:t>Overhead</a:t>
            </a:r>
            <a:r>
              <a:rPr lang="ko-KR" altLang="en-US" sz="1600" b="1" dirty="0">
                <a:solidFill>
                  <a:schemeClr val="tx1"/>
                </a:solidFill>
              </a:rPr>
              <a:t>가 줄어드는가</a:t>
            </a:r>
            <a:r>
              <a:rPr lang="en-US" altLang="ko-KR" sz="1600" b="1" dirty="0">
                <a:solidFill>
                  <a:schemeClr val="tx1"/>
                </a:solidFill>
              </a:rPr>
              <a:t>?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7843CC92-B37C-6416-4284-B3C3487F86ED}"/>
              </a:ext>
            </a:extLst>
          </p:cNvPr>
          <p:cNvSpPr/>
          <p:nvPr/>
        </p:nvSpPr>
        <p:spPr>
          <a:xfrm>
            <a:off x="3660704" y="1998940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C661326B-A949-61AA-22C2-8596CABE57C8}"/>
              </a:ext>
            </a:extLst>
          </p:cNvPr>
          <p:cNvSpPr/>
          <p:nvPr/>
        </p:nvSpPr>
        <p:spPr>
          <a:xfrm>
            <a:off x="6131976" y="1992788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A14A2DFD-680B-2095-F150-2203F475E890}"/>
              </a:ext>
            </a:extLst>
          </p:cNvPr>
          <p:cNvSpPr/>
          <p:nvPr/>
        </p:nvSpPr>
        <p:spPr>
          <a:xfrm>
            <a:off x="9233913" y="1999030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3E359AB8-F6BA-B162-90E9-3277DDD34F54}"/>
              </a:ext>
            </a:extLst>
          </p:cNvPr>
          <p:cNvSpPr/>
          <p:nvPr/>
        </p:nvSpPr>
        <p:spPr>
          <a:xfrm>
            <a:off x="3662811" y="3325732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E4DD0C17-C3F4-76A6-B671-A8ED18F8E76A}"/>
              </a:ext>
            </a:extLst>
          </p:cNvPr>
          <p:cNvSpPr/>
          <p:nvPr/>
        </p:nvSpPr>
        <p:spPr>
          <a:xfrm>
            <a:off x="6554352" y="3332204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0F7EFE8D-5A9A-9C42-2138-25C31BCF38DC}"/>
              </a:ext>
            </a:extLst>
          </p:cNvPr>
          <p:cNvSpPr/>
          <p:nvPr/>
        </p:nvSpPr>
        <p:spPr>
          <a:xfrm>
            <a:off x="9825553" y="3315493"/>
            <a:ext cx="499110" cy="42212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85115-DC71-6E25-B2C0-D5744F8FB33D}"/>
              </a:ext>
            </a:extLst>
          </p:cNvPr>
          <p:cNvSpPr txBox="1"/>
          <p:nvPr/>
        </p:nvSpPr>
        <p:spPr>
          <a:xfrm>
            <a:off x="613634" y="5827109"/>
            <a:ext cx="1106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</a:t>
            </a:r>
            <a:r>
              <a:rPr lang="ko-KR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ko-KR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  <a:r>
              <a:rPr lang="ko-KR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제거</a:t>
            </a:r>
            <a: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</a:t>
            </a:r>
            <a:r>
              <a:rPr lang="ko-KR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Overhead </a:t>
            </a:r>
            <a:r>
              <a:rPr lang="ko-KR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감소</a:t>
            </a:r>
            <a: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DFTL</a:t>
            </a:r>
            <a:r>
              <a:rPr lang="ko-KR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은</a:t>
            </a:r>
            <a:r>
              <a:rPr lang="ko-KR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다양한 워크로드와 과부하 환경에서 안정적인 성능을 제공</a:t>
            </a:r>
            <a:endParaRPr lang="en-US" altLang="ko-KR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0431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A3BC-027F-C4B2-B08D-47D5903A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E163D-A708-70BC-BB6D-7512F342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10829757" cy="831299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US" altLang="ko-KR" dirty="0"/>
              <a:t>Conclusion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9C8F28-015F-531B-1857-6B2D12F9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30</a:t>
            </a:fld>
            <a:endParaRPr kumimoji="1"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07E46F-B700-161E-29B4-1E0E6E2FF2B1}"/>
              </a:ext>
            </a:extLst>
          </p:cNvPr>
          <p:cNvSpPr/>
          <p:nvPr/>
        </p:nvSpPr>
        <p:spPr>
          <a:xfrm>
            <a:off x="2120080" y="1532012"/>
            <a:ext cx="7951840" cy="5088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b="1" dirty="0">
                <a:solidFill>
                  <a:srgbClr val="FFFF00"/>
                </a:solidFill>
              </a:rPr>
              <a:t>Enterprise-</a:t>
            </a:r>
            <a:r>
              <a:rPr lang="ko-KR" altLang="ko-KR" b="1" dirty="0" err="1">
                <a:solidFill>
                  <a:srgbClr val="FFFF00"/>
                </a:solidFill>
              </a:rPr>
              <a:t>scale</a:t>
            </a:r>
            <a:r>
              <a:rPr lang="ko-KR" altLang="ko-KR" b="1" dirty="0">
                <a:solidFill>
                  <a:srgbClr val="FFFF00"/>
                </a:solidFill>
              </a:rPr>
              <a:t> </a:t>
            </a:r>
            <a:r>
              <a:rPr lang="ko-KR" altLang="ko-KR" b="1" dirty="0" err="1">
                <a:solidFill>
                  <a:srgbClr val="FFFF00"/>
                </a:solidFill>
              </a:rPr>
              <a:t>workloads</a:t>
            </a:r>
            <a:r>
              <a:rPr lang="ko-KR" altLang="ko-KR" b="1" dirty="0">
                <a:solidFill>
                  <a:srgbClr val="FFFF00"/>
                </a:solidFill>
              </a:rPr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b="1" dirty="0"/>
              <a:t> </a:t>
            </a:r>
            <a:r>
              <a:rPr lang="ko-KR" altLang="ko-KR" dirty="0" err="1">
                <a:solidFill>
                  <a:schemeClr val="bg1"/>
                </a:solidFill>
              </a:rPr>
              <a:t>high</a:t>
            </a:r>
            <a:r>
              <a:rPr lang="ko-KR" altLang="ko-KR" dirty="0">
                <a:solidFill>
                  <a:schemeClr val="bg1"/>
                </a:solidFill>
              </a:rPr>
              <a:t> </a:t>
            </a:r>
            <a:r>
              <a:rPr lang="ko-KR" altLang="ko-KR" dirty="0" err="1">
                <a:solidFill>
                  <a:schemeClr val="bg1"/>
                </a:solidFill>
              </a:rPr>
              <a:t>proportion</a:t>
            </a:r>
            <a:r>
              <a:rPr lang="ko-KR" altLang="ko-KR" dirty="0">
                <a:solidFill>
                  <a:schemeClr val="bg1"/>
                </a:solidFill>
              </a:rPr>
              <a:t> of</a:t>
            </a:r>
            <a:r>
              <a:rPr lang="ko-KR" altLang="ko-KR" b="1" dirty="0">
                <a:solidFill>
                  <a:srgbClr val="FFFF00"/>
                </a:solidFill>
              </a:rPr>
              <a:t> </a:t>
            </a:r>
            <a:r>
              <a:rPr lang="ko-KR" altLang="ko-KR" b="1" dirty="0" err="1">
                <a:solidFill>
                  <a:srgbClr val="FFFF00"/>
                </a:solidFill>
              </a:rPr>
              <a:t>random</a:t>
            </a:r>
            <a:r>
              <a:rPr lang="ko-KR" altLang="ko-KR" b="1" dirty="0">
                <a:solidFill>
                  <a:srgbClr val="FFFF00"/>
                </a:solidFill>
              </a:rPr>
              <a:t> </a:t>
            </a:r>
            <a:r>
              <a:rPr lang="ko-KR" altLang="ko-KR" b="1" dirty="0" err="1">
                <a:solidFill>
                  <a:srgbClr val="FFFF00"/>
                </a:solidFill>
              </a:rPr>
              <a:t>writes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18E11A-2EFA-87A0-367F-70CD8D4D3FD6}"/>
              </a:ext>
            </a:extLst>
          </p:cNvPr>
          <p:cNvSpPr/>
          <p:nvPr/>
        </p:nvSpPr>
        <p:spPr>
          <a:xfrm>
            <a:off x="3325761" y="2559670"/>
            <a:ext cx="2138518" cy="5088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Prior Hybrid FTL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93075E-1E84-8FA2-A3C1-22134D5612AB}"/>
              </a:ext>
            </a:extLst>
          </p:cNvPr>
          <p:cNvSpPr/>
          <p:nvPr/>
        </p:nvSpPr>
        <p:spPr>
          <a:xfrm>
            <a:off x="6562514" y="2559670"/>
            <a:ext cx="2138518" cy="5088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DFTL</a:t>
            </a:r>
            <a:endParaRPr lang="ko-KR" altLang="en-US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83502A-2C62-B8F7-E8E2-98E640D94DE7}"/>
              </a:ext>
            </a:extLst>
          </p:cNvPr>
          <p:cNvSpPr/>
          <p:nvPr/>
        </p:nvSpPr>
        <p:spPr>
          <a:xfrm>
            <a:off x="3846256" y="4034626"/>
            <a:ext cx="4499488" cy="1525502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ko-KR" b="1" dirty="0" err="1">
                <a:solidFill>
                  <a:schemeClr val="tx1"/>
                </a:solidFill>
              </a:rPr>
              <a:t>Improved</a:t>
            </a:r>
            <a:r>
              <a:rPr lang="ko-KR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p</a:t>
            </a:r>
            <a:r>
              <a:rPr lang="ko-KR" altLang="ko-KR" b="1" dirty="0" err="1">
                <a:solidFill>
                  <a:schemeClr val="tx1"/>
                </a:solidFill>
              </a:rPr>
              <a:t>erformance</a:t>
            </a:r>
            <a:br>
              <a:rPr lang="ko-KR" altLang="ko-KR" b="1" dirty="0">
                <a:solidFill>
                  <a:schemeClr val="tx1"/>
                </a:solidFill>
              </a:rPr>
            </a:br>
            <a:r>
              <a:rPr lang="ko-KR" altLang="ko-KR" b="1" dirty="0" err="1">
                <a:solidFill>
                  <a:schemeClr val="tx1"/>
                </a:solidFill>
              </a:rPr>
              <a:t>Reduced</a:t>
            </a:r>
            <a:r>
              <a:rPr lang="ko-KR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GC</a:t>
            </a:r>
            <a:r>
              <a:rPr lang="ko-KR" altLang="ko-KR" b="1" dirty="0">
                <a:solidFill>
                  <a:schemeClr val="tx1"/>
                </a:solidFill>
              </a:rPr>
              <a:t> </a:t>
            </a:r>
            <a:r>
              <a:rPr lang="ko-KR" altLang="ko-KR" b="1" dirty="0" err="1">
                <a:solidFill>
                  <a:schemeClr val="tx1"/>
                </a:solidFill>
              </a:rPr>
              <a:t>overhead</a:t>
            </a:r>
            <a:br>
              <a:rPr lang="ko-KR" altLang="ko-KR" b="1" dirty="0">
                <a:solidFill>
                  <a:schemeClr val="tx1"/>
                </a:solidFill>
              </a:rPr>
            </a:br>
            <a:r>
              <a:rPr lang="ko-KR" altLang="ko-KR" b="1" dirty="0" err="1">
                <a:solidFill>
                  <a:schemeClr val="tx1"/>
                </a:solidFill>
              </a:rPr>
              <a:t>Improved</a:t>
            </a:r>
            <a:r>
              <a:rPr lang="ko-KR" altLang="ko-KR" b="1" dirty="0">
                <a:solidFill>
                  <a:schemeClr val="tx1"/>
                </a:solidFill>
              </a:rPr>
              <a:t> </a:t>
            </a:r>
            <a:r>
              <a:rPr lang="ko-KR" altLang="ko-KR" b="1" dirty="0" err="1">
                <a:solidFill>
                  <a:schemeClr val="tx1"/>
                </a:solidFill>
              </a:rPr>
              <a:t>overload</a:t>
            </a:r>
            <a:r>
              <a:rPr lang="ko-KR" altLang="ko-KR" b="1" dirty="0">
                <a:solidFill>
                  <a:schemeClr val="tx1"/>
                </a:solidFill>
              </a:rPr>
              <a:t> </a:t>
            </a:r>
            <a:r>
              <a:rPr lang="ko-KR" altLang="ko-KR" b="1" dirty="0" err="1">
                <a:solidFill>
                  <a:schemeClr val="tx1"/>
                </a:solidFill>
              </a:rPr>
              <a:t>behavior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A8D78366-24F9-DB3A-9114-F3292147A79C}"/>
              </a:ext>
            </a:extLst>
          </p:cNvPr>
          <p:cNvSpPr/>
          <p:nvPr/>
        </p:nvSpPr>
        <p:spPr>
          <a:xfrm rot="5400000">
            <a:off x="4113666" y="2014986"/>
            <a:ext cx="562708" cy="513380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BE539CE-95B3-9BA8-486E-8FB7AD2C3D3A}"/>
              </a:ext>
            </a:extLst>
          </p:cNvPr>
          <p:cNvSpPr/>
          <p:nvPr/>
        </p:nvSpPr>
        <p:spPr>
          <a:xfrm rot="5400000">
            <a:off x="7350419" y="2014986"/>
            <a:ext cx="562708" cy="513380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4770F9-FF7B-8C18-8087-9CC6422517CE}"/>
              </a:ext>
            </a:extLst>
          </p:cNvPr>
          <p:cNvSpPr txBox="1"/>
          <p:nvPr/>
        </p:nvSpPr>
        <p:spPr>
          <a:xfrm>
            <a:off x="3053659" y="3147132"/>
            <a:ext cx="2682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/>
              <a:t>High Overhead</a:t>
            </a:r>
          </a:p>
          <a:p>
            <a:pPr algn="ctr"/>
            <a:r>
              <a:rPr lang="en-US" altLang="ko-KR" sz="1500" dirty="0"/>
              <a:t>Long System Response Time</a:t>
            </a:r>
            <a:endParaRPr lang="ko-KR" altLang="en-US" sz="1500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2CD6DF3-974A-080C-029E-B1DF0ABDE10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6380819" y="2783671"/>
            <a:ext cx="966137" cy="1535773"/>
          </a:xfrm>
          <a:prstGeom prst="bentConnector3">
            <a:avLst>
              <a:gd name="adj1" fmla="val 50000"/>
            </a:avLst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137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67D98-CC16-5077-E089-678C71BDD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2174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32599</TotalTime>
  <Words>4622</Words>
  <Application>Microsoft Macintosh PowerPoint</Application>
  <PresentationFormat>와이드스크린</PresentationFormat>
  <Paragraphs>550</Paragraphs>
  <Slides>31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맑은 고딕</vt:lpstr>
      <vt:lpstr>Times</vt:lpstr>
      <vt:lpstr>Arial</vt:lpstr>
      <vt:lpstr>Cambria Math</vt:lpstr>
      <vt:lpstr>Tahoma</vt:lpstr>
      <vt:lpstr>Wingdings</vt:lpstr>
      <vt:lpstr>Office 테마</vt:lpstr>
      <vt:lpstr>DFTL: A Flash Translation Layer Employing Demand-based Selective Caching of Page-level Address Mappings</vt:lpstr>
      <vt:lpstr>PowerPoint 프레젠테이션</vt:lpstr>
      <vt:lpstr>Problem Background</vt:lpstr>
      <vt:lpstr>Problem Background</vt:lpstr>
      <vt:lpstr>Problem Background</vt:lpstr>
      <vt:lpstr>Core Idea of DFTL</vt:lpstr>
      <vt:lpstr>DFTL Architecture</vt:lpstr>
      <vt:lpstr>Address Translation Process</vt:lpstr>
      <vt:lpstr>Address Translation Process – Overhead</vt:lpstr>
      <vt:lpstr>Read/Write Operation</vt:lpstr>
      <vt:lpstr>Read/Write Operation – lazy copy</vt:lpstr>
      <vt:lpstr>Read/Write Operation – batch update</vt:lpstr>
      <vt:lpstr>Garbage collection</vt:lpstr>
      <vt:lpstr>Comparison of Hybrid FTLs with DFTL</vt:lpstr>
      <vt:lpstr>The FlashSim Simulator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F2FS : A New File System for Flash Storage</dc:title>
  <dc:creator>최건희</dc:creator>
  <cp:lastModifiedBy>정인</cp:lastModifiedBy>
  <cp:revision>3008</cp:revision>
  <cp:lastPrinted>2019-08-20T01:06:00Z</cp:lastPrinted>
  <dcterms:created xsi:type="dcterms:W3CDTF">2019-06-24T08:20:15Z</dcterms:created>
  <dcterms:modified xsi:type="dcterms:W3CDTF">2026-07-28T05:00:16Z</dcterms:modified>
</cp:coreProperties>
</file>