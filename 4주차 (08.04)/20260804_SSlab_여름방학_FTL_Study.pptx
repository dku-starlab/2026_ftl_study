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9" r:id="rId3"/>
    <p:sldId id="384" r:id="rId4"/>
    <p:sldId id="442" r:id="rId5"/>
    <p:sldId id="443" r:id="rId6"/>
    <p:sldId id="444" r:id="rId7"/>
    <p:sldId id="445" r:id="rId8"/>
    <p:sldId id="446" r:id="rId9"/>
    <p:sldId id="335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1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0"/>
    <p:restoredTop sz="88764"/>
  </p:normalViewPr>
  <p:slideViewPr>
    <p:cSldViewPr snapToGrid="0">
      <p:cViewPr varScale="1">
        <p:scale>
          <a:sx n="178" d="100"/>
          <a:sy n="178" d="100"/>
        </p:scale>
        <p:origin x="1200" y="168"/>
      </p:cViewPr>
      <p:guideLst>
        <p:guide pos="211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962C1-952C-8F49-B8D6-3F970CEDC503}" type="datetimeFigureOut">
              <a:rPr kumimoji="1" lang="ko-Kore-KR" altLang="en-US" smtClean="0"/>
              <a:t>8/3/26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08EA4-1BED-E640-9046-A861B5B5EB9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55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452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90FD-26B9-0348-7E5A-4E561B90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06DC5F-5F85-DFB6-C7B6-DBFCF4AC0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307B7-4668-DEF9-61EB-14BF3637C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83893-D65D-693A-6853-EF237B25E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40407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6B46-FD6C-51DE-964E-500453410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6194C-9EA2-6C6A-5FB6-A0378F427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211B16-214D-1B74-C9DA-979E514E7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BE87B-B66B-4377-45D6-CA7217298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1745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8BAF-7C4B-D427-972B-649A3EAA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21F4CE-6599-C0D5-7B52-64BD4CFDA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3ACD24-82B2-156F-1EC5-4C597A9B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419A6-E0F3-9492-3767-5A0E37FF7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5527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6AD8-D98B-6473-77AD-60A33CB4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7DC3FA-DF24-F61D-3B48-B6ECEEB39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D65BF-999B-1337-C22B-D5C622736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F5285-48BE-7387-8D6E-9670AC913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57606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1AFC-C9BE-170D-34FB-C2FB30FD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749692-A688-F082-B48E-B52B4BC81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279267-F65F-0109-0DD5-26A573879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816E7-4E26-C685-1C9C-25FC3E238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26022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A9D4-F11B-FA9C-D6A8-4AB88493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48308C-725F-AC9D-189E-E0DD0A0F0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D74C58-9815-7A6B-B5C5-E49BC9A8B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337B02-273B-0C68-232B-ECD502C45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38781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577A-A055-1471-4A0D-41390236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6A586D-F55C-6BE5-D341-D35D77D38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D32674-2AD3-02AA-6909-BA8A4AA81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0B9C0-DE1C-49D2-F7EE-DA7BEAFE1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08EA4-1BED-E640-9046-A861B5B5EB95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693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663344A-F89E-2719-4491-099EC99745D3}"/>
              </a:ext>
            </a:extLst>
          </p:cNvPr>
          <p:cNvSpPr/>
          <p:nvPr userDrawn="1"/>
        </p:nvSpPr>
        <p:spPr>
          <a:xfrm>
            <a:off x="-12915" y="-35604"/>
            <a:ext cx="12204915" cy="4181401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1AE8CC-2F82-BD23-45F1-2B750FA38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377" y="1041400"/>
            <a:ext cx="10053247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0319A9-0444-1716-B667-E22C9B416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376" y="3429000"/>
            <a:ext cx="10053247" cy="54375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92996A-721E-A65F-0B72-B8C2C85E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3431"/>
            <a:ext cx="2743200" cy="365125"/>
          </a:xfrm>
        </p:spPr>
        <p:txBody>
          <a:bodyPr/>
          <a:lstStyle/>
          <a:p>
            <a:fld id="{617472F0-58BF-F547-BA5E-5621EFFAE10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E061F4-A28D-02E9-0602-649172899418}"/>
              </a:ext>
            </a:extLst>
          </p:cNvPr>
          <p:cNvSpPr/>
          <p:nvPr userDrawn="1"/>
        </p:nvSpPr>
        <p:spPr>
          <a:xfrm>
            <a:off x="347418" y="-1"/>
            <a:ext cx="361627" cy="2719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1032" name="Picture 8" descr="단국대학교">
            <a:extLst>
              <a:ext uri="{FF2B5EF4-FFF2-40B4-BE49-F238E27FC236}">
                <a16:creationId xmlns:a16="http://schemas.microsoft.com/office/drawing/2014/main" id="{A6234179-357A-9666-4108-0D8AFCA5E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00061"/>
            <a:ext cx="2311101" cy="49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72A0B2-E3FE-8B9E-D836-A383CB788933}"/>
              </a:ext>
            </a:extLst>
          </p:cNvPr>
          <p:cNvSpPr/>
          <p:nvPr userDrawn="1"/>
        </p:nvSpPr>
        <p:spPr>
          <a:xfrm>
            <a:off x="11036597" y="4424778"/>
            <a:ext cx="240231" cy="1420470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518728D9-5832-7A48-6A90-DA275F5CCD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3927" y="4424778"/>
            <a:ext cx="9433523" cy="1420469"/>
          </a:xfrm>
        </p:spPr>
        <p:txBody>
          <a:bodyPr anchor="b"/>
          <a:lstStyle>
            <a:lvl1pPr marL="0" indent="0" algn="r">
              <a:buFontTx/>
              <a:buNone/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E3F79E7-1056-CEC1-F6F3-7FD7E31004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430" y="6359850"/>
            <a:ext cx="3568217" cy="45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60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6B48C4-80D3-A762-BE38-86BFF887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20" y="6441433"/>
            <a:ext cx="2743200" cy="365125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617472F0-58BF-F547-BA5E-5621EFFAE10C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7D20A9-63C7-666A-50FF-6005611D49C5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070278-5054-586C-6B3B-CA35A937097F}"/>
              </a:ext>
            </a:extLst>
          </p:cNvPr>
          <p:cNvSpPr/>
          <p:nvPr userDrawn="1"/>
        </p:nvSpPr>
        <p:spPr>
          <a:xfrm>
            <a:off x="228421" y="8831"/>
            <a:ext cx="250554" cy="58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35159E-AB4D-EB59-1AB1-BA5E01FE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5" y="0"/>
            <a:ext cx="10515600" cy="7620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pic>
        <p:nvPicPr>
          <p:cNvPr id="8" name="Picture 8" descr="단국대학교">
            <a:extLst>
              <a:ext uri="{FF2B5EF4-FFF2-40B4-BE49-F238E27FC236}">
                <a16:creationId xmlns:a16="http://schemas.microsoft.com/office/drawing/2014/main" id="{102F8336-E3DC-999E-3F04-CFAB975608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939" y="6441433"/>
            <a:ext cx="1910001" cy="40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70E2C2-2A39-E3E1-352C-25D887C3D8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940" y="6479303"/>
            <a:ext cx="2948940" cy="37869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08735D-0EC1-8A62-6AE7-B1BE7F35F4CE}"/>
              </a:ext>
            </a:extLst>
          </p:cNvPr>
          <p:cNvSpPr/>
          <p:nvPr userDrawn="1"/>
        </p:nvSpPr>
        <p:spPr>
          <a:xfrm>
            <a:off x="11958202" y="6441433"/>
            <a:ext cx="162678" cy="416567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659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6B48C4-80D3-A762-BE38-86BFF887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4505"/>
            <a:ext cx="2743200" cy="365125"/>
          </a:xfrm>
        </p:spPr>
        <p:txBody>
          <a:bodyPr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617472F0-58BF-F547-BA5E-5621EFFAE10C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7D20A9-63C7-666A-50FF-6005611D49C5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070278-5054-586C-6B3B-CA35A937097F}"/>
              </a:ext>
            </a:extLst>
          </p:cNvPr>
          <p:cNvSpPr/>
          <p:nvPr userDrawn="1"/>
        </p:nvSpPr>
        <p:spPr>
          <a:xfrm>
            <a:off x="11707648" y="0"/>
            <a:ext cx="250554" cy="58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35159E-AB4D-EB59-1AB1-BA5E01FE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0"/>
            <a:ext cx="10515600" cy="7620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pic>
        <p:nvPicPr>
          <p:cNvPr id="8" name="Picture 8" descr="단국대학교">
            <a:extLst>
              <a:ext uri="{FF2B5EF4-FFF2-40B4-BE49-F238E27FC236}">
                <a16:creationId xmlns:a16="http://schemas.microsoft.com/office/drawing/2014/main" id="{102F8336-E3DC-999E-3F04-CFAB975608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59" y="6456019"/>
            <a:ext cx="1910001" cy="40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70E2C2-2A39-E3E1-352C-25D887C3D8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60" y="6493889"/>
            <a:ext cx="2948940" cy="37869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08735D-0EC1-8A62-6AE7-B1BE7F35F4CE}"/>
              </a:ext>
            </a:extLst>
          </p:cNvPr>
          <p:cNvSpPr/>
          <p:nvPr userDrawn="1"/>
        </p:nvSpPr>
        <p:spPr>
          <a:xfrm>
            <a:off x="-10219" y="6448785"/>
            <a:ext cx="162678" cy="416567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127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6B48C4-80D3-A762-BE38-86BFF887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17472F0-58BF-F547-BA5E-5621EFFAE10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7D20A9-63C7-666A-50FF-6005611D49C5}"/>
              </a:ext>
            </a:extLst>
          </p:cNvPr>
          <p:cNvSpPr/>
          <p:nvPr userDrawn="1"/>
        </p:nvSpPr>
        <p:spPr>
          <a:xfrm>
            <a:off x="0" y="-1"/>
            <a:ext cx="4659085" cy="6345925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E4BF3-6D00-7D9F-EA35-BD24800B57EB}"/>
              </a:ext>
            </a:extLst>
          </p:cNvPr>
          <p:cNvSpPr txBox="1"/>
          <p:nvPr userDrawn="1"/>
        </p:nvSpPr>
        <p:spPr>
          <a:xfrm>
            <a:off x="1317172" y="1915885"/>
            <a:ext cx="25834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44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Contents</a:t>
            </a:r>
            <a:endParaRPr kumimoji="1" lang="ko-Kore-KR" altLang="en-US" sz="4400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4" name="Picture 8" descr="단국대학교">
            <a:extLst>
              <a:ext uri="{FF2B5EF4-FFF2-40B4-BE49-F238E27FC236}">
                <a16:creationId xmlns:a16="http://schemas.microsoft.com/office/drawing/2014/main" id="{9E2285A0-DA1B-2179-06B3-B8D062BC07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25"/>
            <a:ext cx="2311101" cy="49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6EA359-A4C4-B4C6-F180-564EF1605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101" y="6406223"/>
            <a:ext cx="3243834" cy="416567"/>
          </a:xfrm>
          <a:prstGeom prst="rect">
            <a:avLst/>
          </a:prstGeom>
        </p:spPr>
      </p:pic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4E5A4B2-D550-C392-4D43-BC9B1E37C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7543" y="734898"/>
            <a:ext cx="6487886" cy="5197816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3200"/>
            </a:lvl1pPr>
            <a:lvl2pPr marL="914400" indent="-457200">
              <a:buFont typeface="+mj-lt"/>
              <a:buAutoNum type="arabicPeriod"/>
              <a:defRPr sz="2800"/>
            </a:lvl2pPr>
            <a:lvl3pPr marL="1371600" indent="-457200">
              <a:buFont typeface="+mj-lt"/>
              <a:buAutoNum type="arabicPeriod"/>
              <a:defRPr sz="2400"/>
            </a:lvl3pPr>
            <a:lvl4pPr marL="1714500" indent="-342900">
              <a:buFont typeface="+mj-lt"/>
              <a:buAutoNum type="arabicPeriod"/>
              <a:defRPr sz="2000"/>
            </a:lvl4pPr>
            <a:lvl5pPr marL="2171700" indent="-342900">
              <a:buFont typeface="+mj-lt"/>
              <a:buAutoNum type="arabicPeriod"/>
              <a:defRPr sz="200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D7FC2F-66C1-A896-5AF1-189529DF367E}"/>
              </a:ext>
            </a:extLst>
          </p:cNvPr>
          <p:cNvSpPr/>
          <p:nvPr userDrawn="1"/>
        </p:nvSpPr>
        <p:spPr>
          <a:xfrm>
            <a:off x="828978" y="-1"/>
            <a:ext cx="326572" cy="2928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BC1DAE-8B1F-3A57-9150-021EB002FE98}"/>
              </a:ext>
            </a:extLst>
          </p:cNvPr>
          <p:cNvSpPr/>
          <p:nvPr userDrawn="1"/>
        </p:nvSpPr>
        <p:spPr>
          <a:xfrm>
            <a:off x="11865429" y="4169229"/>
            <a:ext cx="229346" cy="2176695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63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BD51BF6-9394-CD2F-7067-199833F86A46}"/>
              </a:ext>
            </a:extLst>
          </p:cNvPr>
          <p:cNvSpPr/>
          <p:nvPr userDrawn="1"/>
        </p:nvSpPr>
        <p:spPr>
          <a:xfrm>
            <a:off x="0" y="2011680"/>
            <a:ext cx="12192000" cy="4334246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6B48C4-80D3-A762-BE38-86BFF887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17472F0-58BF-F547-BA5E-5621EFFAE10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4" name="Picture 8" descr="단국대학교">
            <a:extLst>
              <a:ext uri="{FF2B5EF4-FFF2-40B4-BE49-F238E27FC236}">
                <a16:creationId xmlns:a16="http://schemas.microsoft.com/office/drawing/2014/main" id="{9E2285A0-DA1B-2179-06B3-B8D062BC07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25"/>
            <a:ext cx="2311101" cy="495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6EA359-A4C4-B4C6-F180-564EF1605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101" y="6406223"/>
            <a:ext cx="3243834" cy="4165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28E623-5D81-1ADA-1065-82CC8440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98" y="2778714"/>
            <a:ext cx="10567088" cy="1117691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96DEF51E-F3DA-FF6E-7D97-5D590F4A8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114" y="3950610"/>
            <a:ext cx="10399832" cy="63091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D7FC2F-66C1-A896-5AF1-189529DF367E}"/>
              </a:ext>
            </a:extLst>
          </p:cNvPr>
          <p:cNvSpPr/>
          <p:nvPr userDrawn="1"/>
        </p:nvSpPr>
        <p:spPr>
          <a:xfrm>
            <a:off x="506187" y="2956560"/>
            <a:ext cx="264196" cy="3389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21CD46-86FB-6158-7330-909E8DCC45C3}"/>
              </a:ext>
            </a:extLst>
          </p:cNvPr>
          <p:cNvSpPr/>
          <p:nvPr userDrawn="1"/>
        </p:nvSpPr>
        <p:spPr>
          <a:xfrm>
            <a:off x="11639406" y="0"/>
            <a:ext cx="240231" cy="1420470"/>
          </a:xfrm>
          <a:prstGeom prst="rect">
            <a:avLst/>
          </a:prstGeom>
          <a:solidFill>
            <a:srgbClr val="01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543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F91706-B601-03E9-FA5F-348745D7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DAC844-8371-CE9D-E970-804E230F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90EA9-3463-EBD1-F599-64391B9B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8939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EB0214-A72F-DC42-1A41-EC37801A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83DB78-9F1E-927D-9E61-7CC2BF058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43BAF-01A5-C952-C77A-D30E2862E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E787C-63B1-89CB-D9D9-90F5ACB65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F1A2AD-0A73-4977-FABA-43976FDE9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472F0-58BF-F547-BA5E-5621EFFAE10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9473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4" r:id="rId2"/>
    <p:sldLayoutId id="2147483665" r:id="rId3"/>
    <p:sldLayoutId id="2147483661" r:id="rId4"/>
    <p:sldLayoutId id="2147483663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atLab/FEM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github.com/theXiaofu/Seg-FTL" TargetMode="External"/><Relationship Id="rId4" Type="http://schemas.openxmlformats.org/officeDocument/2006/relationships/hyperlink" Target="https://github.com/astlxmu/LearnedFT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o.readthedocs.io/en/latest/fio_doc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o.readthedocs.io/en/latest/fio_doc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io.readthedocs.io/en/latest/fio_doc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lebench/filebench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hyperlink" Target="https://github.com/filebench/filebench/releas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CFA88E9-E615-C93A-6FC8-7F780026C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b="1" dirty="0"/>
              <a:t>2026</a:t>
            </a:r>
            <a:r>
              <a:rPr kumimoji="1" lang="ko-KR" altLang="en-US" sz="3600" b="1" dirty="0"/>
              <a:t> </a:t>
            </a:r>
            <a:r>
              <a:rPr kumimoji="1" lang="en-US" altLang="ko-KR" sz="3600" b="1" dirty="0"/>
              <a:t>Summer Break</a:t>
            </a:r>
            <a:br>
              <a:rPr kumimoji="1" lang="en-US" altLang="en-US" sz="5400" b="1" dirty="0"/>
            </a:br>
            <a:r>
              <a:rPr kumimoji="1" lang="en-US" altLang="en-US" sz="6600" b="1" dirty="0"/>
              <a:t>FTL Study</a:t>
            </a:r>
            <a:endParaRPr lang="ko-Kore-KR" altLang="en-US" sz="5400" b="1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82F3E6E-DECD-76B1-50DB-CCC7282ED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376" y="3429000"/>
            <a:ext cx="11122624" cy="762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en-US" sz="1800" b="1" dirty="0"/>
              <a:t>Basic Lecture</a:t>
            </a:r>
            <a:endParaRPr kumimoji="1" lang="ko-Kore-KR" altLang="en-US" sz="1800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7DE9CB-3079-1EB6-2A6E-77D2EEE7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1</a:t>
            </a:fld>
            <a:endParaRPr kumimoji="1" lang="ko-Kore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7318E6F-0BD8-F11C-4BEF-928FC73B9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sz="1200" dirty="0"/>
              <a:t>2026.08.04</a:t>
            </a:r>
          </a:p>
          <a:p>
            <a:r>
              <a:rPr lang="en-US" altLang="ko-Kore-KR" sz="1200" dirty="0"/>
              <a:t>Presentation by Choi, </a:t>
            </a:r>
            <a:r>
              <a:rPr lang="en-US" altLang="ko-Kore-KR" sz="1200" dirty="0" err="1"/>
              <a:t>Gunhee</a:t>
            </a:r>
            <a:endParaRPr lang="en-US" altLang="ko-Kore-KR" sz="1200" dirty="0"/>
          </a:p>
          <a:p>
            <a:r>
              <a:rPr lang="en-US" altLang="ko-Kore-KR" sz="1200" dirty="0" err="1"/>
              <a:t>choi_gunhee@dankook.ac.kr</a:t>
            </a:r>
            <a:endParaRPr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4611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930E3B-D9EB-7A17-4877-471810FCE4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ore-KR" dirty="0">
                <a:latin typeface="+mj-ea"/>
                <a:ea typeface="+mj-ea"/>
              </a:rPr>
              <a:t>FEMU</a:t>
            </a:r>
          </a:p>
          <a:p>
            <a:pPr>
              <a:lnSpc>
                <a:spcPct val="150000"/>
              </a:lnSpc>
            </a:pPr>
            <a:r>
              <a:rPr lang="en-US" altLang="ko-Kore-KR" dirty="0">
                <a:latin typeface="+mj-ea"/>
                <a:ea typeface="+mj-ea"/>
              </a:rPr>
              <a:t>FIO</a:t>
            </a:r>
          </a:p>
          <a:p>
            <a:pPr>
              <a:lnSpc>
                <a:spcPct val="150000"/>
              </a:lnSpc>
            </a:pPr>
            <a:r>
              <a:rPr lang="en-US" altLang="ko-Kore-KR" dirty="0" err="1">
                <a:latin typeface="+mj-ea"/>
                <a:ea typeface="+mj-ea"/>
              </a:rPr>
              <a:t>Filebench</a:t>
            </a:r>
            <a:endParaRPr lang="en-US" altLang="ko-Kore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+mj-ea"/>
                <a:ea typeface="+mj-ea"/>
              </a:rPr>
              <a:t>논문 재현</a:t>
            </a:r>
            <a:endParaRPr lang="en-US" altLang="ko-Kore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ore-KR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43D969-27C8-C226-CDC6-DE487968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840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65E8-1332-0203-51E9-D1E1C44A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AC5A5C-BFB3-F598-9E04-600DC042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3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5CDC41-1E58-139C-6B0C-614DFC23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1.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FEMU</a:t>
            </a:r>
            <a:endParaRPr lang="ko-Kore-KR" alt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46AF4-40D1-5E82-0738-4615B7D52728}"/>
              </a:ext>
            </a:extLst>
          </p:cNvPr>
          <p:cNvSpPr txBox="1"/>
          <p:nvPr/>
        </p:nvSpPr>
        <p:spPr>
          <a:xfrm>
            <a:off x="302341" y="844107"/>
            <a:ext cx="6877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FEMU</a:t>
            </a:r>
            <a:r>
              <a:rPr kumimoji="1" lang="ko-KR" altLang="en-US" b="1" dirty="0"/>
              <a:t> 기반 논문 </a:t>
            </a:r>
            <a:r>
              <a:rPr kumimoji="1" lang="en-US" altLang="ko-KR" b="1" dirty="0"/>
              <a:t>git</a:t>
            </a:r>
            <a:endParaRPr kumimoji="1"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3B4C2-D0F7-7C1E-0299-56710E6A2D1B}"/>
              </a:ext>
            </a:extLst>
          </p:cNvPr>
          <p:cNvSpPr txBox="1"/>
          <p:nvPr/>
        </p:nvSpPr>
        <p:spPr>
          <a:xfrm>
            <a:off x="735304" y="1295546"/>
            <a:ext cx="61686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dirty="0">
                <a:hlinkClick r:id="rId3"/>
              </a:rPr>
              <a:t>https://github.com/MoatLab/FEMU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>
                <a:hlinkClick r:id="rId4"/>
              </a:rPr>
              <a:t>https://github.com/astlxmu/LearnedFTL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>
                <a:hlinkClick r:id="rId5"/>
              </a:rPr>
              <a:t>https://github.com/theXiaofu/Seg-FTL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 err="1"/>
              <a:t>devsz_mb</a:t>
            </a:r>
            <a:r>
              <a:rPr lang="en-US" altLang="ko-KR" dirty="0"/>
              <a:t> : </a:t>
            </a:r>
            <a:r>
              <a:rPr lang="ko-KR" altLang="en-US" dirty="0"/>
              <a:t>용량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net </a:t>
            </a:r>
            <a:r>
              <a:rPr lang="en-US" altLang="ko-KR" dirty="0" err="1"/>
              <a:t>user,hostfwd</a:t>
            </a:r>
            <a:r>
              <a:rPr lang="en-US" altLang="ko-KR" dirty="0"/>
              <a:t>=</a:t>
            </a:r>
            <a:r>
              <a:rPr lang="en-US" altLang="ko-KR" dirty="0" err="1"/>
              <a:t>tcp</a:t>
            </a:r>
            <a:r>
              <a:rPr lang="en-US" altLang="ko-KR" dirty="0"/>
              <a:t>::10621-:22 :</a:t>
            </a:r>
            <a:r>
              <a:rPr lang="ko-KR" altLang="en-US" dirty="0"/>
              <a:t> </a:t>
            </a:r>
            <a:r>
              <a:rPr lang="ko-KR" altLang="en-US" dirty="0" err="1"/>
              <a:t>포트포워딩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DD1189-55B9-34B2-A5EE-062578884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031" y="1213439"/>
            <a:ext cx="6024628" cy="511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024E8-2293-67E2-DCDF-B6B9AB76AC03}"/>
              </a:ext>
            </a:extLst>
          </p:cNvPr>
          <p:cNvSpPr txBox="1"/>
          <p:nvPr/>
        </p:nvSpPr>
        <p:spPr>
          <a:xfrm>
            <a:off x="6038791" y="844107"/>
            <a:ext cx="173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run-</a:t>
            </a:r>
            <a:r>
              <a:rPr kumimoji="1" lang="en-US" altLang="ko-KR" dirty="0" err="1"/>
              <a:t>blockbox.sh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075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9F6EA-FBE8-11BB-C44E-69C002EF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B690F8-CBA8-C2CC-07E9-22703E73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4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AE276B-6979-469B-5FE6-E657B53C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2.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FIO</a:t>
            </a:r>
            <a:endParaRPr lang="ko-Kore-KR" alt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AEB2C-C4DD-A99F-7869-291ADE105A9A}"/>
              </a:ext>
            </a:extLst>
          </p:cNvPr>
          <p:cNvSpPr txBox="1"/>
          <p:nvPr/>
        </p:nvSpPr>
        <p:spPr>
          <a:xfrm>
            <a:off x="302341" y="844107"/>
            <a:ext cx="6877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Link : </a:t>
            </a:r>
            <a:r>
              <a:rPr kumimoji="1" lang="en-US" altLang="ko-KR" b="1" dirty="0">
                <a:hlinkClick r:id="rId3"/>
              </a:rPr>
              <a:t>https://fio.readthedocs.io/en/latest/fio_doc.html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Install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apt-get update </a:t>
            </a:r>
            <a:r>
              <a:rPr lang="en" altLang="ko-KR" dirty="0" err="1"/>
              <a:t>sudo</a:t>
            </a:r>
            <a:r>
              <a:rPr lang="en" altLang="ko-KR" dirty="0"/>
              <a:t> apt-get install -y </a:t>
            </a:r>
            <a:r>
              <a:rPr lang="en" altLang="ko-KR" dirty="0" err="1"/>
              <a:t>fio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Command</a:t>
            </a:r>
            <a:endParaRPr kumimoji="1"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12D44-4476-53DE-B918-31CB4C515E78}"/>
              </a:ext>
            </a:extLst>
          </p:cNvPr>
          <p:cNvSpPr txBox="1"/>
          <p:nvPr/>
        </p:nvSpPr>
        <p:spPr>
          <a:xfrm>
            <a:off x="1224558" y="2598433"/>
            <a:ext cx="8224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# 1G </a:t>
            </a:r>
            <a:r>
              <a:rPr lang="ko-KR" altLang="en-US" dirty="0"/>
              <a:t>순차 쓰기 </a:t>
            </a:r>
            <a:r>
              <a:rPr lang="en" altLang="ko-KR" dirty="0"/>
              <a:t>FIO </a:t>
            </a:r>
            <a:r>
              <a:rPr lang="ko-KR" altLang="en-US" dirty="0"/>
              <a:t>명령어 </a:t>
            </a:r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fio</a:t>
            </a:r>
            <a:r>
              <a:rPr lang="en" altLang="ko-KR" dirty="0"/>
              <a:t> --name=seq_write_1G \ --filename=/dev/nvme0n1 \ --</a:t>
            </a:r>
            <a:r>
              <a:rPr lang="en" altLang="ko-KR" dirty="0" err="1"/>
              <a:t>ioengine</a:t>
            </a:r>
            <a:r>
              <a:rPr lang="en" altLang="ko-KR" dirty="0"/>
              <a:t>=</a:t>
            </a:r>
            <a:r>
              <a:rPr lang="en" altLang="ko-KR" dirty="0" err="1"/>
              <a:t>libaio</a:t>
            </a:r>
            <a:r>
              <a:rPr lang="en" altLang="ko-KR" dirty="0"/>
              <a:t> \ --</a:t>
            </a:r>
            <a:r>
              <a:rPr lang="en" altLang="ko-KR" dirty="0" err="1"/>
              <a:t>iodepth</a:t>
            </a:r>
            <a:r>
              <a:rPr lang="en" altLang="ko-KR" dirty="0"/>
              <a:t>=32 \ --</a:t>
            </a:r>
            <a:r>
              <a:rPr lang="en" altLang="ko-KR" dirty="0" err="1"/>
              <a:t>rw</a:t>
            </a:r>
            <a:r>
              <a:rPr lang="en" altLang="ko-KR" dirty="0"/>
              <a:t>=write \ --bs=128k \ --direct=1 \ --size=1G \ --</a:t>
            </a:r>
            <a:r>
              <a:rPr lang="en" altLang="ko-KR" dirty="0" err="1"/>
              <a:t>numjobs</a:t>
            </a:r>
            <a:r>
              <a:rPr lang="en" altLang="ko-KR" dirty="0"/>
              <a:t>=1 \ --</a:t>
            </a:r>
            <a:r>
              <a:rPr lang="en" altLang="ko-KR" dirty="0" err="1"/>
              <a:t>group_reporting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65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24B7-4DA6-8CD3-EAD5-9BF74102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49A90AD-EF3E-D657-26FE-60608ED7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5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D08DA3-98FC-13A8-3237-5746C551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2.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FIO</a:t>
            </a:r>
            <a:endParaRPr lang="ko-Kore-KR" alt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7E930-BB66-BEE6-BFC4-B6B6A29CC9CB}"/>
              </a:ext>
            </a:extLst>
          </p:cNvPr>
          <p:cNvSpPr txBox="1"/>
          <p:nvPr/>
        </p:nvSpPr>
        <p:spPr>
          <a:xfrm>
            <a:off x="302341" y="844107"/>
            <a:ext cx="6877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Link : </a:t>
            </a:r>
            <a:r>
              <a:rPr kumimoji="1" lang="en-US" altLang="ko-KR" b="1" dirty="0">
                <a:hlinkClick r:id="rId3"/>
              </a:rPr>
              <a:t>https://fio.readthedocs.io/en/latest/fio_doc.html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Install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apt-get update </a:t>
            </a:r>
            <a:r>
              <a:rPr lang="en" altLang="ko-KR" dirty="0" err="1"/>
              <a:t>sudo</a:t>
            </a:r>
            <a:r>
              <a:rPr lang="en" altLang="ko-KR" dirty="0"/>
              <a:t> apt-get install -y </a:t>
            </a:r>
            <a:r>
              <a:rPr lang="en" altLang="ko-KR" dirty="0" err="1"/>
              <a:t>fio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Basic FIO GC Experiment</a:t>
            </a:r>
            <a:endParaRPr kumimoji="1"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18DCE-85F0-6910-BCAC-F3141718C24D}"/>
              </a:ext>
            </a:extLst>
          </p:cNvPr>
          <p:cNvSpPr txBox="1"/>
          <p:nvPr/>
        </p:nvSpPr>
        <p:spPr>
          <a:xfrm>
            <a:off x="1119781" y="2648756"/>
            <a:ext cx="38665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fio</a:t>
            </a:r>
            <a:r>
              <a:rPr lang="en" altLang="ko-KR" dirty="0"/>
              <a:t> --name=</a:t>
            </a:r>
            <a:r>
              <a:rPr lang="en" altLang="ko-KR" dirty="0" err="1"/>
              <a:t>fill_half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--filename=/dev/nvme0n1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ioengine</a:t>
            </a:r>
            <a:r>
              <a:rPr lang="en" altLang="ko-KR" dirty="0"/>
              <a:t>=</a:t>
            </a:r>
            <a:r>
              <a:rPr lang="en" altLang="ko-KR" dirty="0" err="1"/>
              <a:t>libaio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iodepth</a:t>
            </a:r>
            <a:r>
              <a:rPr lang="en" altLang="ko-KR" dirty="0"/>
              <a:t>=32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rw</a:t>
            </a:r>
            <a:r>
              <a:rPr lang="en" altLang="ko-KR" dirty="0"/>
              <a:t>=</a:t>
            </a:r>
            <a:r>
              <a:rPr lang="en" altLang="ko-KR" b="1" dirty="0">
                <a:solidFill>
                  <a:srgbClr val="C00000"/>
                </a:solidFill>
              </a:rPr>
              <a:t>write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--bs=128k \</a:t>
            </a:r>
          </a:p>
          <a:p>
            <a:r>
              <a:rPr lang="en" altLang="ko-KR" dirty="0"/>
              <a:t>         --direct=1 \</a:t>
            </a:r>
          </a:p>
          <a:p>
            <a:r>
              <a:rPr lang="en" altLang="ko-KR" dirty="0"/>
              <a:t>         --size=10G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numjobs</a:t>
            </a:r>
            <a:r>
              <a:rPr lang="en" altLang="ko-KR" dirty="0"/>
              <a:t>=1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group_reporting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841E1-27A5-F199-0103-8473A08D891B}"/>
              </a:ext>
            </a:extLst>
          </p:cNvPr>
          <p:cNvSpPr txBox="1"/>
          <p:nvPr/>
        </p:nvSpPr>
        <p:spPr>
          <a:xfrm>
            <a:off x="6334719" y="2598433"/>
            <a:ext cx="4973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fio</a:t>
            </a:r>
            <a:r>
              <a:rPr lang="en" altLang="ko-KR" dirty="0"/>
              <a:t> --name=</a:t>
            </a:r>
            <a:r>
              <a:rPr lang="en" altLang="ko-KR" dirty="0" err="1"/>
              <a:t>force_gc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--filename=/dev/nvme0n1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ioengine</a:t>
            </a:r>
            <a:r>
              <a:rPr lang="en" altLang="ko-KR" dirty="0"/>
              <a:t>=</a:t>
            </a:r>
            <a:r>
              <a:rPr lang="en" altLang="ko-KR" dirty="0" err="1"/>
              <a:t>libaio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iodepth</a:t>
            </a:r>
            <a:r>
              <a:rPr lang="en" altLang="ko-KR" dirty="0"/>
              <a:t>=64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rw</a:t>
            </a:r>
            <a:r>
              <a:rPr lang="en" altLang="ko-KR" dirty="0"/>
              <a:t>=</a:t>
            </a:r>
            <a:r>
              <a:rPr lang="en" altLang="ko-KR" b="1" dirty="0" err="1">
                <a:solidFill>
                  <a:srgbClr val="C00000"/>
                </a:solidFill>
              </a:rPr>
              <a:t>randwrite</a:t>
            </a:r>
            <a:r>
              <a:rPr lang="en" altLang="ko-KR" dirty="0"/>
              <a:t> \</a:t>
            </a:r>
          </a:p>
          <a:p>
            <a:r>
              <a:rPr lang="en" altLang="ko-KR" dirty="0"/>
              <a:t>         --bs=4k \</a:t>
            </a:r>
          </a:p>
          <a:p>
            <a:r>
              <a:rPr lang="en" altLang="ko-KR" dirty="0"/>
              <a:t>         --direct=1 \</a:t>
            </a:r>
          </a:p>
          <a:p>
            <a:r>
              <a:rPr lang="en" altLang="ko-KR" dirty="0"/>
              <a:t>         --size=10G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time_based</a:t>
            </a:r>
            <a:r>
              <a:rPr lang="en" altLang="ko-KR" dirty="0"/>
              <a:t>=1 \</a:t>
            </a:r>
          </a:p>
          <a:p>
            <a:r>
              <a:rPr lang="en" altLang="ko-KR" dirty="0"/>
              <a:t>         --runtime=300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numjobs</a:t>
            </a:r>
            <a:r>
              <a:rPr lang="en" altLang="ko-KR" dirty="0"/>
              <a:t>=4 \</a:t>
            </a:r>
          </a:p>
          <a:p>
            <a:r>
              <a:rPr lang="en" altLang="ko-KR" dirty="0"/>
              <a:t>         --</a:t>
            </a:r>
            <a:r>
              <a:rPr lang="en" altLang="ko-KR" dirty="0" err="1"/>
              <a:t>group_reporting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248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346C-5B87-51B6-FA68-E57024BF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40589F-4C22-D06E-E2D9-2DF7BFB5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6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4B601AD-B397-68FF-ED29-065748D2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2.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FIO</a:t>
            </a:r>
            <a:endParaRPr lang="ko-Kore-KR" alt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577E1-9F37-1185-0CAB-784B9313257A}"/>
              </a:ext>
            </a:extLst>
          </p:cNvPr>
          <p:cNvSpPr txBox="1"/>
          <p:nvPr/>
        </p:nvSpPr>
        <p:spPr>
          <a:xfrm>
            <a:off x="302341" y="844107"/>
            <a:ext cx="6877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Link : </a:t>
            </a:r>
            <a:r>
              <a:rPr kumimoji="1" lang="en-US" altLang="ko-KR" b="1" dirty="0">
                <a:hlinkClick r:id="rId3"/>
              </a:rPr>
              <a:t>https://fio.readthedocs.io/en/latest/fio_doc.html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Install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apt-get update </a:t>
            </a:r>
            <a:r>
              <a:rPr lang="en" altLang="ko-KR" dirty="0" err="1"/>
              <a:t>sudo</a:t>
            </a:r>
            <a:r>
              <a:rPr lang="en" altLang="ko-KR" dirty="0"/>
              <a:t> apt-get install -y </a:t>
            </a:r>
            <a:r>
              <a:rPr lang="en" altLang="ko-KR" dirty="0" err="1"/>
              <a:t>fio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Basic FIO GC Experiment</a:t>
            </a:r>
            <a:endParaRPr kumimoji="1"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266DD-9B0D-4CB3-FB61-2307F68D67CC}"/>
              </a:ext>
            </a:extLst>
          </p:cNvPr>
          <p:cNvSpPr txBox="1"/>
          <p:nvPr/>
        </p:nvSpPr>
        <p:spPr>
          <a:xfrm>
            <a:off x="5791793" y="1342757"/>
            <a:ext cx="6581181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[</a:t>
            </a:r>
            <a:r>
              <a:rPr lang="ko-KR" altLang="en-US" sz="1400" dirty="0" err="1"/>
              <a:t>global</a:t>
            </a:r>
            <a:r>
              <a:rPr lang="ko-KR" altLang="en-US" sz="1400" dirty="0"/>
              <a:t>]</a:t>
            </a:r>
          </a:p>
          <a:p>
            <a:r>
              <a:rPr lang="ko-KR" altLang="en-US" sz="1400" dirty="0" err="1"/>
              <a:t>filename</a:t>
            </a:r>
            <a:r>
              <a:rPr lang="ko-KR" altLang="en-US" sz="1400" dirty="0"/>
              <a:t>=/</a:t>
            </a:r>
            <a:r>
              <a:rPr lang="ko-KR" altLang="en-US" sz="1400" dirty="0" err="1"/>
              <a:t>dev</a:t>
            </a:r>
            <a:r>
              <a:rPr lang="ko-KR" altLang="en-US" sz="1400" dirty="0"/>
              <a:t>/nvme0n1</a:t>
            </a:r>
          </a:p>
          <a:p>
            <a:r>
              <a:rPr lang="ko-KR" altLang="en-US" sz="1400" dirty="0" err="1"/>
              <a:t>ioengine</a:t>
            </a:r>
            <a:r>
              <a:rPr lang="ko-KR" altLang="en-US" sz="1400" dirty="0"/>
              <a:t>=</a:t>
            </a:r>
            <a:r>
              <a:rPr lang="ko-KR" altLang="en-US" sz="1400" dirty="0" err="1"/>
              <a:t>libaio</a:t>
            </a:r>
            <a:endParaRPr lang="ko-KR" altLang="en-US" sz="1400" dirty="0"/>
          </a:p>
          <a:p>
            <a:r>
              <a:rPr lang="ko-KR" altLang="en-US" sz="1400" dirty="0" err="1"/>
              <a:t>direct</a:t>
            </a:r>
            <a:r>
              <a:rPr lang="ko-KR" altLang="en-US" sz="1400" dirty="0"/>
              <a:t>=1</a:t>
            </a:r>
          </a:p>
          <a:p>
            <a:r>
              <a:rPr lang="ko-KR" altLang="en-US" sz="1400" dirty="0" err="1"/>
              <a:t>group_reporting</a:t>
            </a:r>
            <a:endParaRPr lang="ko-KR" altLang="en-US" sz="1400" dirty="0"/>
          </a:p>
          <a:p>
            <a:r>
              <a:rPr lang="ko-KR" altLang="en-US" sz="1400" dirty="0" err="1"/>
              <a:t>size</a:t>
            </a:r>
            <a:r>
              <a:rPr lang="ko-KR" altLang="en-US" sz="1400" dirty="0"/>
              <a:t>=10G        # 16GB SSD 중 10GB(약 62.5%) 구간만 타겟팅</a:t>
            </a:r>
          </a:p>
          <a:p>
            <a:endParaRPr lang="ko-KR" altLang="en-US" sz="1400" dirty="0"/>
          </a:p>
          <a:p>
            <a:r>
              <a:rPr lang="ko-KR" altLang="en-US" sz="1400" dirty="0"/>
              <a:t># </a:t>
            </a:r>
            <a:r>
              <a:rPr lang="ko-KR" altLang="en-US" sz="1400" dirty="0" err="1"/>
              <a:t>Step</a:t>
            </a:r>
            <a:r>
              <a:rPr lang="ko-KR" altLang="en-US" sz="1400" dirty="0"/>
              <a:t> 1: 디스크의 10GB 구간을 순차 데이터로 채움 (</a:t>
            </a:r>
            <a:r>
              <a:rPr lang="ko-KR" altLang="en-US" sz="1400" dirty="0" err="1"/>
              <a:t>Pre-conditioning</a:t>
            </a:r>
            <a:r>
              <a:rPr lang="ko-KR" altLang="en-US" sz="1400" dirty="0"/>
              <a:t>)</a:t>
            </a:r>
          </a:p>
          <a:p>
            <a:r>
              <a:rPr lang="ko-KR" altLang="en-US" sz="1400" dirty="0"/>
              <a:t>[</a:t>
            </a:r>
            <a:r>
              <a:rPr lang="ko-KR" altLang="en-US" sz="1400" dirty="0" err="1"/>
              <a:t>precondition</a:t>
            </a:r>
            <a:r>
              <a:rPr lang="ko-KR" altLang="en-US" sz="1400" dirty="0"/>
              <a:t>]</a:t>
            </a:r>
          </a:p>
          <a:p>
            <a:r>
              <a:rPr lang="ko-KR" altLang="en-US" sz="1400" dirty="0" err="1"/>
              <a:t>rw</a:t>
            </a:r>
            <a:r>
              <a:rPr lang="ko-KR" altLang="en-US" sz="1400" dirty="0"/>
              <a:t>=</a:t>
            </a:r>
            <a:r>
              <a:rPr lang="ko-KR" altLang="en-US" sz="1400" dirty="0" err="1"/>
              <a:t>write</a:t>
            </a:r>
            <a:endParaRPr lang="ko-KR" altLang="en-US" sz="1400" dirty="0"/>
          </a:p>
          <a:p>
            <a:r>
              <a:rPr lang="ko-KR" altLang="en-US" sz="1400" dirty="0" err="1"/>
              <a:t>bs</a:t>
            </a:r>
            <a:r>
              <a:rPr lang="ko-KR" altLang="en-US" sz="1400" dirty="0"/>
              <a:t>=128k</a:t>
            </a:r>
          </a:p>
          <a:p>
            <a:r>
              <a:rPr lang="ko-KR" altLang="en-US" sz="1400" dirty="0" err="1"/>
              <a:t>iodepth</a:t>
            </a:r>
            <a:r>
              <a:rPr lang="ko-KR" altLang="en-US" sz="1400" dirty="0"/>
              <a:t>=32</a:t>
            </a:r>
          </a:p>
          <a:p>
            <a:r>
              <a:rPr lang="ko-KR" altLang="en-US" sz="1400" dirty="0" err="1"/>
              <a:t>numjobs</a:t>
            </a:r>
            <a:r>
              <a:rPr lang="ko-KR" altLang="en-US" sz="1400" dirty="0"/>
              <a:t>=1</a:t>
            </a:r>
          </a:p>
          <a:p>
            <a:endParaRPr lang="ko-KR" altLang="en-US" sz="1400" dirty="0"/>
          </a:p>
          <a:p>
            <a:r>
              <a:rPr lang="ko-KR" altLang="en-US" sz="1400" dirty="0"/>
              <a:t># </a:t>
            </a:r>
            <a:r>
              <a:rPr lang="ko-KR" altLang="en-US" sz="1400" dirty="0" err="1"/>
              <a:t>Step</a:t>
            </a:r>
            <a:r>
              <a:rPr lang="ko-KR" altLang="en-US" sz="1400" dirty="0"/>
              <a:t> 2: 동일한 10GB 구간에 4KB 랜덤 쓰기를 수행하여 GC 강제 유발</a:t>
            </a:r>
          </a:p>
          <a:p>
            <a:r>
              <a:rPr lang="ko-KR" altLang="en-US" sz="1400" dirty="0"/>
              <a:t>[</a:t>
            </a:r>
            <a:r>
              <a:rPr lang="ko-KR" altLang="en-US" sz="1400" dirty="0" err="1"/>
              <a:t>trigger_gc</a:t>
            </a:r>
            <a:r>
              <a:rPr lang="ko-KR" altLang="en-US" sz="1400" dirty="0"/>
              <a:t>]</a:t>
            </a:r>
          </a:p>
          <a:p>
            <a:r>
              <a:rPr lang="ko-KR" altLang="en-US" sz="1400" dirty="0" err="1"/>
              <a:t>stonewall</a:t>
            </a:r>
            <a:r>
              <a:rPr lang="ko-KR" altLang="en-US" sz="1400" dirty="0"/>
              <a:t>       # 앞의 [</a:t>
            </a:r>
            <a:r>
              <a:rPr lang="ko-KR" altLang="en-US" sz="1400" dirty="0" err="1"/>
              <a:t>precondition</a:t>
            </a:r>
            <a:r>
              <a:rPr lang="ko-KR" altLang="en-US" sz="1400" dirty="0"/>
              <a:t>] 작업이 완료된 후 실행</a:t>
            </a:r>
          </a:p>
          <a:p>
            <a:r>
              <a:rPr lang="ko-KR" altLang="en-US" sz="1400" dirty="0" err="1"/>
              <a:t>rw</a:t>
            </a:r>
            <a:r>
              <a:rPr lang="ko-KR" altLang="en-US" sz="1400" dirty="0"/>
              <a:t>=</a:t>
            </a:r>
            <a:r>
              <a:rPr lang="ko-KR" altLang="en-US" sz="1400" dirty="0" err="1"/>
              <a:t>randwrite</a:t>
            </a:r>
            <a:endParaRPr lang="ko-KR" altLang="en-US" sz="1400" dirty="0"/>
          </a:p>
          <a:p>
            <a:r>
              <a:rPr lang="ko-KR" altLang="en-US" sz="1400" dirty="0" err="1"/>
              <a:t>bs</a:t>
            </a:r>
            <a:r>
              <a:rPr lang="ko-KR" altLang="en-US" sz="1400" dirty="0"/>
              <a:t>=4k</a:t>
            </a:r>
          </a:p>
          <a:p>
            <a:r>
              <a:rPr lang="ko-KR" altLang="en-US" sz="1400" dirty="0" err="1"/>
              <a:t>iodepth</a:t>
            </a:r>
            <a:r>
              <a:rPr lang="ko-KR" altLang="en-US" sz="1400" dirty="0"/>
              <a:t>=64</a:t>
            </a:r>
          </a:p>
          <a:p>
            <a:r>
              <a:rPr lang="ko-KR" altLang="en-US" sz="1400" dirty="0" err="1"/>
              <a:t>numjobs</a:t>
            </a:r>
            <a:r>
              <a:rPr lang="ko-KR" altLang="en-US" sz="1400" dirty="0"/>
              <a:t>=4       # 동시다발적인 IO 요청으로 FTL 큐 압박</a:t>
            </a:r>
          </a:p>
          <a:p>
            <a:r>
              <a:rPr lang="ko-KR" altLang="en-US" sz="1400" dirty="0" err="1"/>
              <a:t>time_based</a:t>
            </a:r>
            <a:r>
              <a:rPr lang="ko-KR" altLang="en-US" sz="1400" dirty="0"/>
              <a:t>=1</a:t>
            </a:r>
          </a:p>
          <a:p>
            <a:r>
              <a:rPr lang="ko-KR" altLang="en-US" sz="1400" dirty="0" err="1"/>
              <a:t>runtime</a:t>
            </a:r>
            <a:r>
              <a:rPr lang="ko-KR" altLang="en-US" sz="1400" dirty="0"/>
              <a:t>=300     # 300초 동안 10GB LBA 구간 내에서 지속적인 덮어쓰기 발생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CAFAC-594E-2164-88E0-A0D776C77293}"/>
              </a:ext>
            </a:extLst>
          </p:cNvPr>
          <p:cNvSpPr txBox="1"/>
          <p:nvPr/>
        </p:nvSpPr>
        <p:spPr>
          <a:xfrm>
            <a:off x="1735931" y="2680540"/>
            <a:ext cx="280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fio</a:t>
            </a:r>
            <a:r>
              <a:rPr lang="en" altLang="ko-KR" dirty="0"/>
              <a:t> gc_test_16g.fio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758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91A7-6EC5-DBEE-2844-B189BD0C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C9EF7F-BF5E-BAB6-C5B7-541DAC46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7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11C446F-122E-3A78-5849-D6DEF662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3. </a:t>
            </a:r>
            <a:r>
              <a:rPr lang="en-US" altLang="en-US" sz="3600" b="1" dirty="0" err="1"/>
              <a:t>Filebench</a:t>
            </a:r>
            <a:endParaRPr lang="ko-Kore-KR" alt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20961-1F93-26DC-D205-DB1A6B6F47A9}"/>
              </a:ext>
            </a:extLst>
          </p:cNvPr>
          <p:cNvSpPr txBox="1"/>
          <p:nvPr/>
        </p:nvSpPr>
        <p:spPr>
          <a:xfrm>
            <a:off x="302341" y="844107"/>
            <a:ext cx="68773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Link : </a:t>
            </a:r>
            <a:r>
              <a:rPr kumimoji="1" lang="en-US" altLang="ko-KR" b="1" dirty="0">
                <a:hlinkClick r:id="rId3"/>
              </a:rPr>
              <a:t>https://github.com/filebench/filebench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Link : </a:t>
            </a:r>
            <a:r>
              <a:rPr kumimoji="1" lang="en-US" altLang="ko-KR" b="1" dirty="0">
                <a:hlinkClick r:id="rId4"/>
              </a:rPr>
              <a:t>https://github.com/filebench/filebench/releases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Install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(</a:t>
            </a:r>
            <a:r>
              <a:rPr lang="ko-KR" altLang="en-US" dirty="0"/>
              <a:t>중요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sysctl</a:t>
            </a:r>
            <a:r>
              <a:rPr lang="en" altLang="ko-KR" dirty="0"/>
              <a:t> -w </a:t>
            </a:r>
            <a:r>
              <a:rPr lang="en" altLang="ko-KR" dirty="0" err="1"/>
              <a:t>kernel.randomize_va_space</a:t>
            </a:r>
            <a:r>
              <a:rPr lang="en" altLang="ko-KR" dirty="0"/>
              <a:t>=0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FS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mkfs.ext4 /dev/nvme0n1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mkdir</a:t>
            </a:r>
            <a:r>
              <a:rPr lang="en" altLang="ko-KR" dirty="0"/>
              <a:t> -p /</a:t>
            </a:r>
            <a:r>
              <a:rPr lang="en" altLang="ko-KR" dirty="0" err="1"/>
              <a:t>mnt</a:t>
            </a:r>
            <a:r>
              <a:rPr lang="en" altLang="ko-KR" dirty="0"/>
              <a:t>/</a:t>
            </a:r>
            <a:r>
              <a:rPr lang="en" altLang="ko-KR" dirty="0" err="1"/>
              <a:t>femu_nvme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mount -o </a:t>
            </a:r>
            <a:r>
              <a:rPr lang="en" altLang="ko-KR" dirty="0" err="1"/>
              <a:t>noatime</a:t>
            </a:r>
            <a:r>
              <a:rPr lang="en" altLang="ko-KR" dirty="0"/>
              <a:t> /dev/nvme0n1 /</a:t>
            </a:r>
            <a:r>
              <a:rPr lang="en" altLang="ko-KR" dirty="0" err="1"/>
              <a:t>mnt</a:t>
            </a:r>
            <a:r>
              <a:rPr lang="en" altLang="ko-KR" dirty="0"/>
              <a:t>/</a:t>
            </a:r>
            <a:r>
              <a:rPr lang="en" altLang="ko-KR" dirty="0" err="1"/>
              <a:t>femu_nvme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" altLang="ko-K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sudo</a:t>
            </a:r>
            <a:r>
              <a:rPr lang="en" altLang="ko-KR" dirty="0"/>
              <a:t> </a:t>
            </a:r>
            <a:r>
              <a:rPr lang="en" altLang="ko-KR" dirty="0" err="1"/>
              <a:t>filebench</a:t>
            </a:r>
            <a:r>
              <a:rPr lang="en" altLang="ko-KR" dirty="0"/>
              <a:t> -f ./</a:t>
            </a:r>
            <a:r>
              <a:rPr lang="en" altLang="ko-KR" dirty="0" err="1"/>
              <a:t>my_fileserver.f</a:t>
            </a:r>
            <a:endParaRPr kumimoji="1"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21D984-6A43-DB9A-78FA-C964BC120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" y="2046467"/>
            <a:ext cx="6423471" cy="863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5C27F5-0357-50A7-AF8B-5D9F65B217D7}"/>
              </a:ext>
            </a:extLst>
          </p:cNvPr>
          <p:cNvSpPr txBox="1"/>
          <p:nvPr/>
        </p:nvSpPr>
        <p:spPr>
          <a:xfrm>
            <a:off x="6625544" y="822598"/>
            <a:ext cx="5568831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dir</a:t>
            </a:r>
            <a:r>
              <a:rPr lang="ko-KR" altLang="en-US" sz="1100" dirty="0"/>
              <a:t>=/</a:t>
            </a:r>
            <a:r>
              <a:rPr lang="ko-KR" altLang="en-US" sz="1100" dirty="0" err="1"/>
              <a:t>tmp</a:t>
            </a:r>
            <a:endParaRPr lang="ko-KR" altLang="en-US" sz="1100" dirty="0"/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nfiles</a:t>
            </a:r>
            <a:r>
              <a:rPr lang="ko-KR" altLang="en-US" sz="1100" dirty="0"/>
              <a:t>=1000</a:t>
            </a:r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meandirwidth</a:t>
            </a:r>
            <a:r>
              <a:rPr lang="ko-KR" altLang="en-US" sz="1100" dirty="0"/>
              <a:t>=1000000</a:t>
            </a:r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filesize</a:t>
            </a:r>
            <a:r>
              <a:rPr lang="ko-KR" altLang="en-US" sz="1100" dirty="0"/>
              <a:t>=</a:t>
            </a:r>
            <a:r>
              <a:rPr lang="ko-KR" altLang="en-US" sz="1100" dirty="0" err="1"/>
              <a:t>cvar</a:t>
            </a:r>
            <a:r>
              <a:rPr lang="ko-KR" altLang="en-US" sz="1100" dirty="0"/>
              <a:t>(</a:t>
            </a:r>
            <a:r>
              <a:rPr lang="ko-KR" altLang="en-US" sz="1100" dirty="0" err="1"/>
              <a:t>type</a:t>
            </a:r>
            <a:r>
              <a:rPr lang="ko-KR" altLang="en-US" sz="1100" dirty="0"/>
              <a:t>=</a:t>
            </a:r>
            <a:r>
              <a:rPr lang="ko-KR" altLang="en-US" sz="1100" dirty="0" err="1"/>
              <a:t>cvar-gamma,parameters</a:t>
            </a:r>
            <a:r>
              <a:rPr lang="ko-KR" altLang="en-US" sz="1100" dirty="0"/>
              <a:t>=mean:16384;gamma:1.5)</a:t>
            </a:r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nthreads</a:t>
            </a:r>
            <a:r>
              <a:rPr lang="ko-KR" altLang="en-US" sz="1100" dirty="0"/>
              <a:t>=16</a:t>
            </a:r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iosize</a:t>
            </a:r>
            <a:r>
              <a:rPr lang="ko-KR" altLang="en-US" sz="1100" dirty="0"/>
              <a:t>=1m</a:t>
            </a:r>
          </a:p>
          <a:p>
            <a:r>
              <a:rPr lang="ko-KR" altLang="en-US" sz="1100" dirty="0" err="1"/>
              <a:t>set</a:t>
            </a:r>
            <a:r>
              <a:rPr lang="ko-KR" altLang="en-US" sz="1100" dirty="0"/>
              <a:t> $</a:t>
            </a:r>
            <a:r>
              <a:rPr lang="ko-KR" altLang="en-US" sz="1100" dirty="0" err="1"/>
              <a:t>meanappendsize</a:t>
            </a:r>
            <a:r>
              <a:rPr lang="ko-KR" altLang="en-US" sz="1100" dirty="0"/>
              <a:t>=16k</a:t>
            </a:r>
          </a:p>
          <a:p>
            <a:endParaRPr lang="ko-KR" altLang="en-US" sz="1100" dirty="0"/>
          </a:p>
          <a:p>
            <a:r>
              <a:rPr lang="ko-KR" altLang="en-US" sz="1100" dirty="0" err="1"/>
              <a:t>define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fileset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</a:t>
            </a:r>
            <a:r>
              <a:rPr lang="ko-KR" altLang="en-US" sz="1100" dirty="0" err="1"/>
              <a:t>bigfileset,path</a:t>
            </a:r>
            <a:r>
              <a:rPr lang="ko-KR" altLang="en-US" sz="1100" dirty="0"/>
              <a:t>=$</a:t>
            </a:r>
            <a:r>
              <a:rPr lang="ko-KR" altLang="en-US" sz="1100" dirty="0" err="1"/>
              <a:t>dir,size</a:t>
            </a:r>
            <a:r>
              <a:rPr lang="ko-KR" altLang="en-US" sz="1100" dirty="0"/>
              <a:t>=$</a:t>
            </a:r>
            <a:r>
              <a:rPr lang="ko-KR" altLang="en-US" sz="1100" dirty="0" err="1"/>
              <a:t>filesize,entries</a:t>
            </a:r>
            <a:r>
              <a:rPr lang="ko-KR" altLang="en-US" sz="1100" dirty="0"/>
              <a:t>=$</a:t>
            </a:r>
            <a:r>
              <a:rPr lang="ko-KR" altLang="en-US" sz="1100" dirty="0" err="1"/>
              <a:t>nfiles,dirwidth</a:t>
            </a:r>
            <a:r>
              <a:rPr lang="ko-KR" altLang="en-US" sz="1100" dirty="0"/>
              <a:t>=$</a:t>
            </a:r>
            <a:r>
              <a:rPr lang="ko-KR" altLang="en-US" sz="1100" dirty="0" err="1"/>
              <a:t>meandirwidth,prealloc</a:t>
            </a:r>
            <a:r>
              <a:rPr lang="ko-KR" altLang="en-US" sz="1100" dirty="0"/>
              <a:t>=80</a:t>
            </a:r>
          </a:p>
          <a:p>
            <a:endParaRPr lang="ko-KR" altLang="en-US" sz="1100" dirty="0"/>
          </a:p>
          <a:p>
            <a:r>
              <a:rPr lang="ko-KR" altLang="en-US" sz="1100" dirty="0" err="1"/>
              <a:t>define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process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</a:t>
            </a:r>
            <a:r>
              <a:rPr lang="ko-KR" altLang="en-US" sz="1100" dirty="0" err="1"/>
              <a:t>filereader,instances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{</a:t>
            </a:r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thread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</a:t>
            </a:r>
            <a:r>
              <a:rPr lang="ko-KR" altLang="en-US" sz="1100" dirty="0" err="1"/>
              <a:t>filereaderthread,memsize</a:t>
            </a:r>
            <a:r>
              <a:rPr lang="ko-KR" altLang="en-US" sz="1100" dirty="0"/>
              <a:t>=10m,instances=$</a:t>
            </a:r>
            <a:r>
              <a:rPr lang="ko-KR" altLang="en-US" sz="1100" dirty="0" err="1"/>
              <a:t>nthreads</a:t>
            </a:r>
            <a:endParaRPr lang="ko-KR" altLang="en-US" sz="1100" dirty="0"/>
          </a:p>
          <a:p>
            <a:r>
              <a:rPr lang="ko-KR" altLang="en-US" sz="1100" dirty="0"/>
              <a:t>  {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deletefile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=deletefile1,filesetname=</a:t>
            </a:r>
            <a:r>
              <a:rPr lang="ko-KR" altLang="en-US" sz="1100" dirty="0" err="1"/>
              <a:t>bigfileset</a:t>
            </a:r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createfile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=createfile2,filesetname=</a:t>
            </a:r>
            <a:r>
              <a:rPr lang="ko-KR" altLang="en-US" sz="1100" dirty="0" err="1"/>
              <a:t>bigfileset,fd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appendfilerand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=appendfilerand2,iosize=$</a:t>
            </a:r>
            <a:r>
              <a:rPr lang="ko-KR" altLang="en-US" sz="1100" dirty="0" err="1"/>
              <a:t>meanappendsize,fd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fsync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=fsyncfile2,fd=1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closefile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=closefile2,fd=1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openfile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=openfile3,filesetname=</a:t>
            </a:r>
            <a:r>
              <a:rPr lang="ko-KR" altLang="en-US" sz="1100" dirty="0" err="1"/>
              <a:t>bigfileset,fd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readwholefile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=readfile3,fd=1,iosize=$</a:t>
            </a:r>
            <a:r>
              <a:rPr lang="ko-KR" altLang="en-US" sz="1100" dirty="0" err="1"/>
              <a:t>iosize</a:t>
            </a:r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appendfilerand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=appendfilerand3,iosize=$</a:t>
            </a:r>
            <a:r>
              <a:rPr lang="ko-KR" altLang="en-US" sz="1100" dirty="0" err="1"/>
              <a:t>meanappendsize,fd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fsync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=fsyncfile3,fd=1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closefile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=closefile3,fd=1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openfile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=openfile4,filesetname=</a:t>
            </a:r>
            <a:r>
              <a:rPr lang="ko-KR" altLang="en-US" sz="1100" dirty="0" err="1"/>
              <a:t>bigfileset,fd</a:t>
            </a:r>
            <a:r>
              <a:rPr lang="ko-KR" altLang="en-US" sz="1100" dirty="0"/>
              <a:t>=1</a:t>
            </a:r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readwholefile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=readfile4,fd=1,iosize=$</a:t>
            </a:r>
            <a:r>
              <a:rPr lang="ko-KR" altLang="en-US" sz="1100" dirty="0" err="1"/>
              <a:t>iosize</a:t>
            </a:r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ko-KR" altLang="en-US" sz="1100" dirty="0" err="1"/>
              <a:t>flowop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closefile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name</a:t>
            </a:r>
            <a:r>
              <a:rPr lang="ko-KR" altLang="en-US" sz="1100" dirty="0"/>
              <a:t>=closefile4,fd=1</a:t>
            </a:r>
          </a:p>
          <a:p>
            <a:r>
              <a:rPr lang="ko-KR" altLang="en-US" sz="1100" dirty="0"/>
              <a:t>  }</a:t>
            </a:r>
          </a:p>
          <a:p>
            <a:r>
              <a:rPr lang="ko-KR" altLang="en-US" sz="1100" dirty="0"/>
              <a:t>}</a:t>
            </a:r>
          </a:p>
          <a:p>
            <a:endParaRPr lang="ko-KR" altLang="en-US" sz="1100" dirty="0"/>
          </a:p>
          <a:p>
            <a:r>
              <a:rPr lang="ko-KR" altLang="en-US" sz="1100" dirty="0" err="1"/>
              <a:t>echo</a:t>
            </a:r>
            <a:r>
              <a:rPr lang="ko-KR" altLang="en-US" sz="1100" dirty="0"/>
              <a:t>  "</a:t>
            </a:r>
            <a:r>
              <a:rPr lang="ko-KR" altLang="en-US" sz="1100" dirty="0" err="1"/>
              <a:t>Varmail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Version</a:t>
            </a:r>
            <a:r>
              <a:rPr lang="ko-KR" altLang="en-US" sz="1100" dirty="0"/>
              <a:t> 3.0 </a:t>
            </a:r>
            <a:r>
              <a:rPr lang="ko-KR" altLang="en-US" sz="1100" dirty="0" err="1"/>
              <a:t>personality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successfully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loaded</a:t>
            </a:r>
            <a:r>
              <a:rPr lang="ko-KR" altLang="en-US" sz="1100" dirty="0"/>
              <a:t>"</a:t>
            </a:r>
          </a:p>
          <a:p>
            <a:endParaRPr lang="ko-KR" altLang="en-US" sz="1100" dirty="0"/>
          </a:p>
          <a:p>
            <a:r>
              <a:rPr lang="ko-KR" altLang="en-US" sz="1100" dirty="0" err="1"/>
              <a:t>run</a:t>
            </a:r>
            <a:r>
              <a:rPr lang="ko-KR" altLang="en-US" sz="1100" dirty="0"/>
              <a:t> 60</a:t>
            </a:r>
          </a:p>
        </p:txBody>
      </p:sp>
    </p:spTree>
    <p:extLst>
      <p:ext uri="{BB962C8B-B14F-4D97-AF65-F5344CB8AC3E}">
        <p14:creationId xmlns:p14="http://schemas.microsoft.com/office/powerpoint/2010/main" val="293484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A9B9-7FDD-422E-29E7-2645687B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507CAE-600E-629E-EDAC-65058C41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8</a:t>
            </a:fld>
            <a:endParaRPr kumimoji="1" lang="ko-Kore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F21F193-EA25-A6A1-36EE-77C1CB82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4.</a:t>
            </a:r>
            <a:r>
              <a:rPr lang="ko-KR" altLang="en-US" sz="3600" b="1" dirty="0"/>
              <a:t> 할 일</a:t>
            </a:r>
            <a:endParaRPr lang="ko-Kore-KR" alt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08570-E5BF-8B76-0AC2-F411D956D0AF}"/>
              </a:ext>
            </a:extLst>
          </p:cNvPr>
          <p:cNvSpPr txBox="1"/>
          <p:nvPr/>
        </p:nvSpPr>
        <p:spPr>
          <a:xfrm>
            <a:off x="302341" y="844107"/>
            <a:ext cx="68773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kumimoji="1" lang="ko-KR" altLang="en-US" b="1" dirty="0"/>
              <a:t>원하는 논문 한편의 실험 결과 일부를 재현해봅시다</a:t>
            </a:r>
            <a:r>
              <a:rPr kumimoji="1" lang="en-US" altLang="ko-KR" b="1" dirty="0"/>
              <a:t>.</a:t>
            </a:r>
          </a:p>
          <a:p>
            <a:pPr marL="342900" indent="-342900">
              <a:buFont typeface="+mj-lt"/>
              <a:buAutoNum type="arabicParenR"/>
            </a:pP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r>
              <a:rPr kumimoji="1" lang="en-US" altLang="ko-KR" b="1" dirty="0"/>
              <a:t>FEMU </a:t>
            </a:r>
            <a:r>
              <a:rPr kumimoji="1" lang="ko-KR" altLang="en-US" b="1" dirty="0"/>
              <a:t>소스코드 분석</a:t>
            </a: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r>
              <a:rPr kumimoji="1" lang="ko-KR" altLang="en-US" b="1" dirty="0"/>
              <a:t>원하는 실험 진행</a:t>
            </a: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r>
              <a:rPr kumimoji="1" lang="ko-KR" altLang="en-US" b="1" dirty="0"/>
              <a:t>논문 발표</a:t>
            </a:r>
            <a:endParaRPr kumimoji="1" lang="en-US" altLang="ko-KR" b="1" dirty="0"/>
          </a:p>
          <a:p>
            <a:pPr marL="342900" indent="-342900">
              <a:buFont typeface="+mj-lt"/>
              <a:buAutoNum type="arabicParenR"/>
            </a:pPr>
            <a:endParaRPr kumimoji="1" lang="en-US" altLang="ko-KR" b="1" dirty="0"/>
          </a:p>
          <a:p>
            <a:endParaRPr kumimoji="1" lang="en-US" altLang="ko-KR" b="1" dirty="0"/>
          </a:p>
          <a:p>
            <a:endParaRPr kumimoji="1" lang="en-US" altLang="ko-KR" b="1" dirty="0"/>
          </a:p>
          <a:p>
            <a:r>
              <a:rPr kumimoji="1" lang="ko-KR" altLang="en-US" b="1" dirty="0"/>
              <a:t>다음 주부터</a:t>
            </a:r>
            <a:br>
              <a:rPr kumimoji="1" lang="en-US" altLang="ko-KR" b="1"/>
            </a:br>
            <a:endParaRPr kumimoji="1" lang="en-US" altLang="ko-KR" b="1"/>
          </a:p>
          <a:p>
            <a:r>
              <a:rPr kumimoji="1" lang="en-US" altLang="ko-KR" b="1"/>
              <a:t>1</a:t>
            </a:r>
            <a:r>
              <a:rPr kumimoji="1" lang="ko-KR" altLang="en-US" b="1" dirty="0"/>
              <a:t>팀은 </a:t>
            </a:r>
            <a:r>
              <a:rPr kumimoji="1" lang="en-US" altLang="ko-KR" b="1" dirty="0"/>
              <a:t>1~3</a:t>
            </a:r>
            <a:r>
              <a:rPr kumimoji="1" lang="ko-KR" altLang="en-US" b="1" dirty="0"/>
              <a:t>번 진행 발표</a:t>
            </a:r>
            <a:endParaRPr kumimoji="1" lang="en-US" altLang="ko-KR" b="1" dirty="0"/>
          </a:p>
          <a:p>
            <a:r>
              <a:rPr kumimoji="1" lang="en-US" altLang="ko-KR" b="1" dirty="0"/>
              <a:t>2</a:t>
            </a:r>
            <a:r>
              <a:rPr kumimoji="1" lang="ko-KR" altLang="en-US" b="1" dirty="0"/>
              <a:t>팀 논문 발표</a:t>
            </a:r>
            <a:endParaRPr kumimoji="1" lang="en-US" altLang="ko-KR" b="1" dirty="0"/>
          </a:p>
          <a:p>
            <a:endParaRPr kumimoji="1" lang="en-US" altLang="ko-KR" b="1" dirty="0"/>
          </a:p>
          <a:p>
            <a:r>
              <a:rPr kumimoji="1" lang="ko-KR" altLang="en-US" b="1" dirty="0" err="1"/>
              <a:t>번갈아가면서</a:t>
            </a:r>
            <a:r>
              <a:rPr kumimoji="1" lang="ko-KR" altLang="en-US" b="1" dirty="0"/>
              <a:t> 진행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381311-F370-3AD3-355C-488B1FD2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469" y="2083060"/>
            <a:ext cx="8549640" cy="40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3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20E6-474C-5392-749B-C10B1DED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FEFFCEE-3E51-E0AB-DA45-A0CBD0758E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b="1" dirty="0"/>
              <a:t>2026</a:t>
            </a:r>
            <a:r>
              <a:rPr kumimoji="1" lang="ko-KR" altLang="en-US" sz="3600" b="1" dirty="0"/>
              <a:t> 여름 방학</a:t>
            </a:r>
            <a:br>
              <a:rPr kumimoji="1" lang="en-US" altLang="en-US" sz="5400" b="1" dirty="0"/>
            </a:br>
            <a:r>
              <a:rPr kumimoji="1" lang="en-US" altLang="en-US" sz="6600" b="1" dirty="0"/>
              <a:t>FTL Study</a:t>
            </a:r>
            <a:endParaRPr lang="ko-Kore-KR" altLang="en-US" sz="5400" b="1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1581A8C-3B28-0A63-566C-E7D33184E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376" y="3429000"/>
            <a:ext cx="11122624" cy="762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en-US" sz="1800" b="1" dirty="0"/>
              <a:t>Basic Lecture</a:t>
            </a:r>
            <a:endParaRPr kumimoji="1" lang="ko-Kore-KR" altLang="en-US" sz="1800" b="1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90D08C-B974-673D-57A0-D8A25009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2F0-58BF-F547-BA5E-5621EFFAE10C}" type="slidenum">
              <a:rPr kumimoji="1" lang="ko-Kore-KR" altLang="en-US" smtClean="0"/>
              <a:pPr/>
              <a:t>9</a:t>
            </a:fld>
            <a:endParaRPr kumimoji="1" lang="ko-Kore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D5EB10-0DE2-F51C-FAC3-615C624931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sz="1200" dirty="0"/>
              <a:t>2026.07.21</a:t>
            </a:r>
          </a:p>
          <a:p>
            <a:r>
              <a:rPr lang="en-US" altLang="ko-Kore-KR" sz="1200" dirty="0"/>
              <a:t>Presentation by Choi, </a:t>
            </a:r>
            <a:r>
              <a:rPr lang="en-US" altLang="ko-Kore-KR" sz="1200" dirty="0" err="1"/>
              <a:t>Gunhee</a:t>
            </a:r>
            <a:endParaRPr lang="en-US" altLang="ko-Kore-KR" sz="1200" dirty="0"/>
          </a:p>
          <a:p>
            <a:r>
              <a:rPr lang="en-US" altLang="ko-Kore-KR" sz="1200" dirty="0" err="1"/>
              <a:t>choi_gunhee@dankook.ac.kr</a:t>
            </a:r>
            <a:endParaRPr lang="ko-Kore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7D097-21DF-94BA-613E-53F3710525ED}"/>
              </a:ext>
            </a:extLst>
          </p:cNvPr>
          <p:cNvSpPr txBox="1"/>
          <p:nvPr/>
        </p:nvSpPr>
        <p:spPr>
          <a:xfrm>
            <a:off x="2954307" y="4424778"/>
            <a:ext cx="59976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ore-KR" sz="54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you!</a:t>
            </a:r>
          </a:p>
          <a:p>
            <a:pPr algn="ctr"/>
            <a:r>
              <a:rPr lang="en-US" altLang="ko-Kore-KR" sz="54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 &amp; A ?</a:t>
            </a:r>
            <a:endParaRPr lang="ko-Kore-KR" altLang="en-US" sz="5400" b="1" dirty="0">
              <a:solidFill>
                <a:schemeClr val="accent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6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17398</TotalTime>
  <Words>970</Words>
  <Application>Microsoft Macintosh PowerPoint</Application>
  <PresentationFormat>와이드스크린</PresentationFormat>
  <Paragraphs>183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Malgun Gothic</vt:lpstr>
      <vt:lpstr>Arial</vt:lpstr>
      <vt:lpstr>Calibri</vt:lpstr>
      <vt:lpstr>Calibri Light</vt:lpstr>
      <vt:lpstr>Tahoma</vt:lpstr>
      <vt:lpstr>Wingdings</vt:lpstr>
      <vt:lpstr>Office 테마</vt:lpstr>
      <vt:lpstr>2026 Summer Break FTL Study</vt:lpstr>
      <vt:lpstr>PowerPoint 프레젠테이션</vt:lpstr>
      <vt:lpstr>1. FEMU</vt:lpstr>
      <vt:lpstr>2. FIO</vt:lpstr>
      <vt:lpstr>2. FIO</vt:lpstr>
      <vt:lpstr>2. FIO</vt:lpstr>
      <vt:lpstr>3. Filebench</vt:lpstr>
      <vt:lpstr>4. 할 일</vt:lpstr>
      <vt:lpstr>2026 여름 방학 FTL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최건희</dc:creator>
  <cp:lastModifiedBy>최건희</cp:lastModifiedBy>
  <cp:revision>488</cp:revision>
  <dcterms:created xsi:type="dcterms:W3CDTF">2022-10-16T11:43:31Z</dcterms:created>
  <dcterms:modified xsi:type="dcterms:W3CDTF">2026-08-04T04:44:41Z</dcterms:modified>
</cp:coreProperties>
</file>